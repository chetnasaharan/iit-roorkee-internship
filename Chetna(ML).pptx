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24" r:id="rId3"/>
    <p:sldId id="322" r:id="rId4"/>
    <p:sldId id="323" r:id="rId5"/>
    <p:sldId id="325" r:id="rId6"/>
    <p:sldId id="326" r:id="rId7"/>
    <p:sldId id="327" r:id="rId8"/>
    <p:sldId id="328" r:id="rId9"/>
    <p:sldId id="336" r:id="rId10"/>
    <p:sldId id="329" r:id="rId11"/>
    <p:sldId id="330" r:id="rId12"/>
    <p:sldId id="360" r:id="rId13"/>
    <p:sldId id="331" r:id="rId14"/>
    <p:sldId id="3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evelopers.google.com/machine-learning/glossary#prediction" TargetMode="External"/><Relationship Id="rId5" Type="http://schemas.openxmlformats.org/officeDocument/2006/relationships/hyperlink" Target="https://developers.google.com/machine-learning/glossary#model" TargetMode="External"/><Relationship Id="rId4" Type="http://schemas.openxmlformats.org/officeDocument/2006/relationships/hyperlink" Target="https://developers.google.com/machine-learning/glossary#traini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/>
              <a:t>MACHINE LEARNING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Chetna Saharan 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Ms. Riya &amp; Mr. Harjeet Singh 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-8689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F1B2C8-7EF3-4407-95BE-DBAEFB6E84C9}"/>
              </a:ext>
            </a:extLst>
          </p:cNvPr>
          <p:cNvSpPr txBox="1"/>
          <p:nvPr/>
        </p:nvSpPr>
        <p:spPr>
          <a:xfrm>
            <a:off x="0" y="827509"/>
            <a:ext cx="5820696" cy="50007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MACHINE LEARNING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PREPROCESSING AND EDA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AND LOGISTIC REGRESSION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 TREES AND RANDOM FORESTS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SVM AND K-NEAREST NEIGHBORS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 AND DIMENSIONALITY REDUCTION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EVALUATION AND HYPERPARAMETER TUNING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ENGINEERING AND PIPELINES</a:t>
            </a:r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NLP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0E309F-AE7B-4111-81C3-DF7A2403736D}"/>
              </a:ext>
            </a:extLst>
          </p:cNvPr>
          <p:cNvSpPr txBox="1"/>
          <p:nvPr/>
        </p:nvSpPr>
        <p:spPr>
          <a:xfrm>
            <a:off x="11036874" y="3039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5006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8964" y="-3838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57909E-1C5B-4EAB-8D86-83102B2C6D12}"/>
              </a:ext>
            </a:extLst>
          </p:cNvPr>
          <p:cNvSpPr/>
          <p:nvPr/>
        </p:nvSpPr>
        <p:spPr>
          <a:xfrm>
            <a:off x="8965" y="969607"/>
            <a:ext cx="121920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50"/>
              </a:spcBef>
              <a:spcAft>
                <a:spcPts val="20"/>
              </a:spcAft>
            </a:pP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</a:t>
            </a:r>
            <a:r>
              <a:rPr lang="en-US" sz="2000" b="1" dirty="0"/>
              <a:t>: </a:t>
            </a:r>
            <a:r>
              <a:rPr lang="en-US" sz="1600" dirty="0"/>
              <a:t>ML is the process of </a:t>
            </a:r>
            <a:r>
              <a:rPr lang="en-US" sz="1600" dirty="0">
                <a:hlinkClick r:id="rId4"/>
              </a:rPr>
              <a:t>training</a:t>
            </a:r>
            <a:r>
              <a:rPr lang="en-US" sz="1600" dirty="0"/>
              <a:t> a piece of software, called a </a:t>
            </a:r>
            <a:r>
              <a:rPr lang="en-US" sz="1600" dirty="0">
                <a:hlinkClick r:id="rId5"/>
              </a:rPr>
              <a:t>model</a:t>
            </a:r>
            <a:r>
              <a:rPr lang="en-US" sz="1600" dirty="0"/>
              <a:t>, to make useful </a:t>
            </a:r>
            <a:r>
              <a:rPr lang="en-US" sz="1600" dirty="0">
                <a:hlinkClick r:id="rId6"/>
              </a:rPr>
              <a:t>predictions</a:t>
            </a:r>
            <a:r>
              <a:rPr lang="en-US" sz="1600" dirty="0"/>
              <a:t> or generate content (like text, images, audio, or video) from data. </a:t>
            </a:r>
            <a:r>
              <a:rPr lang="en-US" sz="1600" b="1" dirty="0"/>
              <a:t>ML is the way of teaching computer to learn from data – just like we human learn from experience</a:t>
            </a:r>
            <a:r>
              <a:rPr lang="en-US" sz="1600" dirty="0"/>
              <a:t>.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742DD-6109-400B-84E3-8A6EBFD3B02E}"/>
              </a:ext>
            </a:extLst>
          </p:cNvPr>
          <p:cNvSpPr/>
          <p:nvPr/>
        </p:nvSpPr>
        <p:spPr>
          <a:xfrm>
            <a:off x="-1" y="1653607"/>
            <a:ext cx="1219199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US" sz="1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sz="1600" b="1" dirty="0"/>
              <a:t>Real-Life Applications of ML</a:t>
            </a:r>
            <a:r>
              <a:rPr lang="en-US" sz="1600" dirty="0"/>
              <a:t>         </a:t>
            </a:r>
            <a:r>
              <a:rPr lang="en-US" sz="1600" b="1" dirty="0"/>
              <a:t>Netflix &amp; YouTube:</a:t>
            </a:r>
            <a:r>
              <a:rPr lang="en-US" sz="1600" dirty="0"/>
              <a:t> Recommend movies and videos.</a:t>
            </a:r>
          </a:p>
          <a:p>
            <a:r>
              <a:rPr lang="en-US" sz="1600" b="1" dirty="0"/>
              <a:t>                                                                                    Amazon &amp; Flipkart:</a:t>
            </a:r>
            <a:r>
              <a:rPr lang="en-US" sz="1600" dirty="0"/>
              <a:t> Recommend products based on previous purchases.</a:t>
            </a:r>
          </a:p>
          <a:p>
            <a:r>
              <a:rPr lang="en-US" sz="1600" b="1" dirty="0"/>
              <a:t>                                                   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68034-7B9C-41CF-9906-EB1D8C568A87}"/>
              </a:ext>
            </a:extLst>
          </p:cNvPr>
          <p:cNvSpPr/>
          <p:nvPr/>
        </p:nvSpPr>
        <p:spPr>
          <a:xfrm>
            <a:off x="-2" y="2260861"/>
            <a:ext cx="1219199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Core Types of Machine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2AD262-7161-47B6-9106-2C2C443F7033}"/>
              </a:ext>
            </a:extLst>
          </p:cNvPr>
          <p:cNvSpPr/>
          <p:nvPr/>
        </p:nvSpPr>
        <p:spPr>
          <a:xfrm>
            <a:off x="109491" y="2700021"/>
            <a:ext cx="3121981" cy="28007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Supervised Learning:</a:t>
            </a:r>
            <a:r>
              <a:rPr lang="en-US" sz="1600" dirty="0"/>
              <a:t> The algorithm is trained on "labeled" data, meaning the input data already has the correct answer attached to it.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i="1" dirty="0"/>
              <a:t>Example:</a:t>
            </a:r>
            <a:r>
              <a:rPr lang="en-US" sz="1600" dirty="0"/>
              <a:t> Teaching a system to recognize tumors by showing it thousands of MRI scans labeled "benign" or "malignant."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CCD82-6810-4D9F-88E0-3DC2F346AD67}"/>
              </a:ext>
            </a:extLst>
          </p:cNvPr>
          <p:cNvSpPr/>
          <p:nvPr/>
        </p:nvSpPr>
        <p:spPr>
          <a:xfrm>
            <a:off x="3910150" y="2700021"/>
            <a:ext cx="3473155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Unsupervised Learning:</a:t>
            </a:r>
            <a:r>
              <a:rPr lang="en-US" sz="1600" dirty="0"/>
              <a:t> The algorithm is given "unlabeled" data and must find patterns, structures, or anomalies on its own.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i="1" dirty="0"/>
              <a:t>Example:</a:t>
            </a:r>
            <a:r>
              <a:rPr lang="en-US" sz="1600" dirty="0"/>
              <a:t> Grouping e-commerce customers into distinct segments based on their purchasing habits for targeted marketing.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9EBDCC-D6C6-4982-85EE-AD99DF2C3BB0}"/>
              </a:ext>
            </a:extLst>
          </p:cNvPr>
          <p:cNvSpPr/>
          <p:nvPr/>
        </p:nvSpPr>
        <p:spPr>
          <a:xfrm>
            <a:off x="8281851" y="2700021"/>
            <a:ext cx="3473155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Reinforcement Learning:</a:t>
            </a:r>
            <a:r>
              <a:rPr lang="en-US" sz="1600" dirty="0"/>
              <a:t> The algorithm learns by trial and error within a specific environment, receiving "rewards" for correct actions and "penalties" for wrong ones.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            Example:  </a:t>
            </a:r>
            <a:r>
              <a:rPr lang="en-US" sz="1600" dirty="0"/>
              <a:t>A robot learns to                navigate a maze by receiving rewards for reaching the exit and penalties for hitting walls.*</a:t>
            </a:r>
          </a:p>
          <a:p>
            <a:r>
              <a:rPr lang="en-US" dirty="0"/>
              <a:t>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77930-B65E-45BF-AAB5-158D8A7C4ACF}"/>
              </a:ext>
            </a:extLst>
          </p:cNvPr>
          <p:cNvSpPr txBox="1"/>
          <p:nvPr/>
        </p:nvSpPr>
        <p:spPr>
          <a:xfrm>
            <a:off x="3877307" y="5096111"/>
            <a:ext cx="347315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Key Terminology in Machine Learning</a:t>
            </a:r>
            <a:endParaRPr lang="en-IN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0DF20-C68D-402D-9171-FD9BAB0E5C5F}"/>
              </a:ext>
            </a:extLst>
          </p:cNvPr>
          <p:cNvSpPr txBox="1"/>
          <p:nvPr/>
        </p:nvSpPr>
        <p:spPr>
          <a:xfrm>
            <a:off x="4130018" y="5410043"/>
            <a:ext cx="302976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Features(Input)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Labels(Output)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Training(Teaching Model)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Testing(Accuracy)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1E4873-C9C3-4CC8-8A8B-0F16E8AC73BC}"/>
              </a:ext>
            </a:extLst>
          </p:cNvPr>
          <p:cNvSpPr txBox="1"/>
          <p:nvPr/>
        </p:nvSpPr>
        <p:spPr>
          <a:xfrm>
            <a:off x="11045838" y="2966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89368" y="-56412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-120"/>
              </a:rPr>
              <a:t>ML Workflow 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-120"/>
              </a:rPr>
              <a:t>Overview</a:t>
            </a:r>
            <a:endParaRPr lang="en-US" sz="28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A987F2-120D-4C38-91F0-72F9166E1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941260"/>
            <a:ext cx="10287000" cy="5677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C8700A-7ACF-4B71-91A6-A2054BC845B2}"/>
              </a:ext>
            </a:extLst>
          </p:cNvPr>
          <p:cNvSpPr txBox="1"/>
          <p:nvPr/>
        </p:nvSpPr>
        <p:spPr>
          <a:xfrm>
            <a:off x="10959928" y="308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56174" y="47254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766550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80491" y="-8689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-120"/>
              </a:rPr>
              <a:t>DATA PREPROCESSING</a:t>
            </a:r>
            <a:endParaRPr lang="en-US" sz="28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E3B60D4-1D0D-4E4B-8A82-0BE716E62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27509"/>
            <a:ext cx="109318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Handling Missing Values(Fill or drop the gaps)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fillna()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Replaces missing values with mean, median, mode, or another value.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dropna()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Removes rows or columns containing missing values.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Encoding Categorical Variables(Turning categories into numbers)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LabelEncoder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Converts categories into numerical labels (0, 1, 2, ...).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OneHotEncoder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Creates separate binary columns for each category.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Feature Scaling(Leveling the playing field for different units)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StandardScaler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Transforms data to have mean = 0 and standard deviation = 1.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MinMaxScaler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Scales data to a range between 0 and 1.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Train-Test Split(Separating the practice quiz from the final exam)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Divides the dataset into: 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to train the model. 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to evaluate the model's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035030-9428-4689-86DB-FD2D9C951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2127"/>
            <a:ext cx="12192000" cy="18283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9810E6-58CC-49D3-93A7-55B5BEB8ED29}"/>
              </a:ext>
            </a:extLst>
          </p:cNvPr>
          <p:cNvSpPr txBox="1"/>
          <p:nvPr/>
        </p:nvSpPr>
        <p:spPr>
          <a:xfrm>
            <a:off x="10985084" y="2423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4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0050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F93F3D-D94D-4790-9515-BA1441EBA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982" y="3663477"/>
            <a:ext cx="5887272" cy="28293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094EE9-0855-49A2-9DB0-E97445DC70AF}"/>
              </a:ext>
            </a:extLst>
          </p:cNvPr>
          <p:cNvSpPr/>
          <p:nvPr/>
        </p:nvSpPr>
        <p:spPr>
          <a:xfrm>
            <a:off x="0" y="1086668"/>
            <a:ext cx="1219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Exploratory Data Analysis (EDA) </a:t>
            </a:r>
            <a:r>
              <a:rPr lang="en-US" dirty="0"/>
              <a:t>is the process of examining, cleaning, and understanding a dataset before building a machine learning model. It helps identify patterns, relationships, outliers, and errors in the data.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602165-90AD-42D4-AD68-F322829E0606}"/>
              </a:ext>
            </a:extLst>
          </p:cNvPr>
          <p:cNvSpPr/>
          <p:nvPr/>
        </p:nvSpPr>
        <p:spPr>
          <a:xfrm>
            <a:off x="-17918" y="1690971"/>
            <a:ext cx="1186056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Matplotlib (</a:t>
            </a:r>
            <a:r>
              <a:rPr lang="en-US" sz="2000" dirty="0"/>
              <a:t>Python library for creating static, animated, and interactive visualizations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en-US" sz="2000" dirty="0"/>
              <a:t> </a:t>
            </a:r>
            <a:r>
              <a:rPr lang="en-US" dirty="0"/>
              <a:t>is the foundational, low-level plotting engine.</a:t>
            </a:r>
          </a:p>
          <a:p>
            <a:r>
              <a:rPr lang="en-US" b="1" dirty="0"/>
              <a:t>Example: 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Seaborn</a:t>
            </a:r>
            <a:r>
              <a:rPr lang="en-US" dirty="0"/>
              <a:t> is built on top of Matplotlib and makes beautiful, complex statistical plots with very little code. It provides a high-level interface for creating attractive and informative statistical graphics.</a:t>
            </a:r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DF40B93-C4AA-468B-88D3-FF1AA21EB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180" y="2033379"/>
            <a:ext cx="5887272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plots ,Scatter plots ,Bar charts ,Histograms &amp; Pie charts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F55FB-B0D2-4F59-80BE-6509F5608DC3}"/>
              </a:ext>
            </a:extLst>
          </p:cNvPr>
          <p:cNvSpPr txBox="1"/>
          <p:nvPr/>
        </p:nvSpPr>
        <p:spPr>
          <a:xfrm>
            <a:off x="11036874" y="27077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178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7ED2C-4987-4659-AFC1-60504BB4C46A}"/>
              </a:ext>
            </a:extLst>
          </p:cNvPr>
          <p:cNvSpPr txBox="1"/>
          <p:nvPr/>
        </p:nvSpPr>
        <p:spPr>
          <a:xfrm>
            <a:off x="169859" y="189720"/>
            <a:ext cx="6008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Supervised Machine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A86D5-1727-42A1-8D6E-577FDA65D432}"/>
              </a:ext>
            </a:extLst>
          </p:cNvPr>
          <p:cNvSpPr txBox="1"/>
          <p:nvPr/>
        </p:nvSpPr>
        <p:spPr>
          <a:xfrm>
            <a:off x="346229" y="1198485"/>
            <a:ext cx="641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D55714-06C6-41E4-810D-500594411613}"/>
              </a:ext>
            </a:extLst>
          </p:cNvPr>
          <p:cNvSpPr/>
          <p:nvPr/>
        </p:nvSpPr>
        <p:spPr>
          <a:xfrm>
            <a:off x="-75463" y="852261"/>
            <a:ext cx="1243761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The algorithm learns the relationship between inputs and outputs and then predicts the output for new data.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5430B54-3140-40F6-A905-1EE374D99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5234"/>
              </p:ext>
            </p:extLst>
          </p:nvPr>
        </p:nvGraphicFramePr>
        <p:xfrm>
          <a:off x="169858" y="1351611"/>
          <a:ext cx="11823873" cy="48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067">
                  <a:extLst>
                    <a:ext uri="{9D8B030D-6E8A-4147-A177-3AD203B41FA5}">
                      <a16:colId xmlns:a16="http://schemas.microsoft.com/office/drawing/2014/main" val="861026971"/>
                    </a:ext>
                  </a:extLst>
                </a:gridCol>
                <a:gridCol w="9275806">
                  <a:extLst>
                    <a:ext uri="{9D8B030D-6E8A-4147-A177-3AD203B41FA5}">
                      <a16:colId xmlns:a16="http://schemas.microsoft.com/office/drawing/2014/main" val="1785484025"/>
                    </a:ext>
                  </a:extLst>
                </a:gridCol>
              </a:tblGrid>
              <a:tr h="409983">
                <a:tc>
                  <a:txBody>
                    <a:bodyPr/>
                    <a:lstStyle/>
                    <a:p>
                      <a:r>
                        <a:rPr lang="en-US" dirty="0"/>
                        <a:t>       Algorithm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925191"/>
                  </a:ext>
                </a:extLst>
              </a:tr>
              <a:tr h="1033813">
                <a:tc>
                  <a:txBody>
                    <a:bodyPr/>
                    <a:lstStyle/>
                    <a:p>
                      <a:r>
                        <a:rPr lang="en-US" b="1" dirty="0"/>
                        <a:t>Linear Regression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supervised learning algorithm used to predict continuous values by fitting a straight line to the data.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Cost function</a:t>
                      </a:r>
                      <a:r>
                        <a:rPr lang="en-IN" sz="16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n-US" sz="1600" dirty="0"/>
                        <a:t>measures how far the model's predictions are from the actual values.</a:t>
                      </a:r>
                      <a:endParaRPr lang="en-IN" sz="16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Gradient descent:</a:t>
                      </a:r>
                      <a:r>
                        <a:rPr lang="en-US" sz="1600" dirty="0"/>
                        <a:t>Gradient Descent is an optimization algorithm used to minimize the cost function by updating the model parameters step by step.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669369"/>
                  </a:ext>
                </a:extLst>
              </a:tr>
              <a:tr h="541937">
                <a:tc>
                  <a:txBody>
                    <a:bodyPr/>
                    <a:lstStyle/>
                    <a:p>
                      <a:r>
                        <a:rPr lang="en-US" b="1" dirty="0"/>
                        <a:t>Logistic Regression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Predicts the probability that an input belongs to a particular class(Output between 0 and 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040682"/>
                  </a:ext>
                </a:extLst>
              </a:tr>
              <a:tr h="561213">
                <a:tc>
                  <a:txBody>
                    <a:bodyPr/>
                    <a:lstStyle/>
                    <a:p>
                      <a:r>
                        <a:rPr lang="en-US" b="1" dirty="0"/>
                        <a:t>Decision Tree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Decision trees are non-parametric supervised learning models that partition the feature space into local regions through a sequence of recursive binary splits.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613465"/>
                  </a:ext>
                </a:extLst>
              </a:tr>
              <a:tr h="817858">
                <a:tc>
                  <a:txBody>
                    <a:bodyPr/>
                    <a:lstStyle/>
                    <a:p>
                      <a:r>
                        <a:rPr lang="en-US" b="1" dirty="0"/>
                        <a:t>Random Forest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Random Forest is a </a:t>
                      </a:r>
                      <a:r>
                        <a:rPr lang="en-US" sz="1600" b="1" dirty="0"/>
                        <a:t>supervised ensemble machine learning algorithm</a:t>
                      </a:r>
                      <a:r>
                        <a:rPr lang="en-US" sz="1600" dirty="0"/>
                        <a:t> that combines multiple decision trees and uses their collective predictions to improve accuracy and reduce overfitting.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sz="1600" b="1" dirty="0"/>
                        <a:t>Bagging (Bootstrap Aggregating)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564885"/>
                  </a:ext>
                </a:extLst>
              </a:tr>
              <a:tr h="561213">
                <a:tc>
                  <a:txBody>
                    <a:bodyPr/>
                    <a:lstStyle/>
                    <a:p>
                      <a:r>
                        <a:rPr lang="en-US" b="1" dirty="0"/>
                        <a:t>SVM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Support Vector Machine (SVM) is a </a:t>
                      </a:r>
                      <a:r>
                        <a:rPr lang="en-US" sz="1600" b="1" dirty="0"/>
                        <a:t>supervised machine learning algorithm</a:t>
                      </a:r>
                      <a:r>
                        <a:rPr lang="en-US" sz="1600" dirty="0"/>
                        <a:t> that finds the optimal boundary (hyperplane) to separate different classes with the maximum margin.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IN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Hyperplane, Margin, Support Vectors, Kernel Trick</a:t>
                      </a:r>
                      <a:endParaRPr lang="en-US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14524"/>
                  </a:ext>
                </a:extLst>
              </a:tr>
              <a:tr h="541937">
                <a:tc>
                  <a:txBody>
                    <a:bodyPr/>
                    <a:lstStyle/>
                    <a:p>
                      <a:r>
                        <a:rPr lang="en-US" b="1" dirty="0"/>
                        <a:t>KNN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KNN predicts a new data point by looking at the labels of its nearest neighbors.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Distance Metrics, Choosing K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5754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5D60C9E-45EC-47B7-ABBE-D9BBEEB834A8}"/>
              </a:ext>
            </a:extLst>
          </p:cNvPr>
          <p:cNvSpPr txBox="1"/>
          <p:nvPr/>
        </p:nvSpPr>
        <p:spPr>
          <a:xfrm>
            <a:off x="11063182" y="2973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1843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2EBC93-5EA6-46D7-9DC6-E8D31B159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967" y="1496285"/>
            <a:ext cx="4958331" cy="49755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-3506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Unsupervised Machine Learning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D4B32F-B003-4781-A276-44B90D991BD8}"/>
              </a:ext>
            </a:extLst>
          </p:cNvPr>
          <p:cNvSpPr/>
          <p:nvPr/>
        </p:nvSpPr>
        <p:spPr>
          <a:xfrm>
            <a:off x="0" y="1104720"/>
            <a:ext cx="12437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Unsupervised Machine Learning </a:t>
            </a:r>
            <a:r>
              <a:rPr lang="en-US" dirty="0"/>
              <a:t>is a type of machine learning in which the algorithm learns patterns and relationships from </a:t>
            </a:r>
            <a:r>
              <a:rPr lang="en-US" b="1" dirty="0"/>
              <a:t>unlabeled data</a:t>
            </a:r>
            <a:r>
              <a:rPr lang="en-US" dirty="0"/>
              <a:t> without knowing the correct output in advance.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8D561D-3C4E-4304-A790-F1E8ADD37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986046"/>
              </p:ext>
            </p:extLst>
          </p:nvPr>
        </p:nvGraphicFramePr>
        <p:xfrm>
          <a:off x="169177" y="1901636"/>
          <a:ext cx="6196613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813">
                  <a:extLst>
                    <a:ext uri="{9D8B030D-6E8A-4147-A177-3AD203B41FA5}">
                      <a16:colId xmlns:a16="http://schemas.microsoft.com/office/drawing/2014/main" val="1501416641"/>
                    </a:ext>
                  </a:extLst>
                </a:gridCol>
                <a:gridCol w="4887800">
                  <a:extLst>
                    <a:ext uri="{9D8B030D-6E8A-4147-A177-3AD203B41FA5}">
                      <a16:colId xmlns:a16="http://schemas.microsoft.com/office/drawing/2014/main" val="1908414084"/>
                    </a:ext>
                  </a:extLst>
                </a:gridCol>
              </a:tblGrid>
              <a:tr h="182764">
                <a:tc>
                  <a:txBody>
                    <a:bodyPr/>
                    <a:lstStyle/>
                    <a:p>
                      <a:r>
                        <a:rPr lang="en-US" dirty="0"/>
                        <a:t>     Algorithm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</a:t>
                      </a:r>
                    </a:p>
                    <a:p>
                      <a:r>
                        <a:rPr lang="en-US" dirty="0"/>
                        <a:t> 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673348"/>
                  </a:ext>
                </a:extLst>
              </a:tr>
              <a:tr h="896372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 Means Clustering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K-Means is an </a:t>
                      </a:r>
                      <a:r>
                        <a:rPr lang="en-US" b="1" dirty="0"/>
                        <a:t>unsupervised machine learning algorithm</a:t>
                      </a:r>
                      <a:r>
                        <a:rPr lang="en-US" dirty="0"/>
                        <a:t> that groups similar data points into </a:t>
                      </a:r>
                      <a:r>
                        <a:rPr lang="en-US" b="1" dirty="0"/>
                        <a:t>K clusters</a:t>
                      </a:r>
                      <a:r>
                        <a:rPr lang="en-US" dirty="0"/>
                        <a:t> based on their similarity.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Centroids, Inertia, Elbow Method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665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DBSCAN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DBSCAN is an </a:t>
                      </a:r>
                      <a:r>
                        <a:rPr lang="en-US" b="1" dirty="0"/>
                        <a:t>unsupervised clustering algorithm</a:t>
                      </a:r>
                      <a:r>
                        <a:rPr lang="en-US" dirty="0"/>
                        <a:t> that groups closely packed data points and identifies isolated points as </a:t>
                      </a:r>
                      <a:r>
                        <a:rPr lang="en-US" b="1" dirty="0"/>
                        <a:t>outliers (noise)</a:t>
                      </a:r>
                      <a:r>
                        <a:rPr lang="en-US" dirty="0"/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Epsilon (ε), Core Point, outlier, MinPts (Minimum Points)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08140"/>
                  </a:ext>
                </a:extLst>
              </a:tr>
              <a:tr h="896372">
                <a:tc>
                  <a:txBody>
                    <a:bodyPr/>
                    <a:lstStyle/>
                    <a:p>
                      <a:r>
                        <a:rPr lang="en-US" b="1" dirty="0"/>
                        <a:t>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PCA is an </a:t>
                      </a:r>
                      <a:r>
                        <a:rPr lang="en-US" b="1" dirty="0"/>
                        <a:t>unsupervised dimensionality reduction technique</a:t>
                      </a:r>
                      <a:r>
                        <a:rPr lang="en-US" dirty="0"/>
                        <a:t> that transforms data into a smaller set of </a:t>
                      </a:r>
                      <a:r>
                        <a:rPr lang="en-US" b="1" dirty="0"/>
                        <a:t>principal components</a:t>
                      </a:r>
                      <a:r>
                        <a:rPr lang="en-US" dirty="0"/>
                        <a:t> while preserving most of the information (variance).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67705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35E3C70-8216-4B90-913F-0A395D22C248}"/>
              </a:ext>
            </a:extLst>
          </p:cNvPr>
          <p:cNvSpPr txBox="1"/>
          <p:nvPr/>
        </p:nvSpPr>
        <p:spPr>
          <a:xfrm>
            <a:off x="11036874" y="297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7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1681408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63D022-57A7-450F-A3DB-C8616DFFED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7BC32C-6E61-4EE6-8192-488BD01656DD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23BF8-B27B-4A7F-9E55-4E819571E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35BEC0-EE07-4DA0-AE57-C7A156EF1F40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22FAC16-512B-414F-8A6B-C55348E9EF22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788EE-0E1D-4213-9B5B-B5FADA041A4C}"/>
              </a:ext>
            </a:extLst>
          </p:cNvPr>
          <p:cNvSpPr txBox="1"/>
          <p:nvPr/>
        </p:nvSpPr>
        <p:spPr>
          <a:xfrm>
            <a:off x="0" y="120228"/>
            <a:ext cx="7031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Decision trees &amp; Random Forest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EEEDA6-C46C-448C-A932-43B48ABBE6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2616"/>
            <a:ext cx="7881301" cy="4711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BF378A-B89A-4ED9-882A-68847BB49E9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81" t="15325" r="73553" b="5216"/>
          <a:stretch/>
        </p:blipFill>
        <p:spPr>
          <a:xfrm>
            <a:off x="8820408" y="1741909"/>
            <a:ext cx="2464143" cy="43573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F49D15C-22FC-4C1C-9CA0-67AEEA7674BB}"/>
              </a:ext>
            </a:extLst>
          </p:cNvPr>
          <p:cNvSpPr txBox="1"/>
          <p:nvPr/>
        </p:nvSpPr>
        <p:spPr>
          <a:xfrm>
            <a:off x="8820408" y="1172616"/>
            <a:ext cx="2255489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RANOM FOREST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2D91C6-435B-4A34-BE72-8281E32AD2AE}"/>
              </a:ext>
            </a:extLst>
          </p:cNvPr>
          <p:cNvSpPr txBox="1"/>
          <p:nvPr/>
        </p:nvSpPr>
        <p:spPr>
          <a:xfrm>
            <a:off x="11033580" y="328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84774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15928" y="45306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734906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120228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IDFont+F2"/>
              </a:rPr>
              <a:t>Model Evaluation &amp; Hyperparameter Tuning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2AA602-6562-4C15-B5AB-6821101E7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53421"/>
              </p:ext>
            </p:extLst>
          </p:nvPr>
        </p:nvGraphicFramePr>
        <p:xfrm>
          <a:off x="172685" y="1423960"/>
          <a:ext cx="11691892" cy="4954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690">
                  <a:extLst>
                    <a:ext uri="{9D8B030D-6E8A-4147-A177-3AD203B41FA5}">
                      <a16:colId xmlns:a16="http://schemas.microsoft.com/office/drawing/2014/main" val="3520527972"/>
                    </a:ext>
                  </a:extLst>
                </a:gridCol>
                <a:gridCol w="8984202">
                  <a:extLst>
                    <a:ext uri="{9D8B030D-6E8A-4147-A177-3AD203B41FA5}">
                      <a16:colId xmlns:a16="http://schemas.microsoft.com/office/drawing/2014/main" val="75642327"/>
                    </a:ext>
                  </a:extLst>
                </a:gridCol>
              </a:tblGrid>
              <a:tr h="286252">
                <a:tc>
                  <a:txBody>
                    <a:bodyPr/>
                    <a:lstStyle/>
                    <a:p>
                      <a:r>
                        <a:rPr lang="en-US" dirty="0"/>
                        <a:t>Classification Matrices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   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64032"/>
                  </a:ext>
                </a:extLst>
              </a:tr>
              <a:tr h="40485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Precision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Precision answers the question : “When the model predicts Positive, how often is it correct?"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876215"/>
                  </a:ext>
                </a:extLst>
              </a:tr>
              <a:tr h="33475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Recall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Recall answers: “Out of all actual positive cases, how many did the model detect?"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030199"/>
                  </a:ext>
                </a:extLst>
              </a:tr>
              <a:tr h="286252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F1 Score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F1-Score is the harmonic mean of Precision and Recall. It balances both metrics.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209579"/>
                  </a:ext>
                </a:extLst>
              </a:tr>
              <a:tr h="60411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ROC-AUC 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ROC stands for “Receiver Operating Characteristic”. It is a graph used to evaluate binary classification models.</a:t>
                      </a:r>
                    </a:p>
                    <a:p>
                      <a:r>
                        <a:rPr lang="en-US" sz="1600" dirty="0"/>
                        <a:t>AUC measures the overall performance of the classifier.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57592"/>
                  </a:ext>
                </a:extLst>
              </a:tr>
              <a:tr h="604111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Cross-Validation Strategies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Cross-Validation Strategies</a:t>
                      </a:r>
                      <a:r>
                        <a:rPr lang="en-US" sz="1600" dirty="0"/>
                        <a:t> are techniques used to evaluate a machine learning model's performance by dividing the dataset into training and testing sets in different ways. 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IN" sz="1600" b="1" i="1" dirty="0">
                          <a:solidFill>
                            <a:schemeClr val="tx1"/>
                          </a:solidFill>
                        </a:rPr>
                        <a:t>K-Fold Cross-Validation , Stratified K-Fold &amp;</a:t>
                      </a:r>
                      <a:r>
                        <a:rPr lang="en-US" sz="1600" b="1" i="1" dirty="0">
                          <a:solidFill>
                            <a:schemeClr val="tx1"/>
                          </a:solidFill>
                        </a:rPr>
                        <a:t>Leave-One-Out Cross Validation (LOOCV)</a:t>
                      </a:r>
                      <a:endParaRPr lang="en-IN" sz="1600" b="1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126005"/>
                  </a:ext>
                </a:extLst>
              </a:tr>
              <a:tr h="425115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GridSearchCV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GridSearchCV is used to find the best combination of hyperparameters by testing every possible combination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704975"/>
                  </a:ext>
                </a:extLst>
              </a:tr>
              <a:tr h="404852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RandomizedSearchCV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RandomizedSearchCV tests only a random subset of parameter combinations instead of all combinations.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522369"/>
                  </a:ext>
                </a:extLst>
              </a:tr>
              <a:tr h="6041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Bias-Variance Tradeoff</a:t>
                      </a:r>
                    </a:p>
                    <a:p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Bias-Variance Tradeoff explains the balance between : Bias (Underfitting)</a:t>
                      </a:r>
                    </a:p>
                    <a:p>
                      <a:r>
                        <a:rPr lang="en-US" sz="1600" dirty="0"/>
                        <a:t>                                                                                                        Variance (Overfitting)</a:t>
                      </a:r>
                    </a:p>
                    <a:p>
                      <a:r>
                        <a:rPr lang="en-US" sz="1600" dirty="0"/>
                        <a:t>A good model achieves a balance between both.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784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EBFCC9-B1F8-423E-A135-9AC499C4CC87}"/>
              </a:ext>
            </a:extLst>
          </p:cNvPr>
          <p:cNvSpPr txBox="1"/>
          <p:nvPr/>
        </p:nvSpPr>
        <p:spPr>
          <a:xfrm>
            <a:off x="0" y="751109"/>
            <a:ext cx="6018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Evaluation</a:t>
            </a:r>
            <a:r>
              <a:rPr lang="en-US" dirty="0"/>
              <a:t> </a:t>
            </a:r>
            <a:r>
              <a:rPr lang="en-US" sz="1400" dirty="0"/>
              <a:t>is the process of assessing how well a machine learning model performs on a task, typically using data that was not used during training.</a:t>
            </a:r>
            <a:endParaRPr lang="en-I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6628F0-6B1D-49BB-9FEA-236835B53255}"/>
              </a:ext>
            </a:extLst>
          </p:cNvPr>
          <p:cNvSpPr/>
          <p:nvPr/>
        </p:nvSpPr>
        <p:spPr>
          <a:xfrm>
            <a:off x="6018631" y="769635"/>
            <a:ext cx="61113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Hyperparameter tuning </a:t>
            </a:r>
            <a:r>
              <a:rPr lang="en-US" sz="1400" dirty="0"/>
              <a:t>is the process of finding the best values of a machine learning model's </a:t>
            </a:r>
            <a:r>
              <a:rPr lang="en-US" sz="1400" b="1" dirty="0"/>
              <a:t>hyperparameters</a:t>
            </a:r>
            <a:r>
              <a:rPr lang="en-US" sz="1400" dirty="0"/>
              <a:t> to improve its performance.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6DFD39-3258-4F2C-9EAD-CF7C95FE798D}"/>
              </a:ext>
            </a:extLst>
          </p:cNvPr>
          <p:cNvSpPr txBox="1"/>
          <p:nvPr/>
        </p:nvSpPr>
        <p:spPr>
          <a:xfrm>
            <a:off x="10959928" y="1917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9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088444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0" y="-8689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Engineering &amp; Pipelines</a:t>
            </a:r>
            <a:endParaRPr lang="en-US" sz="28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523CC-54D2-477E-A743-772AC1A2BBD3}"/>
              </a:ext>
            </a:extLst>
          </p:cNvPr>
          <p:cNvSpPr/>
          <p:nvPr/>
        </p:nvSpPr>
        <p:spPr>
          <a:xfrm>
            <a:off x="171635" y="1141744"/>
            <a:ext cx="3441577" cy="5047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Selection: </a:t>
            </a:r>
            <a:r>
              <a:rPr lang="en-US" sz="1600" dirty="0"/>
              <a:t>Feature selection is the process of choosing the most relevant input features (variables) for building a machine learning model. It improves model performance, reduces overfitting, and decreases training time.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SelectKBest: </a:t>
            </a:r>
            <a:r>
              <a:rPr lang="en-US" sz="1600" dirty="0"/>
              <a:t>SelectKBest selects the </a:t>
            </a:r>
            <a:r>
              <a:rPr lang="en-US" sz="1600" b="1" dirty="0"/>
              <a:t>top K features</a:t>
            </a:r>
            <a:r>
              <a:rPr lang="en-US" sz="1600" dirty="0"/>
              <a:t> based on a statistical test.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Recursive Feature Elimination (RFE)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1600" dirty="0"/>
              <a:t>RFE recursively removes the least important features until the desired number of features remains.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Correlation-Based Feature Selection :</a:t>
            </a:r>
            <a:r>
              <a:rPr lang="en-US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Correlation measures how strongly two variables are related.</a:t>
            </a:r>
          </a:p>
          <a:p>
            <a:endParaRPr lang="en-US" sz="1600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036C98-2491-48D6-B745-37B824790AEE}"/>
              </a:ext>
            </a:extLst>
          </p:cNvPr>
          <p:cNvSpPr/>
          <p:nvPr/>
        </p:nvSpPr>
        <p:spPr>
          <a:xfrm>
            <a:off x="3790765" y="1141744"/>
            <a:ext cx="8291744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New Features (Polynomial and Interaction Features)</a:t>
            </a:r>
          </a:p>
          <a:p>
            <a:r>
              <a:rPr lang="en-US" b="1" dirty="0"/>
              <a:t>Feature engineering</a:t>
            </a:r>
            <a:r>
              <a:rPr lang="en-US" dirty="0"/>
              <a:t> is the process of creating new features (variables) from existing data to improve the performance of a machine learning model. Well-designed features help models capture patterns that may not be apparent from the original data.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DAC215-B902-4735-883E-BF5ED4BCBDC0}"/>
              </a:ext>
            </a:extLst>
          </p:cNvPr>
          <p:cNvSpPr/>
          <p:nvPr/>
        </p:nvSpPr>
        <p:spPr>
          <a:xfrm>
            <a:off x="3790765" y="2534907"/>
            <a:ext cx="8291744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Scikit-learn Pipeline to Chain Steps </a:t>
            </a:r>
          </a:p>
          <a:p>
            <a:r>
              <a:rPr lang="en-US" dirty="0"/>
              <a:t>A </a:t>
            </a:r>
            <a:r>
              <a:rPr lang="en-US" b="1" dirty="0"/>
              <a:t>Pipeline</a:t>
            </a:r>
            <a:r>
              <a:rPr lang="en-US" dirty="0"/>
              <a:t> in </a:t>
            </a:r>
            <a:r>
              <a:rPr lang="en-US" b="1" dirty="0"/>
              <a:t>scikit-learn</a:t>
            </a:r>
            <a:r>
              <a:rPr lang="en-US" dirty="0"/>
              <a:t> is a utility that allows you to </a:t>
            </a:r>
            <a:r>
              <a:rPr lang="en-US" b="1" dirty="0"/>
              <a:t>combine multiple preprocessing steps and a machine learning model into a single object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705CE5-348F-4ED5-9F66-E3371002EB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765" y="3740792"/>
            <a:ext cx="7954392" cy="19754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788252-75B7-4101-B080-177055CEE3DC}"/>
              </a:ext>
            </a:extLst>
          </p:cNvPr>
          <p:cNvSpPr txBox="1"/>
          <p:nvPr/>
        </p:nvSpPr>
        <p:spPr>
          <a:xfrm>
            <a:off x="10997225" y="26534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10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84944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63D022-57A7-450F-A3DB-C8616DFFED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7BC32C-6E61-4EE6-8192-488BD01656DD}"/>
              </a:ext>
            </a:extLst>
          </p:cNvPr>
          <p:cNvSpPr/>
          <p:nvPr/>
        </p:nvSpPr>
        <p:spPr>
          <a:xfrm>
            <a:off x="0" y="882244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23BF8-B27B-4A7F-9E55-4E819571E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35BEC0-EE07-4DA0-AE57-C7A156EF1F40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84CBC9-E440-4C89-9C76-6DBCE4ED0609}"/>
              </a:ext>
            </a:extLst>
          </p:cNvPr>
          <p:cNvSpPr txBox="1"/>
          <p:nvPr/>
        </p:nvSpPr>
        <p:spPr>
          <a:xfrm>
            <a:off x="0" y="2066800"/>
            <a:ext cx="116205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Text Preprocessing</a:t>
            </a:r>
            <a:br>
              <a:rPr lang="en-US" sz="1600" dirty="0"/>
            </a:br>
            <a:r>
              <a:rPr lang="en-US" sz="1600" dirty="0"/>
              <a:t>Text preprocessing is the process of cleaning and transforming raw text into a format suitable for machine learning models.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B95CC-BE61-4EEA-88B3-A7DE1D7368F2}"/>
              </a:ext>
            </a:extLst>
          </p:cNvPr>
          <p:cNvSpPr txBox="1"/>
          <p:nvPr/>
        </p:nvSpPr>
        <p:spPr>
          <a:xfrm>
            <a:off x="0" y="90532"/>
            <a:ext cx="6029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NLP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D6E780-FDB9-4475-B4BE-8EAB19202E07}"/>
              </a:ext>
            </a:extLst>
          </p:cNvPr>
          <p:cNvSpPr txBox="1"/>
          <p:nvPr/>
        </p:nvSpPr>
        <p:spPr>
          <a:xfrm>
            <a:off x="66675" y="3168169"/>
            <a:ext cx="3343275" cy="2862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A. Tokenization</a:t>
            </a:r>
          </a:p>
          <a:p>
            <a:r>
              <a:rPr lang="en-US" b="1" dirty="0"/>
              <a:t>Definition:</a:t>
            </a:r>
            <a:r>
              <a:rPr lang="en-US" dirty="0"/>
              <a:t> Breaking text into smaller units called </a:t>
            </a:r>
            <a:r>
              <a:rPr lang="en-US" b="1" dirty="0"/>
              <a:t>tokens</a:t>
            </a:r>
            <a:r>
              <a:rPr lang="en-US" dirty="0"/>
              <a:t> (words or sentences).</a:t>
            </a:r>
          </a:p>
          <a:p>
            <a:r>
              <a:rPr lang="en-US" b="1" dirty="0"/>
              <a:t>Example: </a:t>
            </a:r>
          </a:p>
          <a:p>
            <a:r>
              <a:rPr lang="en-US" dirty="0"/>
              <a:t>Sentence: "I love Machine Learning!"</a:t>
            </a:r>
          </a:p>
          <a:p>
            <a:r>
              <a:rPr lang="en-US" dirty="0"/>
              <a:t>Tokens:</a:t>
            </a:r>
          </a:p>
          <a:p>
            <a:r>
              <a:rPr lang="en-US" dirty="0"/>
              <a:t>["I", "love", "Machine", "Learning"]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8BB4CBEA-2AB1-4C51-B864-1EEC1DDE4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9036" y="3414986"/>
            <a:ext cx="3343275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B. Stopwords Removal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Stopwords are commonly used words that usually do not add much meaning.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 cat is sleeping on the 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removing stopwords: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 sleeping mat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AF2A1E-87BA-4A6F-8559-D720B7355BE7}"/>
              </a:ext>
            </a:extLst>
          </p:cNvPr>
          <p:cNvSpPr txBox="1"/>
          <p:nvPr/>
        </p:nvSpPr>
        <p:spPr>
          <a:xfrm>
            <a:off x="0" y="2696118"/>
            <a:ext cx="703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                      Steps in Text Preprocessing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9F954A-E823-4AD9-95F1-348C86B84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480088"/>
              </p:ext>
            </p:extLst>
          </p:nvPr>
        </p:nvGraphicFramePr>
        <p:xfrm>
          <a:off x="7391398" y="4164099"/>
          <a:ext cx="3695286" cy="2194560"/>
        </p:xfrm>
        <a:graphic>
          <a:graphicData uri="http://schemas.openxmlformats.org/drawingml/2006/table">
            <a:tbl>
              <a:tblPr/>
              <a:tblGrid>
                <a:gridCol w="1847643">
                  <a:extLst>
                    <a:ext uri="{9D8B030D-6E8A-4147-A177-3AD203B41FA5}">
                      <a16:colId xmlns:a16="http://schemas.microsoft.com/office/drawing/2014/main" val="1168989236"/>
                    </a:ext>
                  </a:extLst>
                </a:gridCol>
                <a:gridCol w="1847643">
                  <a:extLst>
                    <a:ext uri="{9D8B030D-6E8A-4147-A177-3AD203B41FA5}">
                      <a16:colId xmlns:a16="http://schemas.microsoft.com/office/drawing/2014/main" val="39392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Original 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381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Playing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444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Played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062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Playing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016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Studies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Studi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792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Running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908209"/>
                  </a:ext>
                </a:extLst>
              </a:tr>
            </a:tbl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65274081-6E5C-4415-B8D7-12B4D519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399" y="3138003"/>
            <a:ext cx="3695285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C. Stemming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words to their root (stem) 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380B24-2A39-4576-A485-1F309C3FFD41}"/>
              </a:ext>
            </a:extLst>
          </p:cNvPr>
          <p:cNvSpPr/>
          <p:nvPr/>
        </p:nvSpPr>
        <p:spPr>
          <a:xfrm>
            <a:off x="-61219" y="1157373"/>
            <a:ext cx="122532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Natural Language Processing (NLP) </a:t>
            </a:r>
            <a:r>
              <a:rPr lang="en-US" dirty="0"/>
              <a:t>is a branch of Artificial Intelligence that enables computers to understand, interpret, process, and generate human language in both </a:t>
            </a:r>
            <a:r>
              <a:rPr lang="en-US" b="1" dirty="0"/>
              <a:t>text</a:t>
            </a:r>
            <a:r>
              <a:rPr lang="en-US" dirty="0"/>
              <a:t> and </a:t>
            </a:r>
            <a:r>
              <a:rPr lang="en-US" b="1" dirty="0"/>
              <a:t>speech</a:t>
            </a:r>
            <a:r>
              <a:rPr lang="en-US" dirty="0"/>
              <a:t> forms.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38BFF-8CB1-4FE2-AE42-49C2FDECA7C0}"/>
              </a:ext>
            </a:extLst>
          </p:cNvPr>
          <p:cNvSpPr txBox="1"/>
          <p:nvPr/>
        </p:nvSpPr>
        <p:spPr>
          <a:xfrm>
            <a:off x="10877332" y="3198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1304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71613" y="-57359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-120"/>
              </a:rPr>
              <a:t>Introduction to NLP</a:t>
            </a:r>
            <a:endParaRPr lang="en-US" sz="28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E74CCC8-731D-4D90-A8CB-EB1EF6D608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99629"/>
              </p:ext>
            </p:extLst>
          </p:nvPr>
        </p:nvGraphicFramePr>
        <p:xfrm>
          <a:off x="177553" y="1953106"/>
          <a:ext cx="11315745" cy="4035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665">
                  <a:extLst>
                    <a:ext uri="{9D8B030D-6E8A-4147-A177-3AD203B41FA5}">
                      <a16:colId xmlns:a16="http://schemas.microsoft.com/office/drawing/2014/main" val="369525530"/>
                    </a:ext>
                  </a:extLst>
                </a:gridCol>
                <a:gridCol w="8993080">
                  <a:extLst>
                    <a:ext uri="{9D8B030D-6E8A-4147-A177-3AD203B41FA5}">
                      <a16:colId xmlns:a16="http://schemas.microsoft.com/office/drawing/2014/main" val="2947857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Terms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435828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Bag of Words (BoW) </a:t>
                      </a: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vectorization</a:t>
                      </a:r>
                      <a:endParaRPr lang="en-IN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Bag of Words (BoW)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/>
                        <a:t>is a text vectorization technique that converts text into numerical feature vectors by counting how many times each word appears in a document. It ignores grammar and word order but preserves word frequency.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568295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TF-IDF Vectorization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TF-IDF (Term Frequency–Inverse Document Frequency)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is a feature extraction technique that measures the importance of a word in a document relative to a collection of documents.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8119574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Naive Bayes Text Classifier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 </a:t>
                      </a:r>
                      <a:r>
                        <a:rPr lang="en-US" sz="1600" b="1" dirty="0"/>
                        <a:t>Naive Bayes classifier</a:t>
                      </a:r>
                      <a:r>
                        <a:rPr lang="en-US" sz="1600" dirty="0"/>
                        <a:t> is a probabilistic machine learning algorithm based on </a:t>
                      </a:r>
                      <a:r>
                        <a:rPr lang="en-US" sz="1600" b="1" dirty="0"/>
                        <a:t>Bayes' Theorem</a:t>
                      </a:r>
                      <a:r>
                        <a:rPr lang="en-US" sz="1600" dirty="0"/>
                        <a:t>. It is widely used for text classification because it is fast, simple, and effective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635643"/>
                  </a:ext>
                </a:extLst>
              </a:tr>
              <a:tr h="82595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Sentiment Analysis Basics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Sentiment Analysis</a:t>
                      </a:r>
                      <a:r>
                        <a:rPr lang="en-US" sz="1600" dirty="0"/>
                        <a:t> is an NLP technique used to determine the emotional tone or opinion expressed in 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3680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8211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7970BE-BEDF-4254-AE6E-38AD9E5968EF}"/>
              </a:ext>
            </a:extLst>
          </p:cNvPr>
          <p:cNvSpPr txBox="1"/>
          <p:nvPr/>
        </p:nvSpPr>
        <p:spPr>
          <a:xfrm>
            <a:off x="94428" y="1210898"/>
            <a:ext cx="1176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Vectorization</a:t>
            </a:r>
            <a:r>
              <a:rPr lang="en-US" dirty="0"/>
              <a:t> is the technique of representing data as numerical vectors for mathematical and machine learning operations.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593CC-E467-4FA2-91CB-1EFE44F4698E}"/>
              </a:ext>
            </a:extLst>
          </p:cNvPr>
          <p:cNvSpPr txBox="1"/>
          <p:nvPr/>
        </p:nvSpPr>
        <p:spPr>
          <a:xfrm>
            <a:off x="10959928" y="2666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003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54738" y="-8689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86046-A62C-46BC-827F-AD1E84D4330C}"/>
              </a:ext>
            </a:extLst>
          </p:cNvPr>
          <p:cNvSpPr/>
          <p:nvPr/>
        </p:nvSpPr>
        <p:spPr>
          <a:xfrm>
            <a:off x="229299" y="1226376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Google ML Crash Course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Scikit-learn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Kaggle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StatQuest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NLTK Official Docs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b="1" dirty="0"/>
              <a:t>Towards Data Science – ML Projects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639391-5021-472A-AAA7-B24320357E1E}"/>
              </a:ext>
            </a:extLst>
          </p:cNvPr>
          <p:cNvSpPr txBox="1"/>
          <p:nvPr/>
        </p:nvSpPr>
        <p:spPr>
          <a:xfrm>
            <a:off x="10959928" y="2666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29322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1742</Words>
  <Application>Microsoft Office PowerPoint</Application>
  <PresentationFormat>Widescreen</PresentationFormat>
  <Paragraphs>192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Unicode MS</vt:lpstr>
      <vt:lpstr>Calibri</vt:lpstr>
      <vt:lpstr>Calibri Light</vt:lpstr>
      <vt:lpstr>CIDFont+F2</vt:lpstr>
      <vt:lpstr>Google Sans Text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user1</cp:lastModifiedBy>
  <cp:revision>63</cp:revision>
  <dcterms:created xsi:type="dcterms:W3CDTF">2026-05-21T06:29:53Z</dcterms:created>
  <dcterms:modified xsi:type="dcterms:W3CDTF">2026-07-14T09:32:14Z</dcterms:modified>
</cp:coreProperties>
</file>