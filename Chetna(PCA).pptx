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22" r:id="rId3"/>
    <p:sldId id="324" r:id="rId4"/>
    <p:sldId id="326" r:id="rId5"/>
    <p:sldId id="325" r:id="rId6"/>
    <p:sldId id="327" r:id="rId7"/>
    <p:sldId id="328" r:id="rId8"/>
    <p:sldId id="329" r:id="rId9"/>
    <p:sldId id="333" r:id="rId10"/>
    <p:sldId id="331" r:id="rId11"/>
    <p:sldId id="332" r:id="rId12"/>
    <p:sldId id="335" r:id="rId13"/>
    <p:sldId id="33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Individual Variance %</c:v>
                </c:pt>
              </c:strCache>
            </c:strRef>
          </c:tx>
          <c:spPr>
            <a:ln w="31750">
              <a:solidFill>
                <a:srgbClr val="4472C4"/>
              </a:solidFill>
            </a:ln>
          </c:spPr>
          <c:marker>
            <c:spPr>
              <a:solidFill>
                <a:srgbClr val="4472C4"/>
              </a:solidFill>
            </c:spPr>
          </c:marker>
          <c:cat>
            <c:strRef>
              <c:f>Sheet1!$A$2:$A$7</c:f>
              <c:strCache>
                <c:ptCount val="6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</c:v>
                </c:pt>
                <c:pt idx="1">
                  <c:v>19</c:v>
                </c:pt>
                <c:pt idx="2">
                  <c:v>12</c:v>
                </c:pt>
                <c:pt idx="3">
                  <c:v>9</c:v>
                </c:pt>
                <c:pt idx="4">
                  <c:v>7</c:v>
                </c:pt>
                <c:pt idx="5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0C-448C-AC0C-1BBAA3D2F7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Variance %</c:v>
                </c:pt>
              </c:strCache>
            </c:strRef>
          </c:tx>
          <c:spPr>
            <a:ln w="31750">
              <a:solidFill>
                <a:srgbClr val="ED7D31"/>
              </a:solidFill>
            </a:ln>
          </c:spPr>
          <c:marker>
            <c:spPr>
              <a:solidFill>
                <a:srgbClr val="ED7D31"/>
              </a:solidFill>
            </c:spPr>
          </c:marker>
          <c:cat>
            <c:strRef>
              <c:f>Sheet1!$A$2:$A$7</c:f>
              <c:strCache>
                <c:ptCount val="6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</c:v>
                </c:pt>
                <c:pt idx="1">
                  <c:v>63</c:v>
                </c:pt>
                <c:pt idx="2">
                  <c:v>75</c:v>
                </c:pt>
                <c:pt idx="3">
                  <c:v>84</c:v>
                </c:pt>
                <c:pt idx="4">
                  <c:v>91</c:v>
                </c:pt>
                <c:pt idx="5">
                  <c:v>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20C-448C-AC0C-1BBAA3D2F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IN" sz="3600" b="1" dirty="0"/>
              <a:t>Principal Component Analysis (PCA)</a:t>
            </a:r>
            <a:endParaRPr lang="en-US" sz="36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 : Chetna Saharan 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Ms. Riya &amp; Mr. Harjeet Singh 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Agenda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EED752-8741-4CA1-840D-9A8627B8D102}"/>
              </a:ext>
            </a:extLst>
          </p:cNvPr>
          <p:cNvSpPr/>
          <p:nvPr/>
        </p:nvSpPr>
        <p:spPr>
          <a:xfrm>
            <a:off x="272672" y="1211347"/>
            <a:ext cx="725559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Principle Component Analysis (PCA)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Dimensionality Reduction: The Need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How PCA Works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Standardization(Mean centering)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Covariance Matrix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 Calculating Eigenvectors and Eigenvalues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Explained Variance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Implementation</a:t>
            </a:r>
            <a:endParaRPr lang="en-IN" sz="2400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54738" y="-8689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</a:rPr>
              <a:t>Principle Component Analysis (PCA)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77488E-A742-4FC3-AB62-72F70057E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755" y="2348257"/>
            <a:ext cx="5534797" cy="36390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A8C8AD-9551-41B4-B944-77592D13F15E}"/>
              </a:ext>
            </a:extLst>
          </p:cNvPr>
          <p:cNvSpPr/>
          <p:nvPr/>
        </p:nvSpPr>
        <p:spPr>
          <a:xfrm>
            <a:off x="154737" y="1088638"/>
            <a:ext cx="11954405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D3748"/>
                </a:solidFill>
                <a:latin typeface="Nimbus-Sans-Bold"/>
              </a:rPr>
              <a:t>Principal Component Analysis (PCA</a:t>
            </a:r>
            <a:r>
              <a:rPr lang="en-US" b="1" dirty="0">
                <a:solidFill>
                  <a:srgbClr val="2D3748"/>
                </a:solidFill>
                <a:latin typeface="Nimbus-Sans-Bold"/>
              </a:rPr>
              <a:t>) </a:t>
            </a:r>
            <a:r>
              <a:rPr lang="en-US" dirty="0">
                <a:solidFill>
                  <a:srgbClr val="2D3748"/>
                </a:solidFill>
                <a:latin typeface="Nimbus-Sans"/>
              </a:rPr>
              <a:t>is an unsupervised linear transformation and dimensionality reduction technique widely applied across machine learning, data science, and advanced statistical modeling.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215522-29C0-41AF-89A8-719000814989}"/>
              </a:ext>
            </a:extLst>
          </p:cNvPr>
          <p:cNvSpPr/>
          <p:nvPr/>
        </p:nvSpPr>
        <p:spPr>
          <a:xfrm>
            <a:off x="154737" y="2769267"/>
            <a:ext cx="6096000" cy="19082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Why PCA is Used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Reduces the number of features (dimensions).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Removes redundancy caused by correlated variables.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Speeds up machine learning model training.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Helps visualize high-dimensional data in 2D or 3D.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Reduces noise while preserving important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3388301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-8689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</a:rPr>
              <a:t>Dimensionality Reduction: The Need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D3677-EC75-4556-9713-10C9048A321B}"/>
              </a:ext>
            </a:extLst>
          </p:cNvPr>
          <p:cNvSpPr txBox="1"/>
          <p:nvPr/>
        </p:nvSpPr>
        <p:spPr>
          <a:xfrm>
            <a:off x="186431" y="958296"/>
            <a:ext cx="1122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process of reducing the number of random variables under consideration by obtaining a set of principle variables.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A29B2F-8E45-47E0-A2EC-7F908617B2CC}"/>
              </a:ext>
            </a:extLst>
          </p:cNvPr>
          <p:cNvSpPr/>
          <p:nvPr/>
        </p:nvSpPr>
        <p:spPr>
          <a:xfrm>
            <a:off x="310718" y="2011131"/>
            <a:ext cx="11386766" cy="6391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Curse of Dimensionality</a:t>
            </a:r>
            <a:r>
              <a:rPr lang="en-US" dirty="0">
                <a:solidFill>
                  <a:schemeClr val="tx1"/>
                </a:solidFill>
              </a:rPr>
              <a:t>: More features often lead to sparsity, requiring exponential data to maintain significance.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B2AFBF-CD5E-43BC-9868-852B71E8D81C}"/>
              </a:ext>
            </a:extLst>
          </p:cNvPr>
          <p:cNvSpPr/>
          <p:nvPr/>
        </p:nvSpPr>
        <p:spPr>
          <a:xfrm>
            <a:off x="1207714" y="3271576"/>
            <a:ext cx="9454718" cy="63919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Overfitting Prevention: </a:t>
            </a:r>
            <a:r>
              <a:rPr lang="en-US" dirty="0">
                <a:solidFill>
                  <a:schemeClr val="tx1"/>
                </a:solidFill>
              </a:rPr>
              <a:t>Reducing features helps the model focus on signal rather than noise.                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632696-0543-4B89-9D57-13CAB55ED32C}"/>
              </a:ext>
            </a:extLst>
          </p:cNvPr>
          <p:cNvSpPr/>
          <p:nvPr/>
        </p:nvSpPr>
        <p:spPr>
          <a:xfrm>
            <a:off x="1681606" y="4588516"/>
            <a:ext cx="8644990" cy="6391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Computational Efficiency: </a:t>
            </a:r>
            <a:r>
              <a:rPr lang="en-US" dirty="0">
                <a:solidFill>
                  <a:schemeClr val="tx1"/>
                </a:solidFill>
              </a:rPr>
              <a:t>Faster training times and lower memory requirements.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99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80579" y="-56412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How PCA Works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252309-86A0-40EB-A60C-7D9E323CC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98700"/>
            <a:ext cx="121920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73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22EFD-6CBD-44B2-910A-820F2FEED6AB}"/>
              </a:ext>
            </a:extLst>
          </p:cNvPr>
          <p:cNvSpPr txBox="1"/>
          <p:nvPr/>
        </p:nvSpPr>
        <p:spPr>
          <a:xfrm>
            <a:off x="204187" y="158942"/>
            <a:ext cx="5795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Standardization(Mean centering)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03F3D7-5026-49C0-94CA-F790ED4CBFEF}"/>
              </a:ext>
            </a:extLst>
          </p:cNvPr>
          <p:cNvSpPr txBox="1"/>
          <p:nvPr/>
        </p:nvSpPr>
        <p:spPr>
          <a:xfrm>
            <a:off x="0" y="914119"/>
            <a:ext cx="455424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Standardization is the process of scaling all features so that they have:</a:t>
            </a:r>
          </a:p>
          <a:p>
            <a:r>
              <a:rPr lang="en-US" b="1" dirty="0"/>
              <a:t>Mean = 0</a:t>
            </a:r>
            <a:r>
              <a:rPr lang="en-US" dirty="0"/>
              <a:t> </a:t>
            </a:r>
          </a:p>
          <a:p>
            <a:r>
              <a:rPr lang="en-US" b="1" dirty="0"/>
              <a:t>Standard Deviation = 1</a:t>
            </a:r>
            <a:r>
              <a:rPr lang="en-US" dirty="0"/>
              <a:t> </a:t>
            </a:r>
          </a:p>
          <a:p>
            <a:r>
              <a:rPr lang="en-US" dirty="0"/>
              <a:t>This is an important preprocessing step because PCA is sensitive to the scale of the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​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1CC3FC-A5C6-4FE2-8666-D0D19D723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87" y="3234876"/>
            <a:ext cx="11498280" cy="3057952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6B2266-857C-4298-AA0C-765BAE82555E}"/>
              </a:ext>
            </a:extLst>
          </p:cNvPr>
          <p:cNvSpPr/>
          <p:nvPr/>
        </p:nvSpPr>
        <p:spPr>
          <a:xfrm>
            <a:off x="5553402" y="1288319"/>
            <a:ext cx="6149065" cy="159427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                                        Where: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                                    X</a:t>
            </a:r>
            <a:r>
              <a:rPr lang="en-US" dirty="0">
                <a:solidFill>
                  <a:schemeClr val="tx1"/>
                </a:solidFill>
              </a:rPr>
              <a:t> = Original value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                                    μ (mu)</a:t>
            </a:r>
            <a:r>
              <a:rPr lang="en-US" dirty="0">
                <a:solidFill>
                  <a:schemeClr val="tx1"/>
                </a:solidFill>
              </a:rPr>
              <a:t> = Mean of the feature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                                    σ (sigma)</a:t>
            </a:r>
            <a:r>
              <a:rPr lang="en-US" dirty="0">
                <a:solidFill>
                  <a:schemeClr val="tx1"/>
                </a:solidFill>
              </a:rPr>
              <a:t> = Standard deviation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4F8F13-69FE-40BF-942B-27A6153A47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327" y="1749990"/>
            <a:ext cx="1152686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7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89456" y="-3430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Covariance Matrix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058C9F-F496-4D31-B16B-E3AE11E40F4D}"/>
              </a:ext>
            </a:extLst>
          </p:cNvPr>
          <p:cNvSpPr/>
          <p:nvPr/>
        </p:nvSpPr>
        <p:spPr>
          <a:xfrm>
            <a:off x="89456" y="1219368"/>
            <a:ext cx="32047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The covariance matrix measures how two variables change together. It helps PCA identify relationships between features.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5DE985-8B2D-46FD-B585-FCBD218D3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945" y="1132408"/>
            <a:ext cx="3296110" cy="1762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D1152-2D05-4C73-BCB4-1ED8A8903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023" y="1137245"/>
            <a:ext cx="2543530" cy="1724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ED9292-1431-44F2-B9AC-72C66F0B3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650" y="4063486"/>
            <a:ext cx="11288700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35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8607D6-FC7A-43BF-A7E9-D4E5CF3F6997}"/>
              </a:ext>
            </a:extLst>
          </p:cNvPr>
          <p:cNvSpPr/>
          <p:nvPr/>
        </p:nvSpPr>
        <p:spPr>
          <a:xfrm>
            <a:off x="17929" y="158942"/>
            <a:ext cx="71097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Calculating Eigenvectors and Eigenvalues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19046-3254-4611-B7D5-9FBFFBBCFDE8}"/>
              </a:ext>
            </a:extLst>
          </p:cNvPr>
          <p:cNvSpPr txBox="1"/>
          <p:nvPr/>
        </p:nvSpPr>
        <p:spPr>
          <a:xfrm>
            <a:off x="0" y="931244"/>
            <a:ext cx="12427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decompose the Covariance Matrix into its </a:t>
            </a:r>
            <a:r>
              <a:rPr lang="en-US" b="1" dirty="0"/>
              <a:t>Eigenvectors</a:t>
            </a:r>
            <a:r>
              <a:rPr lang="en-US" dirty="0"/>
              <a:t> and </a:t>
            </a:r>
            <a:r>
              <a:rPr lang="en-US" b="1" dirty="0"/>
              <a:t>Eigenvalues</a:t>
            </a:r>
            <a:r>
              <a:rPr lang="en-US" dirty="0"/>
              <a:t>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ACBC9C-A586-46FD-A161-C7FCF9BA5BE2}"/>
              </a:ext>
            </a:extLst>
          </p:cNvPr>
          <p:cNvSpPr/>
          <p:nvPr/>
        </p:nvSpPr>
        <p:spPr>
          <a:xfrm>
            <a:off x="6857917" y="5502987"/>
            <a:ext cx="4881537" cy="64807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Larger eigenvalue = More important component.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252AB1-11D8-4107-86C5-07BC8DBA0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814" y="3376472"/>
            <a:ext cx="2981741" cy="17528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49B934-CE18-471C-B75E-7D54BBEF4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681" y="2882127"/>
            <a:ext cx="4624001" cy="352474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D0F583-2EC7-4D82-881F-4A7B5067C41D}"/>
              </a:ext>
            </a:extLst>
          </p:cNvPr>
          <p:cNvSpPr/>
          <p:nvPr/>
        </p:nvSpPr>
        <p:spPr>
          <a:xfrm>
            <a:off x="986873" y="1440153"/>
            <a:ext cx="4140179" cy="12419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Eigenvectors</a:t>
            </a:r>
          </a:p>
          <a:p>
            <a:r>
              <a:rPr lang="en-US" dirty="0">
                <a:solidFill>
                  <a:schemeClr val="tx1"/>
                </a:solidFill>
              </a:rPr>
              <a:t>They represent the direction of the new axes (principal components).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C4AF80-7026-466F-9086-58D0E698EE1B}"/>
              </a:ext>
            </a:extLst>
          </p:cNvPr>
          <p:cNvSpPr/>
          <p:nvPr/>
        </p:nvSpPr>
        <p:spPr>
          <a:xfrm>
            <a:off x="7203495" y="1379282"/>
            <a:ext cx="4001632" cy="1253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Eigenvalues</a:t>
            </a:r>
          </a:p>
          <a:p>
            <a:r>
              <a:rPr lang="en-US" dirty="0">
                <a:solidFill>
                  <a:schemeClr val="tx1"/>
                </a:solidFill>
              </a:rPr>
              <a:t>They indicate how much variance each principal component explains.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069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&amp; Choosing k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000" y="1120000"/>
            <a:ext cx="11192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  <a:latin typeface="Calibri"/>
              </a:rPr>
              <a:t>Each principal component explains a share of total variance; a scree plot helps pick how many to keep.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00000" y="1650000"/>
          <a:ext cx="840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400000" y="1750000"/>
            <a:ext cx="2300000" cy="90000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Elbow / knee
of the curve
suggests 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00" y="2800000"/>
            <a:ext cx="2300000" cy="90000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Keep components
until cumulative
variance ≈ 90-95%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00000" y="3850000"/>
            <a:ext cx="2300000" cy="900000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Remaining PCs
mostly capture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5450000"/>
            <a:ext cx="111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02060"/>
                </a:solidFill>
                <a:latin typeface="Calibri"/>
              </a:rPr>
              <a:t>Example: keeping PC1–PC4 above retains ~84% of total variance with 1/3 fewer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0000" y="6690000"/>
            <a:ext cx="600000" cy="1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49118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-9123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3E7BA-240A-4DD4-89CA-887530A06782}"/>
              </a:ext>
            </a:extLst>
          </p:cNvPr>
          <p:cNvSpPr/>
          <p:nvPr/>
        </p:nvSpPr>
        <p:spPr>
          <a:xfrm>
            <a:off x="-1" y="2251351"/>
            <a:ext cx="12125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**Goal:**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 </a:t>
            </a:r>
            <a:r>
              <a:rPr lang="en-US" dirty="0">
                <a:cs typeface="Calibri" panose="020F0502020204030204" pitchFamily="34" charset="0"/>
              </a:rPr>
              <a:t>Reduce the 13 correlated chemical features down to a handful of principal components,</a:t>
            </a:r>
          </a:p>
          <a:p>
            <a:r>
              <a:rPr lang="en-US" dirty="0">
                <a:cs typeface="Calibri" panose="020F0502020204030204" pitchFamily="34" charset="0"/>
              </a:rPr>
              <a:t>inspect the eigenvalues / explained variance, and see how well PCA preserves the class structure in just 2 dimensions</a:t>
            </a:r>
            <a:r>
              <a:rPr lang="en-US" dirty="0"/>
              <a:t>.</a:t>
            </a:r>
            <a:endParaRPr lang="en-US" b="0" dirty="0"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C68925-B905-4412-9E16-AF19D1B387CF}"/>
              </a:ext>
            </a:extLst>
          </p:cNvPr>
          <p:cNvSpPr/>
          <p:nvPr/>
        </p:nvSpPr>
        <p:spPr>
          <a:xfrm>
            <a:off x="115409" y="3579592"/>
            <a:ext cx="64777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STEPS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cs typeface="Calibri" panose="020F0502020204030204" pitchFamily="34" charset="0"/>
              </a:rPr>
              <a:t> Load &amp; explore the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cs typeface="Calibri" panose="020F0502020204030204" pitchFamily="34" charset="0"/>
              </a:rPr>
              <a:t> Standardize the features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cs typeface="Calibri" panose="020F0502020204030204" pitchFamily="34" charset="0"/>
              </a:rPr>
              <a:t> Fit PCA and inspect eigenvalues / eigenvectors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cs typeface="Calibri" panose="020F0502020204030204" pitchFamily="34" charset="0"/>
              </a:rPr>
              <a:t> Look at variance explained + choose `k`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cs typeface="Calibri" panose="020F0502020204030204" pitchFamily="34" charset="0"/>
              </a:rPr>
              <a:t> Visualize the projected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cs typeface="Calibri" panose="020F0502020204030204" pitchFamily="34" charset="0"/>
              </a:rPr>
              <a:t> Compare a classifier trained on raw vs. PCA-  reduced features</a:t>
            </a:r>
            <a:endParaRPr lang="en-US" b="0" dirty="0">
              <a:effectLst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7DE809-4EC1-4458-BCD6-F71BF9941E42}"/>
              </a:ext>
            </a:extLst>
          </p:cNvPr>
          <p:cNvSpPr/>
          <p:nvPr/>
        </p:nvSpPr>
        <p:spPr>
          <a:xfrm>
            <a:off x="0" y="950353"/>
            <a:ext cx="121254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**Dataset:**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UCI Wine dataset (`wine_dataset.csv`) — 178 samples, 13 chemical-analysis</a:t>
            </a:r>
          </a:p>
          <a:p>
            <a:r>
              <a:rPr lang="en-US" dirty="0">
                <a:latin typeface="Consolas" panose="020B0609020204030204" pitchFamily="49" charset="0"/>
              </a:rPr>
              <a:t>features of wines grown in the same region of Italy, derived from three different</a:t>
            </a:r>
          </a:p>
          <a:p>
            <a:r>
              <a:rPr lang="en-US" dirty="0">
                <a:latin typeface="Consolas" panose="020B0609020204030204" pitchFamily="49" charset="0"/>
              </a:rPr>
              <a:t>cultivars (`target` / `target_name`).</a:t>
            </a:r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46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793685-4E62-4688-A2FC-EC51AE118453}"/>
              </a:ext>
            </a:extLst>
          </p:cNvPr>
          <p:cNvSpPr/>
          <p:nvPr/>
        </p:nvSpPr>
        <p:spPr>
          <a:xfrm>
            <a:off x="71702" y="951158"/>
            <a:ext cx="496202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/>
              <a:t>Standardization</a:t>
            </a:r>
          </a:p>
          <a:p>
            <a:r>
              <a:rPr lang="en-IN" dirty="0"/>
              <a:t>Mean per feature (should be ~0): [-0. -0. -0. -0. -0.]</a:t>
            </a:r>
          </a:p>
          <a:p>
            <a:r>
              <a:rPr lang="en-IN" dirty="0"/>
              <a:t>Std per feature (should be ~1):  [1. 1. 1. 1. 1.]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2F4287-771B-4342-9636-C1C28C8FA374}"/>
              </a:ext>
            </a:extLst>
          </p:cNvPr>
          <p:cNvSpPr/>
          <p:nvPr/>
        </p:nvSpPr>
        <p:spPr>
          <a:xfrm>
            <a:off x="5551005" y="975119"/>
            <a:ext cx="5261997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2. Covariance Matrix, Eigenvalues &amp; Eigenvectors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Covariance matrix shape: (13, 13)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Top 5 eigenvalues: [4.732 2.511 1.454 0.924 0.858]</a:t>
            </a:r>
            <a:endParaRPr lang="en-IN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9EFB79-1AD4-469C-BD66-15D00FF13BCC}"/>
              </a:ext>
            </a:extLst>
          </p:cNvPr>
          <p:cNvSpPr/>
          <p:nvPr/>
        </p:nvSpPr>
        <p:spPr>
          <a:xfrm>
            <a:off x="89804" y="2094972"/>
            <a:ext cx="449033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IN" b="1" dirty="0">
                <a:latin typeface="Consolas" panose="020B0609020204030204" pitchFamily="49" charset="0"/>
              </a:rPr>
              <a:t>3. Variance Explained &amp; Scree Plot</a:t>
            </a:r>
            <a:endParaRPr lang="en-IN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DCFB04-F303-4340-AEA4-FE1C35F0D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90743"/>
            <a:ext cx="7227117" cy="408431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09FB2B6-F4EC-4A01-8BFA-1652B07B6152}"/>
              </a:ext>
            </a:extLst>
          </p:cNvPr>
          <p:cNvSpPr/>
          <p:nvPr/>
        </p:nvSpPr>
        <p:spPr>
          <a:xfrm>
            <a:off x="7497833" y="3135162"/>
            <a:ext cx="449033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Choosing `k`:**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looking at the scree plot, the curve "elbows" around PC3-PC4,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the cumulative line crosses ~90% variance retained by about 8 components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(down from the original 13). For 2D visualization purposes we'll use `k = 2`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below, even though it retains less variance, since it's easy to plot.</a:t>
            </a:r>
            <a:endParaRPr lang="en-US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423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-9123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5B39A4-FA2E-4776-B01D-612CD06053FF}"/>
              </a:ext>
            </a:extLst>
          </p:cNvPr>
          <p:cNvSpPr/>
          <p:nvPr/>
        </p:nvSpPr>
        <p:spPr>
          <a:xfrm>
            <a:off x="3253490" y="975105"/>
            <a:ext cx="401468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Variance retained by PC1 + PC2: 55.41 %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51A24E-0AFC-4022-B1D0-7C9C1A6C3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275" y="1452563"/>
            <a:ext cx="5458814" cy="409598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DD5DFED-3C6A-4FDD-9FA7-AFEFBD7E5515}"/>
              </a:ext>
            </a:extLst>
          </p:cNvPr>
          <p:cNvSpPr/>
          <p:nvPr/>
        </p:nvSpPr>
        <p:spPr>
          <a:xfrm>
            <a:off x="68387" y="5629688"/>
            <a:ext cx="121236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Even though we collapsed 13 chemical measurements into just 2 components, the three wine cultivars remain clearly separated a good sign that PCA preserved the structure that matters.</a:t>
            </a:r>
            <a:endParaRPr lang="en-US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68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000" y="1250000"/>
            <a:ext cx="11192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002060"/>
                </a:solidFill>
                <a:latin typeface="Calibri"/>
              </a:rPr>
              <a:t>• Jolliffe, I. T. (2002). Principal Component Analysis (2nd ed.). Springer.</a:t>
            </a:r>
          </a:p>
          <a:p>
            <a:pPr algn="l"/>
            <a:endParaRPr sz="1500" b="0" i="0" dirty="0">
              <a:solidFill>
                <a:srgbClr val="002060"/>
              </a:solidFill>
              <a:latin typeface="Calibri"/>
            </a:endParaRPr>
          </a:p>
          <a:p>
            <a:pPr algn="l"/>
            <a:r>
              <a:rPr sz="1500" b="0" i="0" dirty="0">
                <a:solidFill>
                  <a:srgbClr val="002060"/>
                </a:solidFill>
                <a:latin typeface="Calibri"/>
              </a:rPr>
              <a:t>• Bishop, C. M. (2006). Pattern Recognition and Machine Learning. Springer.</a:t>
            </a:r>
          </a:p>
          <a:p>
            <a:pPr algn="l"/>
            <a:endParaRPr sz="1500" b="0" i="0" dirty="0">
              <a:solidFill>
                <a:srgbClr val="002060"/>
              </a:solidFill>
              <a:latin typeface="Calibri"/>
            </a:endParaRPr>
          </a:p>
          <a:p>
            <a:pPr algn="l"/>
            <a:r>
              <a:rPr sz="1500" b="0" i="0" dirty="0">
                <a:solidFill>
                  <a:srgbClr val="002060"/>
                </a:solidFill>
                <a:latin typeface="Calibri"/>
              </a:rPr>
              <a:t>• Pedregosa et al. (2011). Sci</a:t>
            </a:r>
            <a:r>
              <a:rPr lang="en-US" sz="1500" dirty="0">
                <a:solidFill>
                  <a:srgbClr val="002060"/>
                </a:solidFill>
                <a:latin typeface="Calibri"/>
              </a:rPr>
              <a:t>k</a:t>
            </a:r>
            <a:r>
              <a:rPr sz="1500" b="0" i="0" dirty="0">
                <a:solidFill>
                  <a:srgbClr val="002060"/>
                </a:solidFill>
                <a:latin typeface="Calibri"/>
              </a:rPr>
              <a:t>it</a:t>
            </a:r>
            <a:r>
              <a:rPr lang="en-US" sz="1500" b="0" i="0" dirty="0">
                <a:solidFill>
                  <a:srgbClr val="002060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002060"/>
                </a:solidFill>
                <a:latin typeface="Calibri"/>
              </a:rPr>
              <a:t>-learn: Machine Learning in Python. JMLR 12, 2825–2830.</a:t>
            </a:r>
          </a:p>
          <a:p>
            <a:pPr algn="l"/>
            <a:endParaRPr sz="1500" b="0" i="0" dirty="0">
              <a:solidFill>
                <a:srgbClr val="002060"/>
              </a:solidFill>
              <a:latin typeface="Calibri"/>
            </a:endParaRPr>
          </a:p>
          <a:p>
            <a:pPr algn="l"/>
            <a:r>
              <a:rPr sz="1500" b="0" i="0" dirty="0">
                <a:solidFill>
                  <a:srgbClr val="002060"/>
                </a:solidFill>
                <a:latin typeface="Calibri"/>
              </a:rPr>
              <a:t>• Fisher, R. A. (1936). The Iris dataset — UCI Machine Learning Repository.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0" y="6690000"/>
            <a:ext cx="600000" cy="1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11661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824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Nimbus-Sans</vt:lpstr>
      <vt:lpstr>Nimbus-Sans-Bold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user1</cp:lastModifiedBy>
  <cp:revision>33</cp:revision>
  <dcterms:created xsi:type="dcterms:W3CDTF">2026-05-21T06:29:53Z</dcterms:created>
  <dcterms:modified xsi:type="dcterms:W3CDTF">2026-07-14T09:33:08Z</dcterms:modified>
</cp:coreProperties>
</file>