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81" r:id="rId2"/>
    <p:sldId id="322" r:id="rId3"/>
    <p:sldId id="323" r:id="rId4"/>
    <p:sldId id="325" r:id="rId5"/>
    <p:sldId id="324" r:id="rId6"/>
    <p:sldId id="326" r:id="rId7"/>
    <p:sldId id="327" r:id="rId8"/>
    <p:sldId id="329" r:id="rId9"/>
    <p:sldId id="330" r:id="rId10"/>
    <p:sldId id="331" r:id="rId11"/>
    <p:sldId id="332" r:id="rId12"/>
    <p:sldId id="333" r:id="rId13"/>
    <p:sldId id="334" r:id="rId14"/>
    <p:sldId id="335" r:id="rId15"/>
    <p:sldId id="336" r:id="rId16"/>
    <p:sldId id="337" r:id="rId17"/>
    <p:sldId id="338" r:id="rId18"/>
    <p:sldId id="339" r:id="rId19"/>
    <p:sldId id="340" r:id="rId20"/>
    <p:sldId id="341" r:id="rId21"/>
    <p:sldId id="342" r:id="rId22"/>
    <p:sldId id="343" r:id="rId23"/>
    <p:sldId id="344" r:id="rId24"/>
    <p:sldId id="345" r:id="rId25"/>
    <p:sldId id="346" r:id="rId26"/>
    <p:sldId id="347" r:id="rId27"/>
    <p:sldId id="348" r:id="rId28"/>
    <p:sldId id="349" r:id="rId29"/>
    <p:sldId id="350" r:id="rId30"/>
    <p:sldId id="351" r:id="rId31"/>
    <p:sldId id="352" r:id="rId32"/>
    <p:sldId id="353" r:id="rId33"/>
    <p:sldId id="354" r:id="rId34"/>
    <p:sldId id="356" r:id="rId35"/>
    <p:sldId id="358" r:id="rId36"/>
    <p:sldId id="359" r:id="rId37"/>
    <p:sldId id="360" r:id="rId38"/>
    <p:sldId id="361" r:id="rId39"/>
    <p:sldId id="362" r:id="rId40"/>
    <p:sldId id="364" r:id="rId41"/>
    <p:sldId id="365" r:id="rId42"/>
    <p:sldId id="366" r:id="rId43"/>
    <p:sldId id="367" r:id="rId44"/>
    <p:sldId id="368"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1" initials="u" lastIdx="2" clrIdx="0">
    <p:extLst>
      <p:ext uri="{19B8F6BF-5375-455C-9EA6-DF929625EA0E}">
        <p15:presenceInfo xmlns:p15="http://schemas.microsoft.com/office/powerpoint/2012/main" userId="user1"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374" autoAdjust="0"/>
  </p:normalViewPr>
  <p:slideViewPr>
    <p:cSldViewPr snapToGrid="0">
      <p:cViewPr varScale="1">
        <p:scale>
          <a:sx n="114" d="100"/>
          <a:sy n="114" d="100"/>
        </p:scale>
        <p:origin x="43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3F32C3-19C4-4395-AB15-41B1320FDC6A}" type="datetimeFigureOut">
              <a:rPr lang="en-IN" smtClean="0"/>
              <a:t>14-07-2026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800FC5-109E-4310-9C00-5C3CEB76DC35}" type="slidenum">
              <a:rPr lang="en-IN" smtClean="0"/>
              <a:t>‹#›</a:t>
            </a:fld>
            <a:endParaRPr lang="en-IN"/>
          </a:p>
        </p:txBody>
      </p:sp>
    </p:spTree>
    <p:extLst>
      <p:ext uri="{BB962C8B-B14F-4D97-AF65-F5344CB8AC3E}">
        <p14:creationId xmlns:p14="http://schemas.microsoft.com/office/powerpoint/2010/main" val="33883719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6800FC5-109E-4310-9C00-5C3CEB76DC35}" type="slidenum">
              <a:rPr lang="en-IN" smtClean="0"/>
              <a:t>5</a:t>
            </a:fld>
            <a:endParaRPr lang="en-IN"/>
          </a:p>
        </p:txBody>
      </p:sp>
    </p:spTree>
    <p:extLst>
      <p:ext uri="{BB962C8B-B14F-4D97-AF65-F5344CB8AC3E}">
        <p14:creationId xmlns:p14="http://schemas.microsoft.com/office/powerpoint/2010/main" val="5950064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BAEB5-225E-4810-9563-E46323C086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EC49624-476A-4471-B279-AD909F1973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D3A42A1-7CD4-415E-8AF4-9D85D9FED91B}"/>
              </a:ext>
            </a:extLst>
          </p:cNvPr>
          <p:cNvSpPr>
            <a:spLocks noGrp="1"/>
          </p:cNvSpPr>
          <p:nvPr>
            <p:ph type="dt" sz="half" idx="10"/>
          </p:nvPr>
        </p:nvSpPr>
        <p:spPr/>
        <p:txBody>
          <a:bodyPr/>
          <a:lstStyle/>
          <a:p>
            <a:fld id="{C1EF5DC5-E8E1-4A4B-A884-6C770968C94A}" type="datetimeFigureOut">
              <a:rPr lang="en-IN" smtClean="0"/>
              <a:t>14-07-2026</a:t>
            </a:fld>
            <a:endParaRPr lang="en-IN"/>
          </a:p>
        </p:txBody>
      </p:sp>
      <p:sp>
        <p:nvSpPr>
          <p:cNvPr id="5" name="Footer Placeholder 4">
            <a:extLst>
              <a:ext uri="{FF2B5EF4-FFF2-40B4-BE49-F238E27FC236}">
                <a16:creationId xmlns:a16="http://schemas.microsoft.com/office/drawing/2014/main" id="{5420AA0E-0E69-484F-B4AE-93740666AA1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D02798-846B-46C5-8E9A-002676BC0FF6}"/>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2139904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2FB1A-C635-4763-B822-C6815F5DBDC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2BB9B05-75E0-4400-9E29-DF00D535B3A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B4A95CD-B135-4E87-BCEB-F5CDA5DBA02C}"/>
              </a:ext>
            </a:extLst>
          </p:cNvPr>
          <p:cNvSpPr>
            <a:spLocks noGrp="1"/>
          </p:cNvSpPr>
          <p:nvPr>
            <p:ph type="dt" sz="half" idx="10"/>
          </p:nvPr>
        </p:nvSpPr>
        <p:spPr/>
        <p:txBody>
          <a:bodyPr/>
          <a:lstStyle/>
          <a:p>
            <a:fld id="{C1EF5DC5-E8E1-4A4B-A884-6C770968C94A}" type="datetimeFigureOut">
              <a:rPr lang="en-IN" smtClean="0"/>
              <a:t>14-07-2026</a:t>
            </a:fld>
            <a:endParaRPr lang="en-IN"/>
          </a:p>
        </p:txBody>
      </p:sp>
      <p:sp>
        <p:nvSpPr>
          <p:cNvPr id="5" name="Footer Placeholder 4">
            <a:extLst>
              <a:ext uri="{FF2B5EF4-FFF2-40B4-BE49-F238E27FC236}">
                <a16:creationId xmlns:a16="http://schemas.microsoft.com/office/drawing/2014/main" id="{CA7B66C0-FFE4-4C76-B50F-64FA114792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E35CFC-DB24-4743-890C-852D3A402D28}"/>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2300877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74D71-AFB1-4E1C-8AE8-524A4FF25C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D06E175-81E0-45F0-BDB5-A097DE6FDBF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CDC4499F-80ED-4BDB-AA88-138ACF1DDB06}"/>
              </a:ext>
            </a:extLst>
          </p:cNvPr>
          <p:cNvSpPr>
            <a:spLocks noGrp="1"/>
          </p:cNvSpPr>
          <p:nvPr>
            <p:ph type="dt" sz="half" idx="10"/>
          </p:nvPr>
        </p:nvSpPr>
        <p:spPr/>
        <p:txBody>
          <a:bodyPr/>
          <a:lstStyle/>
          <a:p>
            <a:fld id="{C1EF5DC5-E8E1-4A4B-A884-6C770968C94A}" type="datetimeFigureOut">
              <a:rPr lang="en-IN" smtClean="0"/>
              <a:t>14-07-2026</a:t>
            </a:fld>
            <a:endParaRPr lang="en-IN"/>
          </a:p>
        </p:txBody>
      </p:sp>
      <p:sp>
        <p:nvSpPr>
          <p:cNvPr id="5" name="Footer Placeholder 4">
            <a:extLst>
              <a:ext uri="{FF2B5EF4-FFF2-40B4-BE49-F238E27FC236}">
                <a16:creationId xmlns:a16="http://schemas.microsoft.com/office/drawing/2014/main" id="{5B31B6B7-9591-4020-867B-9AACA9D0E1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ADEF05-F6A0-42F1-9ECA-4ABD4541C6F2}"/>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19093252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8E95C-93DD-4EDC-B202-DE1512A4E29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E4E3F80-1B52-49CF-9284-17541428C15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10BBC02-DF00-4C66-85B6-7928B8EA880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F04E9-34DD-4A67-9A08-5A37CA5A4801}"/>
              </a:ext>
            </a:extLst>
          </p:cNvPr>
          <p:cNvSpPr>
            <a:spLocks noGrp="1"/>
          </p:cNvSpPr>
          <p:nvPr>
            <p:ph type="dt" sz="half" idx="10"/>
          </p:nvPr>
        </p:nvSpPr>
        <p:spPr/>
        <p:txBody>
          <a:bodyPr/>
          <a:lstStyle/>
          <a:p>
            <a:fld id="{C1EF5DC5-E8E1-4A4B-A884-6C770968C94A}" type="datetimeFigureOut">
              <a:rPr lang="en-IN" smtClean="0"/>
              <a:t>14-07-2026</a:t>
            </a:fld>
            <a:endParaRPr lang="en-IN"/>
          </a:p>
        </p:txBody>
      </p:sp>
      <p:sp>
        <p:nvSpPr>
          <p:cNvPr id="6" name="Footer Placeholder 5">
            <a:extLst>
              <a:ext uri="{FF2B5EF4-FFF2-40B4-BE49-F238E27FC236}">
                <a16:creationId xmlns:a16="http://schemas.microsoft.com/office/drawing/2014/main" id="{0A8AB592-86DD-461C-92CF-E718CE42449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EA06F5-01A7-4D6A-B553-A96AA8B2D647}"/>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3059907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233C1-C9CF-4644-AA3B-B31241C851E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A8190FF-FA3F-4E33-8D8E-C0BF30642A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5AD967B-973D-44B5-93D0-CBBB95E8896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7229746-207D-44BD-A805-8FB32B9551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DAE08D6-F6B4-4C59-AC21-11CACBE749F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FB3A868-1684-4D51-9909-E6FEBA237DD2}"/>
              </a:ext>
            </a:extLst>
          </p:cNvPr>
          <p:cNvSpPr>
            <a:spLocks noGrp="1"/>
          </p:cNvSpPr>
          <p:nvPr>
            <p:ph type="dt" sz="half" idx="10"/>
          </p:nvPr>
        </p:nvSpPr>
        <p:spPr/>
        <p:txBody>
          <a:bodyPr/>
          <a:lstStyle/>
          <a:p>
            <a:fld id="{C1EF5DC5-E8E1-4A4B-A884-6C770968C94A}" type="datetimeFigureOut">
              <a:rPr lang="en-IN" smtClean="0"/>
              <a:t>14-07-2026</a:t>
            </a:fld>
            <a:endParaRPr lang="en-IN"/>
          </a:p>
        </p:txBody>
      </p:sp>
      <p:sp>
        <p:nvSpPr>
          <p:cNvPr id="8" name="Footer Placeholder 7">
            <a:extLst>
              <a:ext uri="{FF2B5EF4-FFF2-40B4-BE49-F238E27FC236}">
                <a16:creationId xmlns:a16="http://schemas.microsoft.com/office/drawing/2014/main" id="{563C4DB7-8D66-4385-8F36-DDB0B406F8F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12238E7-75D6-4B5A-9A5E-94AF3DDFFFC1}"/>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621102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21F7D-9A0E-4428-AFA6-B3884B86601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CFD0FE8-FBC4-4053-A9DB-007B50B02A6D}"/>
              </a:ext>
            </a:extLst>
          </p:cNvPr>
          <p:cNvSpPr>
            <a:spLocks noGrp="1"/>
          </p:cNvSpPr>
          <p:nvPr>
            <p:ph type="dt" sz="half" idx="10"/>
          </p:nvPr>
        </p:nvSpPr>
        <p:spPr/>
        <p:txBody>
          <a:bodyPr/>
          <a:lstStyle/>
          <a:p>
            <a:fld id="{C1EF5DC5-E8E1-4A4B-A884-6C770968C94A}" type="datetimeFigureOut">
              <a:rPr lang="en-IN" smtClean="0"/>
              <a:t>14-07-2026</a:t>
            </a:fld>
            <a:endParaRPr lang="en-IN"/>
          </a:p>
        </p:txBody>
      </p:sp>
      <p:sp>
        <p:nvSpPr>
          <p:cNvPr id="4" name="Footer Placeholder 3">
            <a:extLst>
              <a:ext uri="{FF2B5EF4-FFF2-40B4-BE49-F238E27FC236}">
                <a16:creationId xmlns:a16="http://schemas.microsoft.com/office/drawing/2014/main" id="{394F5807-E233-4E49-A82E-99348F18B8F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CEE2138-6BF4-4E1E-8532-88B172A8AEFA}"/>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33729168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A22116-2130-4A94-A2E7-88243ABBEFC4}"/>
              </a:ext>
            </a:extLst>
          </p:cNvPr>
          <p:cNvSpPr>
            <a:spLocks noGrp="1"/>
          </p:cNvSpPr>
          <p:nvPr>
            <p:ph type="dt" sz="half" idx="10"/>
          </p:nvPr>
        </p:nvSpPr>
        <p:spPr/>
        <p:txBody>
          <a:bodyPr/>
          <a:lstStyle/>
          <a:p>
            <a:fld id="{C1EF5DC5-E8E1-4A4B-A884-6C770968C94A}" type="datetimeFigureOut">
              <a:rPr lang="en-IN" smtClean="0"/>
              <a:t>14-07-2026</a:t>
            </a:fld>
            <a:endParaRPr lang="en-IN"/>
          </a:p>
        </p:txBody>
      </p:sp>
      <p:sp>
        <p:nvSpPr>
          <p:cNvPr id="3" name="Footer Placeholder 2">
            <a:extLst>
              <a:ext uri="{FF2B5EF4-FFF2-40B4-BE49-F238E27FC236}">
                <a16:creationId xmlns:a16="http://schemas.microsoft.com/office/drawing/2014/main" id="{C9FB84FF-3C8D-4AF6-ACFC-BBB36E20D4C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121DE3D-6CA5-40DA-BF1D-E2010838985C}"/>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40311696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699DD-99C2-4B2F-AB88-D320B4676F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ACFC6A9-2E46-4F1C-979D-61E38C8C5B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46BF673-C3EC-4B67-86DA-0C2F5AD86E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4E0DD5C-A4A3-456F-A80A-CC716C66B05F}"/>
              </a:ext>
            </a:extLst>
          </p:cNvPr>
          <p:cNvSpPr>
            <a:spLocks noGrp="1"/>
          </p:cNvSpPr>
          <p:nvPr>
            <p:ph type="dt" sz="half" idx="10"/>
          </p:nvPr>
        </p:nvSpPr>
        <p:spPr/>
        <p:txBody>
          <a:bodyPr/>
          <a:lstStyle/>
          <a:p>
            <a:fld id="{C1EF5DC5-E8E1-4A4B-A884-6C770968C94A}" type="datetimeFigureOut">
              <a:rPr lang="en-IN" smtClean="0"/>
              <a:t>14-07-2026</a:t>
            </a:fld>
            <a:endParaRPr lang="en-IN"/>
          </a:p>
        </p:txBody>
      </p:sp>
      <p:sp>
        <p:nvSpPr>
          <p:cNvPr id="6" name="Footer Placeholder 5">
            <a:extLst>
              <a:ext uri="{FF2B5EF4-FFF2-40B4-BE49-F238E27FC236}">
                <a16:creationId xmlns:a16="http://schemas.microsoft.com/office/drawing/2014/main" id="{AC19E7FB-5912-492F-B954-BE022C6CD5B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40EEE39-41A5-4D5D-8DE7-C16FA7446CD8}"/>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14078184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A4216-DB91-4F86-AB66-FF06A9B119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3E555AE-30E1-4B94-8AE5-5E8654117A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4D61B40-8596-4A45-BF52-06D0752E62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6302313-6DE9-48CC-8A90-1857FDF711A0}"/>
              </a:ext>
            </a:extLst>
          </p:cNvPr>
          <p:cNvSpPr>
            <a:spLocks noGrp="1"/>
          </p:cNvSpPr>
          <p:nvPr>
            <p:ph type="dt" sz="half" idx="10"/>
          </p:nvPr>
        </p:nvSpPr>
        <p:spPr/>
        <p:txBody>
          <a:bodyPr/>
          <a:lstStyle/>
          <a:p>
            <a:fld id="{C1EF5DC5-E8E1-4A4B-A884-6C770968C94A}" type="datetimeFigureOut">
              <a:rPr lang="en-IN" smtClean="0"/>
              <a:t>14-07-2026</a:t>
            </a:fld>
            <a:endParaRPr lang="en-IN"/>
          </a:p>
        </p:txBody>
      </p:sp>
      <p:sp>
        <p:nvSpPr>
          <p:cNvPr id="6" name="Footer Placeholder 5">
            <a:extLst>
              <a:ext uri="{FF2B5EF4-FFF2-40B4-BE49-F238E27FC236}">
                <a16:creationId xmlns:a16="http://schemas.microsoft.com/office/drawing/2014/main" id="{44F0DD8B-F55D-4B88-9392-4DD15847793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D70A818-5409-4AFE-B471-373AFE394EE2}"/>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39934416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FD382-98BA-4F37-BB94-642F99FEE43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F94807C-4AD2-4BEF-8657-F80C544E5F8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BA87A4-FF52-4E32-95A3-F2A31EFA483F}"/>
              </a:ext>
            </a:extLst>
          </p:cNvPr>
          <p:cNvSpPr>
            <a:spLocks noGrp="1"/>
          </p:cNvSpPr>
          <p:nvPr>
            <p:ph type="dt" sz="half" idx="10"/>
          </p:nvPr>
        </p:nvSpPr>
        <p:spPr/>
        <p:txBody>
          <a:bodyPr/>
          <a:lstStyle/>
          <a:p>
            <a:fld id="{C1EF5DC5-E8E1-4A4B-A884-6C770968C94A}" type="datetimeFigureOut">
              <a:rPr lang="en-IN" smtClean="0"/>
              <a:t>14-07-2026</a:t>
            </a:fld>
            <a:endParaRPr lang="en-IN"/>
          </a:p>
        </p:txBody>
      </p:sp>
      <p:sp>
        <p:nvSpPr>
          <p:cNvPr id="5" name="Footer Placeholder 4">
            <a:extLst>
              <a:ext uri="{FF2B5EF4-FFF2-40B4-BE49-F238E27FC236}">
                <a16:creationId xmlns:a16="http://schemas.microsoft.com/office/drawing/2014/main" id="{F1C08933-D684-4380-9EBA-8DF478B4F5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EA5C49-D069-4F13-81B1-A1E07B53A458}"/>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3093524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3954B0-E481-4AF9-A3BA-564C7010E2A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93368E4-F9C3-4E17-8884-BF1F7F82F58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3F5AA5-E3DC-4A1B-8ECA-54BEAFEE5288}"/>
              </a:ext>
            </a:extLst>
          </p:cNvPr>
          <p:cNvSpPr>
            <a:spLocks noGrp="1"/>
          </p:cNvSpPr>
          <p:nvPr>
            <p:ph type="dt" sz="half" idx="10"/>
          </p:nvPr>
        </p:nvSpPr>
        <p:spPr/>
        <p:txBody>
          <a:bodyPr/>
          <a:lstStyle/>
          <a:p>
            <a:fld id="{C1EF5DC5-E8E1-4A4B-A884-6C770968C94A}" type="datetimeFigureOut">
              <a:rPr lang="en-IN" smtClean="0"/>
              <a:t>14-07-2026</a:t>
            </a:fld>
            <a:endParaRPr lang="en-IN"/>
          </a:p>
        </p:txBody>
      </p:sp>
      <p:sp>
        <p:nvSpPr>
          <p:cNvPr id="5" name="Footer Placeholder 4">
            <a:extLst>
              <a:ext uri="{FF2B5EF4-FFF2-40B4-BE49-F238E27FC236}">
                <a16:creationId xmlns:a16="http://schemas.microsoft.com/office/drawing/2014/main" id="{297FE7C3-D9E2-4027-9A75-6C5E9E6043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959609-801E-4223-836A-D95A46CA2871}"/>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929750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67211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5E3B56-6D5C-4682-9920-B94261D4EE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277D9D1-EE96-4CB8-A598-90974E675C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A7A5E0-FA87-4BDD-B501-B34239EBA7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EF5DC5-E8E1-4A4B-A884-6C770968C94A}" type="datetimeFigureOut">
              <a:rPr lang="en-IN" smtClean="0"/>
              <a:t>14-07-2026</a:t>
            </a:fld>
            <a:endParaRPr lang="en-IN"/>
          </a:p>
        </p:txBody>
      </p:sp>
      <p:sp>
        <p:nvSpPr>
          <p:cNvPr id="5" name="Footer Placeholder 4">
            <a:extLst>
              <a:ext uri="{FF2B5EF4-FFF2-40B4-BE49-F238E27FC236}">
                <a16:creationId xmlns:a16="http://schemas.microsoft.com/office/drawing/2014/main" id="{A4D56BB9-162D-4FE6-BD3D-5DE0B1A00D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C020E43-4D3F-4308-BFAB-EB5E8B801B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69F6BF-410A-4A0D-95F8-52951416D106}" type="slidenum">
              <a:rPr lang="en-IN" smtClean="0"/>
              <a:t>‹#›</a:t>
            </a:fld>
            <a:endParaRPr lang="en-IN"/>
          </a:p>
        </p:txBody>
      </p:sp>
    </p:spTree>
    <p:extLst>
      <p:ext uri="{BB962C8B-B14F-4D97-AF65-F5344CB8AC3E}">
        <p14:creationId xmlns:p14="http://schemas.microsoft.com/office/powerpoint/2010/main" val="9985981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6" Type="http://schemas.openxmlformats.org/officeDocument/2006/relationships/hyperlink" Target="https://developers.google.com/machine-learning/glossary#prediction" TargetMode="External"/><Relationship Id="rId5" Type="http://schemas.openxmlformats.org/officeDocument/2006/relationships/hyperlink" Target="https://developers.google.com/machine-learning/glossary#model" TargetMode="External"/><Relationship Id="rId4" Type="http://schemas.openxmlformats.org/officeDocument/2006/relationships/hyperlink" Target="https://developers.google.com/machine-learning/glossary#training"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3.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4.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41.png"/><Relationship Id="rId4" Type="http://schemas.openxmlformats.org/officeDocument/2006/relationships/image" Target="../media/image40.png"/></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44.png"/><Relationship Id="rId4" Type="http://schemas.openxmlformats.org/officeDocument/2006/relationships/image" Target="../media/image43.png"/></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5.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43C2ADE-F067-45D0-AAAA-FFC13890FBD6}"/>
              </a:ext>
            </a:extLst>
          </p:cNvPr>
          <p:cNvPicPr>
            <a:picLocks noChangeAspect="1"/>
          </p:cNvPicPr>
          <p:nvPr/>
        </p:nvPicPr>
        <p:blipFill>
          <a:blip r:embed="rId2"/>
          <a:stretch>
            <a:fillRect/>
          </a:stretch>
        </p:blipFill>
        <p:spPr>
          <a:xfrm>
            <a:off x="0" y="0"/>
            <a:ext cx="12192000" cy="982133"/>
          </a:xfrm>
          <a:prstGeom prst="rect">
            <a:avLst/>
          </a:prstGeom>
        </p:spPr>
      </p:pic>
      <p:pic>
        <p:nvPicPr>
          <p:cNvPr id="3" name="Picture 2">
            <a:extLst>
              <a:ext uri="{FF2B5EF4-FFF2-40B4-BE49-F238E27FC236}">
                <a16:creationId xmlns:a16="http://schemas.microsoft.com/office/drawing/2014/main" id="{C1AAD0F6-9FE5-42AD-AC79-E88FBF31D686}"/>
              </a:ext>
            </a:extLst>
          </p:cNvPr>
          <p:cNvPicPr>
            <a:picLocks noChangeAspect="1"/>
          </p:cNvPicPr>
          <p:nvPr/>
        </p:nvPicPr>
        <p:blipFill rotWithShape="1">
          <a:blip r:embed="rId3"/>
          <a:srcRect l="486" t="6826"/>
          <a:stretch/>
        </p:blipFill>
        <p:spPr>
          <a:xfrm>
            <a:off x="0" y="4394200"/>
            <a:ext cx="12192000" cy="2463800"/>
          </a:xfrm>
          <a:prstGeom prst="rect">
            <a:avLst/>
          </a:prstGeom>
        </p:spPr>
      </p:pic>
      <p:sp>
        <p:nvSpPr>
          <p:cNvPr id="5" name="Text 3">
            <a:extLst>
              <a:ext uri="{FF2B5EF4-FFF2-40B4-BE49-F238E27FC236}">
                <a16:creationId xmlns:a16="http://schemas.microsoft.com/office/drawing/2014/main" id="{E3314A08-1627-40ED-BFA4-6793AACB7A59}"/>
              </a:ext>
            </a:extLst>
          </p:cNvPr>
          <p:cNvSpPr/>
          <p:nvPr/>
        </p:nvSpPr>
        <p:spPr>
          <a:xfrm>
            <a:off x="1468967" y="1062571"/>
            <a:ext cx="9254067" cy="1088813"/>
          </a:xfrm>
          <a:prstGeom prst="rect">
            <a:avLst/>
          </a:prstGeom>
          <a:noFill/>
          <a:ln/>
        </p:spPr>
        <p:txBody>
          <a:bodyPr wrap="square" rtlCol="0" anchor="ctr"/>
          <a:lstStyle/>
          <a:p>
            <a:pPr algn="ctr">
              <a:lnSpc>
                <a:spcPct val="115000"/>
              </a:lnSpc>
            </a:pPr>
            <a:r>
              <a:rPr lang="en-US" sz="2400" b="1" dirty="0">
                <a:latin typeface="Georgia" pitchFamily="34" charset="0"/>
              </a:rPr>
              <a:t>MACHINE LEARNING</a:t>
            </a:r>
            <a:endParaRPr lang="en-US" sz="2400" dirty="0"/>
          </a:p>
        </p:txBody>
      </p:sp>
      <p:sp>
        <p:nvSpPr>
          <p:cNvPr id="6" name="Text Placeholder 2">
            <a:extLst>
              <a:ext uri="{FF2B5EF4-FFF2-40B4-BE49-F238E27FC236}">
                <a16:creationId xmlns:a16="http://schemas.microsoft.com/office/drawing/2014/main" id="{95B2CB65-D2F8-4C74-98AC-5665A3C7ADA1}"/>
              </a:ext>
            </a:extLst>
          </p:cNvPr>
          <p:cNvSpPr txBox="1">
            <a:spLocks/>
          </p:cNvSpPr>
          <p:nvPr/>
        </p:nvSpPr>
        <p:spPr>
          <a:xfrm>
            <a:off x="1264556" y="2303575"/>
            <a:ext cx="9662888" cy="456355"/>
          </a:xfrm>
          <a:prstGeom prst="rect">
            <a:avLst/>
          </a:prstGeom>
        </p:spPr>
        <p:txBody>
          <a:bodyPr anchor="b"/>
          <a:lstStyle>
            <a:lvl1pPr marL="0" indent="0" algn="ctr" defTabSz="914400" rtl="0" eaLnBrk="1" latinLnBrk="0" hangingPunct="1">
              <a:spcBef>
                <a:spcPct val="20000"/>
              </a:spcBef>
              <a:buFont typeface="Arial" pitchFamily="34" charset="0"/>
              <a:buNone/>
              <a:defRPr sz="2000" b="1" i="1" kern="1200">
                <a:solidFill>
                  <a:srgbClr val="000099"/>
                </a:solidFill>
                <a:latin typeface="+mn-lt"/>
                <a:ea typeface="+mn-ea"/>
                <a:cs typeface="+mn-cs"/>
              </a:defRPr>
            </a:lvl1pPr>
            <a:lvl2pPr marL="457200" indent="0" algn="l" defTabSz="914400" rtl="0" eaLnBrk="1" latinLnBrk="0" hangingPunct="1">
              <a:spcBef>
                <a:spcPct val="20000"/>
              </a:spcBef>
              <a:buFont typeface="Arial" pitchFamily="34" charset="0"/>
              <a:buNone/>
              <a:defRPr sz="2000" b="1" kern="1200">
                <a:solidFill>
                  <a:schemeClr val="tx1"/>
                </a:solidFill>
                <a:latin typeface="+mn-lt"/>
                <a:ea typeface="+mn-ea"/>
                <a:cs typeface="+mn-cs"/>
              </a:defRPr>
            </a:lvl2pPr>
            <a:lvl3pPr marL="914400" indent="0" algn="l" defTabSz="914400" rtl="0" eaLnBrk="1" latinLnBrk="0" hangingPunct="1">
              <a:spcBef>
                <a:spcPct val="20000"/>
              </a:spcBef>
              <a:buFont typeface="Arial" pitchFamily="34" charset="0"/>
              <a:buNone/>
              <a:defRPr sz="1800" b="1" kern="1200">
                <a:solidFill>
                  <a:schemeClr val="tx1"/>
                </a:solidFill>
                <a:latin typeface="+mn-lt"/>
                <a:ea typeface="+mn-ea"/>
                <a:cs typeface="+mn-cs"/>
              </a:defRPr>
            </a:lvl3pPr>
            <a:lvl4pPr marL="13716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4pPr>
            <a:lvl5pPr marL="18288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5pPr>
            <a:lvl6pPr marL="22860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6pPr>
            <a:lvl7pPr marL="27432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7pPr>
            <a:lvl8pPr marL="32004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8pPr>
            <a:lvl9pPr marL="36576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9pPr>
          </a:lstStyle>
          <a:p>
            <a:r>
              <a:rPr lang="en-US" sz="2400" dirty="0"/>
              <a:t>Summer Internship- 2026</a:t>
            </a:r>
            <a:endParaRPr lang="en-US" sz="2133" dirty="0">
              <a:latin typeface="Times New Roman" panose="02020603050405020304" pitchFamily="18" charset="0"/>
              <a:cs typeface="Times New Roman" panose="02020603050405020304" pitchFamily="18" charset="0"/>
            </a:endParaRPr>
          </a:p>
        </p:txBody>
      </p:sp>
      <p:sp>
        <p:nvSpPr>
          <p:cNvPr id="7" name="Text 4">
            <a:extLst>
              <a:ext uri="{FF2B5EF4-FFF2-40B4-BE49-F238E27FC236}">
                <a16:creationId xmlns:a16="http://schemas.microsoft.com/office/drawing/2014/main" id="{2A523A3B-A0A7-42F8-9E01-9BE5577510A4}"/>
              </a:ext>
            </a:extLst>
          </p:cNvPr>
          <p:cNvSpPr/>
          <p:nvPr/>
        </p:nvSpPr>
        <p:spPr>
          <a:xfrm>
            <a:off x="389467" y="3152568"/>
            <a:ext cx="4783667" cy="1645920"/>
          </a:xfrm>
          <a:prstGeom prst="rect">
            <a:avLst/>
          </a:prstGeom>
          <a:noFill/>
          <a:ln/>
        </p:spPr>
        <p:txBody>
          <a:bodyPr wrap="square" rtlCol="0" anchor="ctr"/>
          <a:lstStyle/>
          <a:p>
            <a:r>
              <a:rPr lang="en-US" sz="1467" dirty="0">
                <a:latin typeface="Times New Roman" panose="02020603050405020304" pitchFamily="18" charset="0"/>
                <a:ea typeface="Calibri" pitchFamily="34" charset="-122"/>
                <a:cs typeface="Times New Roman" panose="02020603050405020304" pitchFamily="18" charset="0"/>
              </a:rPr>
              <a:t>Name: Chetna Saharan </a:t>
            </a:r>
          </a:p>
          <a:p>
            <a:r>
              <a:rPr lang="en-US" sz="1467" dirty="0">
                <a:solidFill>
                  <a:prstClr val="black"/>
                </a:solidFill>
                <a:latin typeface="Times New Roman" panose="02020603050405020304" pitchFamily="18" charset="0"/>
                <a:ea typeface="Calibri" pitchFamily="34" charset="-122"/>
                <a:cs typeface="Times New Roman" panose="02020603050405020304" pitchFamily="18" charset="0"/>
              </a:rPr>
              <a:t>Supervisor: </a:t>
            </a:r>
            <a:r>
              <a:rPr lang="en-US" sz="1467" b="1" dirty="0">
                <a:solidFill>
                  <a:prstClr val="black"/>
                </a:solidFill>
                <a:latin typeface="Times New Roman" panose="02020603050405020304" pitchFamily="18" charset="0"/>
                <a:ea typeface="Calibri" pitchFamily="34" charset="-122"/>
                <a:cs typeface="Times New Roman" panose="02020603050405020304" pitchFamily="18" charset="0"/>
              </a:rPr>
              <a:t>Prof. Millie Pant</a:t>
            </a:r>
          </a:p>
          <a:p>
            <a:r>
              <a:rPr lang="en-US" sz="1467" dirty="0">
                <a:solidFill>
                  <a:prstClr val="black"/>
                </a:solidFill>
                <a:latin typeface="Times New Roman" panose="02020603050405020304" pitchFamily="18" charset="0"/>
                <a:ea typeface="Calibri" pitchFamily="34" charset="-122"/>
                <a:cs typeface="Times New Roman" panose="02020603050405020304" pitchFamily="18" charset="0"/>
              </a:rPr>
              <a:t>Mentor</a:t>
            </a:r>
            <a:r>
              <a:rPr lang="en-US" sz="1467" b="1" dirty="0">
                <a:solidFill>
                  <a:prstClr val="black"/>
                </a:solidFill>
                <a:latin typeface="Times New Roman" panose="02020603050405020304" pitchFamily="18" charset="0"/>
                <a:ea typeface="Calibri" pitchFamily="34" charset="-122"/>
                <a:cs typeface="Times New Roman" panose="02020603050405020304" pitchFamily="18" charset="0"/>
              </a:rPr>
              <a:t>: Ms. Riya &amp; Mr. Harjeet Singh </a:t>
            </a:r>
            <a:r>
              <a:rPr lang="en-US" sz="1867" b="1" dirty="0">
                <a:solidFill>
                  <a:srgbClr val="FFFFFF"/>
                </a:solidFill>
                <a:latin typeface="Times New Roman" panose="02020603050405020304" pitchFamily="18" charset="0"/>
                <a:ea typeface="Calibri" pitchFamily="34" charset="-122"/>
                <a:cs typeface="Times New Roman" panose="02020603050405020304" pitchFamily="18" charset="0"/>
              </a:rPr>
              <a:t>
</a:t>
            </a:r>
            <a:r>
              <a:rPr lang="en-US" sz="1467" dirty="0">
                <a:latin typeface="Times New Roman" panose="02020603050405020304" pitchFamily="18" charset="0"/>
                <a:ea typeface="Calibri" pitchFamily="34" charset="-122"/>
                <a:cs typeface="Times New Roman" panose="02020603050405020304" pitchFamily="18" charset="0"/>
              </a:rPr>
              <a:t>Applied Mathematics &amp; Scientific Computing</a:t>
            </a:r>
          </a:p>
          <a:p>
            <a:r>
              <a:rPr lang="en-US" sz="1467" dirty="0">
                <a:latin typeface="Times New Roman" panose="02020603050405020304" pitchFamily="18" charset="0"/>
                <a:ea typeface="Calibri" pitchFamily="34" charset="-122"/>
                <a:cs typeface="Times New Roman" panose="02020603050405020304" pitchFamily="18" charset="0"/>
              </a:rPr>
              <a:t>Indian Institute of Technology  Roorkee</a:t>
            </a:r>
            <a:endParaRPr lang="en-US" sz="1867"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4172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0" y="-86891"/>
            <a:ext cx="11338560" cy="914400"/>
          </a:xfrm>
          <a:prstGeom prst="rect">
            <a:avLst/>
          </a:prstGeom>
          <a:noFill/>
          <a:ln/>
        </p:spPr>
        <p:txBody>
          <a:bodyPr wrap="square" rtlCol="0" anchor="ctr"/>
          <a:lstStyle/>
          <a:p>
            <a:r>
              <a:rPr lang="en-US" sz="2800" b="1" dirty="0">
                <a:solidFill>
                  <a:srgbClr val="002060"/>
                </a:solidFill>
                <a:effectLst>
                  <a:outerShdw blurRad="38100" dist="38100" dir="2700000" algn="tl">
                    <a:srgbClr val="000000">
                      <a:alpha val="43137"/>
                    </a:srgbClr>
                  </a:outerShdw>
                </a:effectLst>
                <a:latin typeface="Calibri" pitchFamily="34" charset="0"/>
                <a:cs typeface="Calibri" pitchFamily="34" charset="-120"/>
              </a:rPr>
              <a:t>TABLE OF CONTENT</a:t>
            </a:r>
            <a:endParaRPr lang="en-US" sz="2800" dirty="0">
              <a:solidFill>
                <a:srgbClr val="002060"/>
              </a:solidFill>
              <a:effectLst>
                <a:outerShdw blurRad="38100" dist="38100" dir="2700000" algn="tl">
                  <a:srgbClr val="000000">
                    <a:alpha val="43137"/>
                  </a:srgbClr>
                </a:outerShdw>
              </a:effectLst>
            </a:endParaRPr>
          </a:p>
        </p:txBody>
      </p:sp>
      <p:sp>
        <p:nvSpPr>
          <p:cNvPr id="13" name="TextBox 12">
            <a:extLst>
              <a:ext uri="{FF2B5EF4-FFF2-40B4-BE49-F238E27FC236}">
                <a16:creationId xmlns:a16="http://schemas.microsoft.com/office/drawing/2014/main" id="{58F1B2C8-7EF3-4407-95BE-DBAEFB6E84C9}"/>
              </a:ext>
            </a:extLst>
          </p:cNvPr>
          <p:cNvSpPr txBox="1"/>
          <p:nvPr/>
        </p:nvSpPr>
        <p:spPr>
          <a:xfrm>
            <a:off x="0" y="827509"/>
            <a:ext cx="5972982" cy="5554726"/>
          </a:xfrm>
          <a:prstGeom prst="rect">
            <a:avLst/>
          </a:prstGeom>
          <a:noFill/>
        </p:spPr>
        <p:txBody>
          <a:bodyPr wrap="none" rtlCol="0">
            <a:spAutoFit/>
          </a:bodyPr>
          <a:lstStyle/>
          <a:p>
            <a:pPr marL="457200" indent="-457200">
              <a:lnSpc>
                <a:spcPct val="200000"/>
              </a:lnSpc>
              <a:buFont typeface="Wingdings" panose="05000000000000000000" pitchFamily="2" charset="2"/>
              <a:buChar char="v"/>
            </a:pPr>
            <a:r>
              <a:rPr lang="en-US" b="1" dirty="0">
                <a:effectLst>
                  <a:outerShdw blurRad="38100" dist="38100" dir="2700000" algn="tl">
                    <a:srgbClr val="000000">
                      <a:alpha val="43137"/>
                    </a:srgbClr>
                  </a:outerShdw>
                </a:effectLst>
              </a:rPr>
              <a:t>INTRODUCTION TO MACHINE LEARNING</a:t>
            </a:r>
          </a:p>
          <a:p>
            <a:pPr marL="457200" indent="-457200">
              <a:lnSpc>
                <a:spcPct val="200000"/>
              </a:lnSpc>
              <a:buFont typeface="Wingdings" panose="05000000000000000000" pitchFamily="2" charset="2"/>
              <a:buChar char="v"/>
            </a:pPr>
            <a:r>
              <a:rPr lang="en-US" b="1" dirty="0">
                <a:effectLst>
                  <a:outerShdw blurRad="38100" dist="38100" dir="2700000" algn="tl">
                    <a:srgbClr val="000000">
                      <a:alpha val="43137"/>
                    </a:srgbClr>
                  </a:outerShdw>
                </a:effectLst>
              </a:rPr>
              <a:t>DATA PREPROCESSING AND EDA</a:t>
            </a:r>
          </a:p>
          <a:p>
            <a:pPr marL="457200" indent="-457200">
              <a:lnSpc>
                <a:spcPct val="200000"/>
              </a:lnSpc>
              <a:buFont typeface="Wingdings" panose="05000000000000000000" pitchFamily="2" charset="2"/>
              <a:buChar char="v"/>
            </a:pPr>
            <a:r>
              <a:rPr lang="en-US" b="1" dirty="0">
                <a:effectLst>
                  <a:outerShdw blurRad="38100" dist="38100" dir="2700000" algn="tl">
                    <a:srgbClr val="000000">
                      <a:alpha val="43137"/>
                    </a:srgbClr>
                  </a:outerShdw>
                </a:effectLst>
              </a:rPr>
              <a:t>LINEAR AND LOGISTIC REGRESSION</a:t>
            </a:r>
          </a:p>
          <a:p>
            <a:pPr marL="457200" indent="-457200">
              <a:lnSpc>
                <a:spcPct val="200000"/>
              </a:lnSpc>
              <a:buFont typeface="Wingdings" panose="05000000000000000000" pitchFamily="2" charset="2"/>
              <a:buChar char="v"/>
            </a:pPr>
            <a:r>
              <a:rPr lang="en-US" b="1" dirty="0">
                <a:effectLst>
                  <a:outerShdw blurRad="38100" dist="38100" dir="2700000" algn="tl">
                    <a:srgbClr val="000000">
                      <a:alpha val="43137"/>
                    </a:srgbClr>
                  </a:outerShdw>
                </a:effectLst>
              </a:rPr>
              <a:t>DECISION TREES AND RANDOM FORESTS</a:t>
            </a:r>
          </a:p>
          <a:p>
            <a:pPr marL="457200" indent="-457200">
              <a:lnSpc>
                <a:spcPct val="200000"/>
              </a:lnSpc>
              <a:buFont typeface="Wingdings" panose="05000000000000000000" pitchFamily="2" charset="2"/>
              <a:buChar char="v"/>
            </a:pPr>
            <a:r>
              <a:rPr lang="en-US" b="1" dirty="0">
                <a:effectLst>
                  <a:outerShdw blurRad="38100" dist="38100" dir="2700000" algn="tl">
                    <a:srgbClr val="000000">
                      <a:alpha val="43137"/>
                    </a:srgbClr>
                  </a:outerShdw>
                </a:effectLst>
              </a:rPr>
              <a:t>SVM AND K-NEAREST NEIGHBORS</a:t>
            </a:r>
          </a:p>
          <a:p>
            <a:pPr marL="457200" indent="-457200">
              <a:lnSpc>
                <a:spcPct val="200000"/>
              </a:lnSpc>
              <a:buFont typeface="Wingdings" panose="05000000000000000000" pitchFamily="2" charset="2"/>
              <a:buChar char="v"/>
            </a:pPr>
            <a:r>
              <a:rPr lang="en-US" b="1" dirty="0">
                <a:effectLst>
                  <a:outerShdw blurRad="38100" dist="38100" dir="2700000" algn="tl">
                    <a:srgbClr val="000000">
                      <a:alpha val="43137"/>
                    </a:srgbClr>
                  </a:outerShdw>
                </a:effectLst>
              </a:rPr>
              <a:t>CLUSTERING AND DIMENSIONALITY REDUCTION</a:t>
            </a:r>
          </a:p>
          <a:p>
            <a:pPr marL="457200" indent="-457200">
              <a:lnSpc>
                <a:spcPct val="200000"/>
              </a:lnSpc>
              <a:buFont typeface="Wingdings" panose="05000000000000000000" pitchFamily="2" charset="2"/>
              <a:buChar char="v"/>
            </a:pPr>
            <a:r>
              <a:rPr lang="en-US" b="1" dirty="0">
                <a:effectLst>
                  <a:outerShdw blurRad="38100" dist="38100" dir="2700000" algn="tl">
                    <a:srgbClr val="000000">
                      <a:alpha val="43137"/>
                    </a:srgbClr>
                  </a:outerShdw>
                </a:effectLst>
              </a:rPr>
              <a:t>MODEL EVALUATION AND HYPERPARAMETER TUNING</a:t>
            </a:r>
          </a:p>
          <a:p>
            <a:pPr marL="457200" indent="-457200">
              <a:lnSpc>
                <a:spcPct val="200000"/>
              </a:lnSpc>
              <a:buFont typeface="Wingdings" panose="05000000000000000000" pitchFamily="2" charset="2"/>
              <a:buChar char="v"/>
            </a:pPr>
            <a:r>
              <a:rPr lang="en-US" b="1" dirty="0">
                <a:effectLst>
                  <a:outerShdw blurRad="38100" dist="38100" dir="2700000" algn="tl">
                    <a:srgbClr val="000000">
                      <a:alpha val="43137"/>
                    </a:srgbClr>
                  </a:outerShdw>
                </a:effectLst>
              </a:rPr>
              <a:t>FEATURE ENGINEERING AND PIPELINES</a:t>
            </a:r>
          </a:p>
          <a:p>
            <a:pPr marL="457200" indent="-457200">
              <a:lnSpc>
                <a:spcPct val="200000"/>
              </a:lnSpc>
              <a:buFont typeface="Wingdings" panose="05000000000000000000" pitchFamily="2" charset="2"/>
              <a:buChar char="v"/>
            </a:pPr>
            <a:r>
              <a:rPr lang="en-US" b="1" dirty="0">
                <a:effectLst>
                  <a:outerShdw blurRad="38100" dist="38100" dir="2700000" algn="tl">
                    <a:srgbClr val="000000">
                      <a:alpha val="43137"/>
                    </a:srgbClr>
                  </a:outerShdw>
                </a:effectLst>
              </a:rPr>
              <a:t>INTRODUCTION TO NLP</a:t>
            </a:r>
          </a:p>
          <a:p>
            <a:pPr marL="457200" indent="-457200">
              <a:lnSpc>
                <a:spcPct val="200000"/>
              </a:lnSpc>
              <a:buFont typeface="Wingdings" panose="05000000000000000000" pitchFamily="2" charset="2"/>
              <a:buChar char="v"/>
            </a:pPr>
            <a:r>
              <a:rPr lang="en-US" b="1" dirty="0">
                <a:effectLst>
                  <a:outerShdw blurRad="38100" dist="38100" dir="2700000" algn="tl">
                    <a:srgbClr val="000000">
                      <a:alpha val="43137"/>
                    </a:srgbClr>
                  </a:outerShdw>
                </a:effectLst>
              </a:rPr>
              <a:t>MACHINE LEARNING CAPSTONE</a:t>
            </a:r>
          </a:p>
        </p:txBody>
      </p:sp>
    </p:spTree>
    <p:extLst>
      <p:ext uri="{BB962C8B-B14F-4D97-AF65-F5344CB8AC3E}">
        <p14:creationId xmlns:p14="http://schemas.microsoft.com/office/powerpoint/2010/main" val="34675246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26720" y="10131"/>
            <a:ext cx="11338560" cy="914400"/>
          </a:xfrm>
          <a:prstGeom prst="rect">
            <a:avLst/>
          </a:prstGeom>
          <a:noFill/>
          <a:ln/>
        </p:spPr>
        <p:txBody>
          <a:bodyPr wrap="square" rtlCol="0" anchor="ctr"/>
          <a:lstStyle/>
          <a:p>
            <a:endParaRPr lang="en-US" sz="2800" dirty="0">
              <a:solidFill>
                <a:srgbClr val="002060"/>
              </a:solidFill>
            </a:endParaRPr>
          </a:p>
        </p:txBody>
      </p:sp>
      <p:sp>
        <p:nvSpPr>
          <p:cNvPr id="7" name="TextBox 6">
            <a:extLst>
              <a:ext uri="{FF2B5EF4-FFF2-40B4-BE49-F238E27FC236}">
                <a16:creationId xmlns:a16="http://schemas.microsoft.com/office/drawing/2014/main" id="{B4D6BA31-D373-4939-9786-718AA79BC9FA}"/>
              </a:ext>
            </a:extLst>
          </p:cNvPr>
          <p:cNvSpPr txBox="1"/>
          <p:nvPr/>
        </p:nvSpPr>
        <p:spPr>
          <a:xfrm>
            <a:off x="97831" y="121670"/>
            <a:ext cx="6306919" cy="523220"/>
          </a:xfrm>
          <a:prstGeom prst="rect">
            <a:avLst/>
          </a:prstGeom>
          <a:noFill/>
        </p:spPr>
        <p:txBody>
          <a:bodyPr wrap="none" rtlCol="0">
            <a:spAutoFit/>
          </a:bodyPr>
          <a:lstStyle/>
          <a:p>
            <a:r>
              <a:rPr lang="en-US" sz="2800" b="1" dirty="0">
                <a:solidFill>
                  <a:schemeClr val="accent1">
                    <a:lumMod val="75000"/>
                  </a:schemeClr>
                </a:solidFill>
                <a:effectLst>
                  <a:outerShdw blurRad="38100" dist="38100" dir="2700000" algn="tl">
                    <a:srgbClr val="000000">
                      <a:alpha val="43137"/>
                    </a:srgbClr>
                  </a:outerShdw>
                </a:effectLst>
              </a:rPr>
              <a:t>INTRODUCTION TO  MACHINE LRARNING</a:t>
            </a:r>
            <a:endParaRPr lang="en-IN" sz="2800" b="1" dirty="0">
              <a:solidFill>
                <a:schemeClr val="accent1">
                  <a:lumMod val="75000"/>
                </a:schemeClr>
              </a:solidFill>
              <a:effectLst>
                <a:outerShdw blurRad="38100" dist="38100" dir="2700000" algn="tl">
                  <a:srgbClr val="000000">
                    <a:alpha val="43137"/>
                  </a:srgbClr>
                </a:outerShdw>
              </a:effectLst>
            </a:endParaRPr>
          </a:p>
        </p:txBody>
      </p:sp>
      <p:sp>
        <p:nvSpPr>
          <p:cNvPr id="8" name="TextBox 7">
            <a:extLst>
              <a:ext uri="{FF2B5EF4-FFF2-40B4-BE49-F238E27FC236}">
                <a16:creationId xmlns:a16="http://schemas.microsoft.com/office/drawing/2014/main" id="{245DD296-ED49-4F5C-BC1B-4DFCDF47955F}"/>
              </a:ext>
            </a:extLst>
          </p:cNvPr>
          <p:cNvSpPr txBox="1"/>
          <p:nvPr/>
        </p:nvSpPr>
        <p:spPr>
          <a:xfrm>
            <a:off x="88777" y="1071087"/>
            <a:ext cx="11605036" cy="3057247"/>
          </a:xfrm>
          <a:prstGeom prst="rect">
            <a:avLst/>
          </a:prstGeom>
          <a:noFill/>
        </p:spPr>
        <p:txBody>
          <a:bodyPr wrap="none" rtlCol="0">
            <a:spAutoFit/>
          </a:bodyPr>
          <a:lstStyle/>
          <a:p>
            <a:pPr>
              <a:spcBef>
                <a:spcPts val="50"/>
              </a:spcBef>
              <a:spcAft>
                <a:spcPts val="20"/>
              </a:spcAft>
            </a:pPr>
            <a:r>
              <a:rPr lang="en-US" sz="2400" b="1" dirty="0">
                <a:effectLst>
                  <a:outerShdw blurRad="38100" dist="38100" dir="2700000" algn="tl">
                    <a:srgbClr val="000000">
                      <a:alpha val="43137"/>
                    </a:srgbClr>
                  </a:outerShdw>
                </a:effectLst>
              </a:rPr>
              <a:t>MACHINE LEARNING</a:t>
            </a:r>
            <a:r>
              <a:rPr lang="en-US" sz="2400" b="1" dirty="0"/>
              <a:t>: </a:t>
            </a:r>
            <a:r>
              <a:rPr lang="en-US" dirty="0"/>
              <a:t>ML is the process of </a:t>
            </a:r>
            <a:r>
              <a:rPr lang="en-US" dirty="0">
                <a:hlinkClick r:id="rId4"/>
              </a:rPr>
              <a:t>training</a:t>
            </a:r>
            <a:r>
              <a:rPr lang="en-US" dirty="0"/>
              <a:t> a piece of software, called a </a:t>
            </a:r>
            <a:r>
              <a:rPr lang="en-US" dirty="0">
                <a:hlinkClick r:id="rId5"/>
              </a:rPr>
              <a:t>model</a:t>
            </a:r>
            <a:r>
              <a:rPr lang="en-US" dirty="0"/>
              <a:t>, to make useful </a:t>
            </a:r>
            <a:r>
              <a:rPr lang="en-US" dirty="0">
                <a:hlinkClick r:id="rId6"/>
              </a:rPr>
              <a:t>predictions</a:t>
            </a:r>
            <a:r>
              <a:rPr lang="en-US" dirty="0"/>
              <a:t> </a:t>
            </a:r>
          </a:p>
          <a:p>
            <a:pPr>
              <a:spcBef>
                <a:spcPts val="50"/>
              </a:spcBef>
              <a:spcAft>
                <a:spcPts val="20"/>
              </a:spcAft>
            </a:pPr>
            <a:r>
              <a:rPr lang="en-US" dirty="0"/>
              <a:t>                                                     or generate content (like text, images, audio, or video) from data.</a:t>
            </a:r>
            <a:r>
              <a:rPr lang="en-US" sz="2400" b="1" dirty="0"/>
              <a:t>  </a:t>
            </a:r>
          </a:p>
          <a:p>
            <a:pPr>
              <a:spcBef>
                <a:spcPts val="50"/>
              </a:spcBef>
              <a:spcAft>
                <a:spcPts val="20"/>
              </a:spcAft>
            </a:pPr>
            <a:r>
              <a:rPr lang="en-US" sz="2400" b="1" dirty="0"/>
              <a:t>                                        </a:t>
            </a:r>
            <a:r>
              <a:rPr lang="en-US" dirty="0"/>
              <a:t>Machine learning (ML) powers some of the most important technologies we use, from</a:t>
            </a:r>
          </a:p>
          <a:p>
            <a:pPr>
              <a:spcBef>
                <a:spcPts val="50"/>
              </a:spcBef>
              <a:spcAft>
                <a:spcPts val="20"/>
              </a:spcAft>
            </a:pPr>
            <a:r>
              <a:rPr lang="en-US" dirty="0"/>
              <a:t>                                                    translation apps to autonomous vehicles.</a:t>
            </a:r>
          </a:p>
          <a:p>
            <a:pPr>
              <a:spcBef>
                <a:spcPts val="50"/>
              </a:spcBef>
              <a:spcAft>
                <a:spcPts val="20"/>
              </a:spcAft>
            </a:pPr>
            <a:r>
              <a:rPr lang="en-US" dirty="0"/>
              <a:t>                                                    ML algorithms identify patterns in historical data and use those patterns to make predictions</a:t>
            </a:r>
          </a:p>
          <a:p>
            <a:pPr>
              <a:spcBef>
                <a:spcPts val="50"/>
              </a:spcBef>
              <a:spcAft>
                <a:spcPts val="20"/>
              </a:spcAft>
            </a:pPr>
            <a:r>
              <a:rPr lang="en-US" dirty="0"/>
              <a:t>                                                    or decisions on new data.</a:t>
            </a:r>
          </a:p>
          <a:p>
            <a:pPr>
              <a:spcBef>
                <a:spcPts val="50"/>
              </a:spcBef>
              <a:spcAft>
                <a:spcPts val="20"/>
              </a:spcAft>
            </a:pPr>
            <a:endParaRPr lang="en-US" dirty="0"/>
          </a:p>
          <a:p>
            <a:pPr>
              <a:spcBef>
                <a:spcPts val="50"/>
              </a:spcBef>
              <a:spcAft>
                <a:spcPts val="20"/>
              </a:spcAft>
            </a:pPr>
            <a:r>
              <a:rPr lang="en-US" dirty="0"/>
              <a:t>                                                    </a:t>
            </a:r>
          </a:p>
          <a:p>
            <a:pPr>
              <a:spcBef>
                <a:spcPts val="50"/>
              </a:spcBef>
              <a:spcAft>
                <a:spcPts val="20"/>
              </a:spcAft>
            </a:pPr>
            <a:r>
              <a:rPr lang="en-US" sz="2400" b="1" dirty="0"/>
              <a:t>                                        </a:t>
            </a:r>
            <a:endParaRPr lang="en-IN" sz="2400" b="1" dirty="0"/>
          </a:p>
        </p:txBody>
      </p:sp>
      <p:sp>
        <p:nvSpPr>
          <p:cNvPr id="9" name="TextBox 8">
            <a:extLst>
              <a:ext uri="{FF2B5EF4-FFF2-40B4-BE49-F238E27FC236}">
                <a16:creationId xmlns:a16="http://schemas.microsoft.com/office/drawing/2014/main" id="{9FCB4F2B-4338-4D3C-8C87-2D06453F6947}"/>
              </a:ext>
            </a:extLst>
          </p:cNvPr>
          <p:cNvSpPr txBox="1"/>
          <p:nvPr/>
        </p:nvSpPr>
        <p:spPr>
          <a:xfrm>
            <a:off x="88777" y="3188276"/>
            <a:ext cx="11176987" cy="1477328"/>
          </a:xfrm>
          <a:prstGeom prst="rect">
            <a:avLst/>
          </a:prstGeom>
          <a:noFill/>
        </p:spPr>
        <p:txBody>
          <a:bodyPr wrap="square" rtlCol="0" anchor="b">
            <a:spAutoFit/>
          </a:bodyPr>
          <a:lstStyle/>
          <a:p>
            <a:r>
              <a:rPr lang="en-US" b="1" dirty="0">
                <a:solidFill>
                  <a:srgbClr val="FF0000"/>
                </a:solidFill>
                <a:effectLst>
                  <a:outerShdw blurRad="38100" dist="38100" dir="2700000" algn="tl">
                    <a:srgbClr val="000000">
                      <a:alpha val="43137"/>
                    </a:srgbClr>
                  </a:outerShdw>
                </a:effectLst>
              </a:rPr>
              <a:t>EXAMPLE:                                 </a:t>
            </a:r>
            <a:r>
              <a:rPr lang="en-US" b="1" dirty="0"/>
              <a:t>Real-Life Applications of ML</a:t>
            </a:r>
            <a:endParaRPr lang="en-US" dirty="0"/>
          </a:p>
          <a:p>
            <a:r>
              <a:rPr lang="en-US" b="1" dirty="0"/>
              <a:t>                                                   Netflix &amp; YouTube:</a:t>
            </a:r>
            <a:r>
              <a:rPr lang="en-US" dirty="0"/>
              <a:t> Recommend movies and videos.</a:t>
            </a:r>
          </a:p>
          <a:p>
            <a:r>
              <a:rPr lang="en-US" b="1" dirty="0"/>
              <a:t>                                                   Amazon &amp; Flipkart:</a:t>
            </a:r>
            <a:r>
              <a:rPr lang="en-US" dirty="0"/>
              <a:t> Recommend products based on previous purchases.</a:t>
            </a:r>
          </a:p>
          <a:p>
            <a:r>
              <a:rPr lang="en-US" b="1" dirty="0"/>
              <a:t>                                                   Healthcare:</a:t>
            </a:r>
            <a:r>
              <a:rPr lang="en-US" dirty="0"/>
              <a:t> Predict diseases from medical reports.</a:t>
            </a:r>
          </a:p>
          <a:p>
            <a:pPr algn="just"/>
            <a:endParaRPr lang="en-US" dirty="0"/>
          </a:p>
        </p:txBody>
      </p:sp>
      <p:sp>
        <p:nvSpPr>
          <p:cNvPr id="11" name="TextBox 10">
            <a:extLst>
              <a:ext uri="{FF2B5EF4-FFF2-40B4-BE49-F238E27FC236}">
                <a16:creationId xmlns:a16="http://schemas.microsoft.com/office/drawing/2014/main" id="{184774F6-AB41-46F5-93A5-81D1F3B6A0CE}"/>
              </a:ext>
            </a:extLst>
          </p:cNvPr>
          <p:cNvSpPr txBox="1"/>
          <p:nvPr/>
        </p:nvSpPr>
        <p:spPr>
          <a:xfrm>
            <a:off x="88777" y="5017551"/>
            <a:ext cx="11988090" cy="1200329"/>
          </a:xfrm>
          <a:prstGeom prst="rect">
            <a:avLst/>
          </a:prstGeom>
          <a:noFill/>
        </p:spPr>
        <p:txBody>
          <a:bodyPr wrap="none" rtlCol="0">
            <a:spAutoFit/>
          </a:bodyPr>
          <a:lstStyle/>
          <a:p>
            <a:r>
              <a:rPr lang="en-US" b="1" dirty="0">
                <a:solidFill>
                  <a:srgbClr val="00B050"/>
                </a:solidFill>
                <a:effectLst>
                  <a:outerShdw blurRad="38100" dist="38100" dir="2700000" algn="tl">
                    <a:srgbClr val="000000">
                      <a:alpha val="43137"/>
                    </a:srgbClr>
                  </a:outerShdw>
                </a:effectLst>
              </a:rPr>
              <a:t>How It Works</a:t>
            </a:r>
            <a:r>
              <a:rPr lang="en-US" b="1" dirty="0">
                <a:effectLst>
                  <a:outerShdw blurRad="38100" dist="38100" dir="2700000" algn="tl">
                    <a:srgbClr val="000000">
                      <a:alpha val="43137"/>
                    </a:srgbClr>
                  </a:outerShdw>
                </a:effectLst>
              </a:rPr>
              <a:t>:                       </a:t>
            </a:r>
            <a:r>
              <a:rPr lang="en-US" b="1" dirty="0"/>
              <a:t>Traditional Programming vs. Machine Learning</a:t>
            </a:r>
          </a:p>
          <a:p>
            <a:r>
              <a:rPr lang="en-US" b="1" dirty="0"/>
              <a:t>                                                 Traditional Programming:</a:t>
            </a:r>
            <a:r>
              <a:rPr lang="en-US" dirty="0"/>
              <a:t> You input </a:t>
            </a:r>
            <a:r>
              <a:rPr lang="en-US" b="1" dirty="0"/>
              <a:t>Data</a:t>
            </a:r>
            <a:r>
              <a:rPr lang="en-US" dirty="0"/>
              <a:t> and </a:t>
            </a:r>
            <a:r>
              <a:rPr lang="en-US" b="1" dirty="0"/>
              <a:t>Rules</a:t>
            </a:r>
            <a:r>
              <a:rPr lang="en-US" dirty="0"/>
              <a:t> (code) into a computer to get an </a:t>
            </a:r>
            <a:r>
              <a:rPr lang="en-US" b="1" dirty="0"/>
              <a:t>Answer</a:t>
            </a:r>
            <a:r>
              <a:rPr lang="en-US" dirty="0"/>
              <a:t>.</a:t>
            </a:r>
          </a:p>
          <a:p>
            <a:r>
              <a:rPr lang="en-US" b="1" dirty="0"/>
              <a:t>                                                Machine Learning:</a:t>
            </a:r>
            <a:r>
              <a:rPr lang="en-US" dirty="0"/>
              <a:t> You input </a:t>
            </a:r>
            <a:r>
              <a:rPr lang="en-US" b="1" dirty="0"/>
              <a:t>Data</a:t>
            </a:r>
            <a:r>
              <a:rPr lang="en-US" dirty="0"/>
              <a:t> and </a:t>
            </a:r>
            <a:r>
              <a:rPr lang="en-US" b="1" dirty="0"/>
              <a:t>Answers</a:t>
            </a:r>
            <a:r>
              <a:rPr lang="en-US" dirty="0"/>
              <a:t> (labeled examples) into a computer, and it outputs</a:t>
            </a:r>
          </a:p>
          <a:p>
            <a:r>
              <a:rPr lang="en-US" dirty="0"/>
              <a:t>                                                the </a:t>
            </a:r>
            <a:r>
              <a:rPr lang="en-US" b="1" dirty="0"/>
              <a:t>Rules</a:t>
            </a:r>
            <a:r>
              <a:rPr lang="en-US" dirty="0"/>
              <a:t> (the model).</a:t>
            </a:r>
          </a:p>
        </p:txBody>
      </p:sp>
    </p:spTree>
    <p:extLst>
      <p:ext uri="{BB962C8B-B14F-4D97-AF65-F5344CB8AC3E}">
        <p14:creationId xmlns:p14="http://schemas.microsoft.com/office/powerpoint/2010/main" val="37513609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63D022-57A7-450F-A3DB-C8616DFFED06}"/>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0A7BC32C-6E61-4EE6-8192-488BD01656DD}"/>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4A023BF8-B27B-4A7F-9E55-4E819571E21A}"/>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5735BEC0-EE07-4DA0-AE57-C7A156EF1F40}"/>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622FAC16-512B-414F-8A6B-C55348E9EF22}"/>
              </a:ext>
            </a:extLst>
          </p:cNvPr>
          <p:cNvSpPr/>
          <p:nvPr/>
        </p:nvSpPr>
        <p:spPr>
          <a:xfrm>
            <a:off x="426720" y="10131"/>
            <a:ext cx="11338560" cy="914400"/>
          </a:xfrm>
          <a:prstGeom prst="rect">
            <a:avLst/>
          </a:prstGeom>
          <a:noFill/>
          <a:ln/>
        </p:spPr>
        <p:txBody>
          <a:bodyPr wrap="square" rtlCol="0" anchor="ctr"/>
          <a:lstStyle/>
          <a:p>
            <a:endParaRPr lang="en-US" sz="2800" dirty="0">
              <a:solidFill>
                <a:srgbClr val="002060"/>
              </a:solidFill>
            </a:endParaRPr>
          </a:p>
        </p:txBody>
      </p:sp>
      <p:sp>
        <p:nvSpPr>
          <p:cNvPr id="8" name="TextBox 7">
            <a:extLst>
              <a:ext uri="{FF2B5EF4-FFF2-40B4-BE49-F238E27FC236}">
                <a16:creationId xmlns:a16="http://schemas.microsoft.com/office/drawing/2014/main" id="{C1FFC25B-84C7-46CE-A6CF-898C8C9A3764}"/>
              </a:ext>
            </a:extLst>
          </p:cNvPr>
          <p:cNvSpPr txBox="1"/>
          <p:nvPr/>
        </p:nvSpPr>
        <p:spPr>
          <a:xfrm>
            <a:off x="-1" y="120228"/>
            <a:ext cx="6193555" cy="523220"/>
          </a:xfrm>
          <a:prstGeom prst="rect">
            <a:avLst/>
          </a:prstGeom>
          <a:noFill/>
        </p:spPr>
        <p:txBody>
          <a:bodyPr wrap="none" rtlCol="0">
            <a:spAutoFit/>
          </a:bodyPr>
          <a:lstStyle/>
          <a:p>
            <a:r>
              <a:rPr lang="en-US" sz="2800" b="1" dirty="0">
                <a:solidFill>
                  <a:schemeClr val="accent1">
                    <a:lumMod val="75000"/>
                  </a:schemeClr>
                </a:solidFill>
                <a:effectLst>
                  <a:outerShdw blurRad="38100" dist="38100" dir="2700000" algn="tl">
                    <a:srgbClr val="000000">
                      <a:alpha val="43137"/>
                    </a:srgbClr>
                  </a:outerShdw>
                </a:effectLst>
              </a:rPr>
              <a:t>INTRODUCTION TO MACHINE LEARNING</a:t>
            </a:r>
            <a:endParaRPr lang="en-IN" sz="2800" b="1" dirty="0">
              <a:solidFill>
                <a:schemeClr val="accent1">
                  <a:lumMod val="75000"/>
                </a:schemeClr>
              </a:solidFill>
              <a:effectLst>
                <a:outerShdw blurRad="38100" dist="38100" dir="2700000" algn="tl">
                  <a:srgbClr val="000000">
                    <a:alpha val="43137"/>
                  </a:srgbClr>
                </a:outerShdw>
              </a:effectLst>
            </a:endParaRPr>
          </a:p>
        </p:txBody>
      </p:sp>
      <p:sp>
        <p:nvSpPr>
          <p:cNvPr id="11" name="TextBox 10">
            <a:extLst>
              <a:ext uri="{FF2B5EF4-FFF2-40B4-BE49-F238E27FC236}">
                <a16:creationId xmlns:a16="http://schemas.microsoft.com/office/drawing/2014/main" id="{67F29E40-B627-4B3E-B89D-B08341D0967E}"/>
              </a:ext>
            </a:extLst>
          </p:cNvPr>
          <p:cNvSpPr txBox="1"/>
          <p:nvPr/>
        </p:nvSpPr>
        <p:spPr>
          <a:xfrm>
            <a:off x="275798" y="1227137"/>
            <a:ext cx="11217499" cy="4893647"/>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rPr>
              <a:t>The Core Types of Machine Learning</a:t>
            </a:r>
          </a:p>
          <a:p>
            <a:r>
              <a:rPr lang="en-US" dirty="0"/>
              <a:t>Machine learning is generally broken down into three main categories based on how the algorithm learns:</a:t>
            </a:r>
          </a:p>
          <a:p>
            <a:endParaRPr lang="en-US" b="1" dirty="0"/>
          </a:p>
          <a:p>
            <a:endParaRPr lang="en-US" b="1" dirty="0"/>
          </a:p>
          <a:p>
            <a:pPr marL="285750" indent="-285750">
              <a:buFont typeface="Wingdings" panose="05000000000000000000" pitchFamily="2" charset="2"/>
              <a:buChar char="Ø"/>
            </a:pPr>
            <a:r>
              <a:rPr lang="en-US" b="1" dirty="0"/>
              <a:t>Supervised Learning:</a:t>
            </a:r>
            <a:r>
              <a:rPr lang="en-US" dirty="0"/>
              <a:t> The algorithm is trained on "labeled" data, meaning the input data already has the correct answer attached to it.</a:t>
            </a:r>
          </a:p>
          <a:p>
            <a:pPr marL="742950" lvl="1" indent="-285750">
              <a:buFont typeface="Wingdings" panose="05000000000000000000" pitchFamily="2" charset="2"/>
              <a:buChar char="Ø"/>
            </a:pPr>
            <a:r>
              <a:rPr lang="en-US" i="1" dirty="0"/>
              <a:t>Example:</a:t>
            </a:r>
            <a:r>
              <a:rPr lang="en-US" dirty="0"/>
              <a:t> Teaching a system to recognize tumors by showing it thousands of MRI scans labeled "benign" or "malignant."</a:t>
            </a:r>
          </a:p>
          <a:p>
            <a:pPr marL="285750" indent="-285750">
              <a:buFont typeface="Wingdings" panose="05000000000000000000" pitchFamily="2" charset="2"/>
              <a:buChar char="Ø"/>
            </a:pPr>
            <a:r>
              <a:rPr lang="en-US" b="1" dirty="0"/>
              <a:t>Unsupervised Learning:</a:t>
            </a:r>
            <a:r>
              <a:rPr lang="en-US" dirty="0"/>
              <a:t> The algorithm is given "unlabeled" data and must find patterns, structures, or anomalies on its own.</a:t>
            </a:r>
          </a:p>
          <a:p>
            <a:pPr marL="742950" lvl="1" indent="-285750">
              <a:buFont typeface="Wingdings" panose="05000000000000000000" pitchFamily="2" charset="2"/>
              <a:buChar char="Ø"/>
            </a:pPr>
            <a:r>
              <a:rPr lang="en-US" i="1" dirty="0"/>
              <a:t>Example:</a:t>
            </a:r>
            <a:r>
              <a:rPr lang="en-US" dirty="0"/>
              <a:t> Grouping e-commerce customers into distinct segments based on their purchasing habits for targeted marketing.</a:t>
            </a:r>
          </a:p>
          <a:p>
            <a:pPr marL="285750" indent="-285750">
              <a:buFont typeface="Wingdings" panose="05000000000000000000" pitchFamily="2" charset="2"/>
              <a:buChar char="Ø"/>
            </a:pPr>
            <a:r>
              <a:rPr lang="en-US" b="1" dirty="0"/>
              <a:t>Reinforcement Learning:</a:t>
            </a:r>
            <a:r>
              <a:rPr lang="en-US" dirty="0"/>
              <a:t> The algorithm learns by trial and error within a specific environment, receiving "rewards" for correct actions and "penalties" for wrong ones.</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           Example:</a:t>
            </a:r>
          </a:p>
          <a:p>
            <a:endParaRPr lang="en-IN" dirty="0"/>
          </a:p>
        </p:txBody>
      </p:sp>
      <p:sp>
        <p:nvSpPr>
          <p:cNvPr id="7" name="Rectangle 1">
            <a:extLst>
              <a:ext uri="{FF2B5EF4-FFF2-40B4-BE49-F238E27FC236}">
                <a16:creationId xmlns:a16="http://schemas.microsoft.com/office/drawing/2014/main" id="{A076D553-00F8-4FB7-9C94-6D96544D8943}"/>
              </a:ext>
            </a:extLst>
          </p:cNvPr>
          <p:cNvSpPr>
            <a:spLocks noChangeArrowheads="1"/>
          </p:cNvSpPr>
          <p:nvPr/>
        </p:nvSpPr>
        <p:spPr bwMode="auto">
          <a:xfrm>
            <a:off x="1995541" y="5199976"/>
            <a:ext cx="9170206"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u="none" strike="noStrike" cap="none" normalizeH="0" baseline="0" dirty="0">
                <a:ln>
                  <a:noFill/>
                </a:ln>
                <a:solidFill>
                  <a:schemeClr val="tx1"/>
                </a:solidFill>
                <a:effectLst/>
                <a:latin typeface="Arial" panose="020B0604020202020204" pitchFamily="34" charset="0"/>
              </a:rPr>
              <a:t>A robot learns to navigate a maze by receiving rewards for reaching the exit and penalties for hitting walls.</a:t>
            </a:r>
          </a:p>
        </p:txBody>
      </p:sp>
    </p:spTree>
    <p:extLst>
      <p:ext uri="{BB962C8B-B14F-4D97-AF65-F5344CB8AC3E}">
        <p14:creationId xmlns:p14="http://schemas.microsoft.com/office/powerpoint/2010/main" val="1403833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1E77B76-9CBD-45C8-B181-A243B5E79488}"/>
              </a:ext>
            </a:extLst>
          </p:cNvPr>
          <p:cNvPicPr>
            <a:picLocks noChangeAspect="1"/>
          </p:cNvPicPr>
          <p:nvPr/>
        </p:nvPicPr>
        <p:blipFill rotWithShape="1">
          <a:blip r:embed="rId3"/>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092E68F5-6935-4A0A-85F6-37E185E08A86}"/>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26107F8-95EC-49CD-9F65-1A8742189584}"/>
              </a:ext>
            </a:extLst>
          </p:cNvPr>
          <p:cNvPicPr>
            <a:picLocks noChangeAspect="1"/>
          </p:cNvPicPr>
          <p:nvPr/>
        </p:nvPicPr>
        <p:blipFill>
          <a:blip r:embed="rId4"/>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8260DEEF-23A9-4A3E-825A-15141B63760E}"/>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B3CB011F-7DE9-4958-8044-578B03FF06A7}"/>
              </a:ext>
            </a:extLst>
          </p:cNvPr>
          <p:cNvSpPr/>
          <p:nvPr/>
        </p:nvSpPr>
        <p:spPr>
          <a:xfrm>
            <a:off x="426720" y="10131"/>
            <a:ext cx="11338560" cy="914400"/>
          </a:xfrm>
          <a:prstGeom prst="rect">
            <a:avLst/>
          </a:prstGeom>
          <a:noFill/>
          <a:ln/>
        </p:spPr>
        <p:txBody>
          <a:bodyPr wrap="square" rtlCol="0" anchor="ctr"/>
          <a:lstStyle/>
          <a:p>
            <a:endParaRPr lang="en-US" sz="2800" dirty="0">
              <a:solidFill>
                <a:srgbClr val="002060"/>
              </a:solidFill>
            </a:endParaRPr>
          </a:p>
        </p:txBody>
      </p:sp>
      <p:sp>
        <p:nvSpPr>
          <p:cNvPr id="7" name="TextBox 6">
            <a:extLst>
              <a:ext uri="{FF2B5EF4-FFF2-40B4-BE49-F238E27FC236}">
                <a16:creationId xmlns:a16="http://schemas.microsoft.com/office/drawing/2014/main" id="{A3C37D1D-4AC9-41BB-9E78-EF1BC7CD2F8E}"/>
              </a:ext>
            </a:extLst>
          </p:cNvPr>
          <p:cNvSpPr txBox="1"/>
          <p:nvPr/>
        </p:nvSpPr>
        <p:spPr>
          <a:xfrm>
            <a:off x="120995" y="120228"/>
            <a:ext cx="6193555" cy="523220"/>
          </a:xfrm>
          <a:prstGeom prst="rect">
            <a:avLst/>
          </a:prstGeom>
          <a:noFill/>
        </p:spPr>
        <p:txBody>
          <a:bodyPr wrap="none" rtlCol="0">
            <a:spAutoFit/>
          </a:bodyPr>
          <a:lstStyle/>
          <a:p>
            <a:r>
              <a:rPr lang="en-US" sz="2800" b="1" dirty="0">
                <a:solidFill>
                  <a:schemeClr val="accent1">
                    <a:lumMod val="75000"/>
                  </a:schemeClr>
                </a:solidFill>
                <a:effectLst>
                  <a:outerShdw blurRad="38100" dist="38100" dir="2700000" algn="tl">
                    <a:srgbClr val="000000">
                      <a:alpha val="43137"/>
                    </a:srgbClr>
                  </a:outerShdw>
                </a:effectLst>
              </a:rPr>
              <a:t>INTRODUCTION TO MACHINE LEARNING</a:t>
            </a:r>
            <a:endParaRPr lang="en-IN" sz="2800" b="1" dirty="0">
              <a:solidFill>
                <a:schemeClr val="accent1">
                  <a:lumMod val="75000"/>
                </a:schemeClr>
              </a:solidFill>
              <a:effectLst>
                <a:outerShdw blurRad="38100" dist="38100" dir="2700000" algn="tl">
                  <a:srgbClr val="000000">
                    <a:alpha val="43137"/>
                  </a:srgbClr>
                </a:outerShdw>
              </a:effectLst>
            </a:endParaRPr>
          </a:p>
        </p:txBody>
      </p:sp>
      <p:sp>
        <p:nvSpPr>
          <p:cNvPr id="8" name="TextBox 7">
            <a:extLst>
              <a:ext uri="{FF2B5EF4-FFF2-40B4-BE49-F238E27FC236}">
                <a16:creationId xmlns:a16="http://schemas.microsoft.com/office/drawing/2014/main" id="{2074D843-6C25-454D-846A-24DB1737919A}"/>
              </a:ext>
            </a:extLst>
          </p:cNvPr>
          <p:cNvSpPr txBox="1"/>
          <p:nvPr/>
        </p:nvSpPr>
        <p:spPr>
          <a:xfrm>
            <a:off x="120995" y="1060716"/>
            <a:ext cx="4161396" cy="400110"/>
          </a:xfrm>
          <a:prstGeom prst="rect">
            <a:avLst/>
          </a:prstGeom>
          <a:noFill/>
        </p:spPr>
        <p:txBody>
          <a:bodyPr wrap="none" rtlCol="0">
            <a:spAutoFit/>
          </a:bodyPr>
          <a:lstStyle/>
          <a:p>
            <a:r>
              <a:rPr lang="en-US" sz="2000" b="1" dirty="0"/>
              <a:t>Key Terminology in Machine Learning</a:t>
            </a:r>
            <a:endParaRPr lang="en-IN" sz="2000" b="1" dirty="0"/>
          </a:p>
        </p:txBody>
      </p:sp>
      <p:sp>
        <p:nvSpPr>
          <p:cNvPr id="10" name="TextBox 9">
            <a:extLst>
              <a:ext uri="{FF2B5EF4-FFF2-40B4-BE49-F238E27FC236}">
                <a16:creationId xmlns:a16="http://schemas.microsoft.com/office/drawing/2014/main" id="{68FE9C94-B63E-4C92-BEA1-B8B8B766D9EF}"/>
              </a:ext>
            </a:extLst>
          </p:cNvPr>
          <p:cNvSpPr txBox="1"/>
          <p:nvPr/>
        </p:nvSpPr>
        <p:spPr>
          <a:xfrm>
            <a:off x="-372862" y="1530654"/>
            <a:ext cx="10759736" cy="4801314"/>
          </a:xfrm>
          <a:prstGeom prst="rect">
            <a:avLst/>
          </a:prstGeom>
          <a:noFill/>
        </p:spPr>
        <p:txBody>
          <a:bodyPr wrap="square" rtlCol="0">
            <a:spAutoFit/>
          </a:bodyPr>
          <a:lstStyle/>
          <a:p>
            <a:pPr marL="742950" lvl="1" indent="-285750">
              <a:buFont typeface="Wingdings" panose="05000000000000000000" pitchFamily="2" charset="2"/>
              <a:buChar char="Ø"/>
            </a:pPr>
            <a:r>
              <a:rPr lang="en-US" b="1" dirty="0"/>
              <a:t>Features</a:t>
            </a:r>
            <a:br>
              <a:rPr lang="en-US" dirty="0"/>
            </a:br>
            <a:r>
              <a:rPr lang="en-US" dirty="0"/>
              <a:t>Features are input variables used by an ML model to make predictions. Examples: house area, bedrooms, attendance.</a:t>
            </a:r>
            <a:br>
              <a:rPr lang="en-US" dirty="0"/>
            </a:br>
            <a:endParaRPr lang="en-US" dirty="0"/>
          </a:p>
          <a:p>
            <a:pPr marL="742950" lvl="1" indent="-285750">
              <a:buFont typeface="Wingdings" panose="05000000000000000000" pitchFamily="2" charset="2"/>
              <a:buChar char="Ø"/>
            </a:pPr>
            <a:r>
              <a:rPr lang="en-US" b="1" dirty="0"/>
              <a:t>Labels</a:t>
            </a:r>
            <a:br>
              <a:rPr lang="en-US" dirty="0"/>
            </a:br>
            <a:r>
              <a:rPr lang="en-US" dirty="0"/>
              <a:t>Labels are the correct outputs (target values) the model learns to predict. Examples: house price, Spam/Not Spam.</a:t>
            </a:r>
            <a:br>
              <a:rPr lang="en-US" dirty="0"/>
            </a:br>
            <a:endParaRPr lang="en-US" dirty="0"/>
          </a:p>
          <a:p>
            <a:pPr marL="742950" lvl="1" indent="-285750">
              <a:buFont typeface="Wingdings" panose="05000000000000000000" pitchFamily="2" charset="2"/>
              <a:buChar char="Ø"/>
            </a:pPr>
            <a:r>
              <a:rPr lang="en-US" b="1" dirty="0"/>
              <a:t>Training</a:t>
            </a:r>
            <a:br>
              <a:rPr lang="en-US" dirty="0"/>
            </a:br>
            <a:r>
              <a:rPr lang="en-US" dirty="0"/>
              <a:t>Training is the process of teaching a model using historical data. The model learns patterns between features and labels. Example: Training a spam filter using thousands of labeled emails.</a:t>
            </a:r>
            <a:br>
              <a:rPr lang="en-US" dirty="0"/>
            </a:br>
            <a:endParaRPr lang="en-US" dirty="0"/>
          </a:p>
          <a:p>
            <a:pPr marL="742950" lvl="1" indent="-285750">
              <a:buFont typeface="Wingdings" panose="05000000000000000000" pitchFamily="2" charset="2"/>
              <a:buChar char="Ø"/>
            </a:pPr>
            <a:r>
              <a:rPr lang="en-US" b="1" dirty="0"/>
              <a:t>Testing</a:t>
            </a:r>
            <a:br>
              <a:rPr lang="en-US" dirty="0"/>
            </a:br>
            <a:r>
              <a:rPr lang="en-US" dirty="0"/>
              <a:t>Testing evaluates the trained model on unseen data to measure accuracy and generalization.</a:t>
            </a:r>
            <a:br>
              <a:rPr lang="en-US" dirty="0"/>
            </a:br>
            <a:r>
              <a:rPr lang="en-US" dirty="0"/>
              <a:t>Example: Testing the spam filter on new emails.</a:t>
            </a:r>
            <a:br>
              <a:rPr lang="en-US" dirty="0"/>
            </a:br>
            <a:br>
              <a:rPr lang="en-US" dirty="0"/>
            </a:br>
            <a:endParaRPr lang="en-IN" dirty="0"/>
          </a:p>
        </p:txBody>
      </p:sp>
    </p:spTree>
    <p:extLst>
      <p:ext uri="{BB962C8B-B14F-4D97-AF65-F5344CB8AC3E}">
        <p14:creationId xmlns:p14="http://schemas.microsoft.com/office/powerpoint/2010/main" val="24582881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FDF9589-5E80-48E0-82AA-947B1BBA88AD}"/>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43197370-604D-41FD-94AD-58BEF5A7980D}"/>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B96ACB97-2645-4E12-89DC-FE770BA11C73}"/>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A734DD0C-3F83-4706-8585-8A4B16787BCC}"/>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CB1B0888-8B3B-4977-88B4-D4A753778EDB}"/>
              </a:ext>
            </a:extLst>
          </p:cNvPr>
          <p:cNvSpPr/>
          <p:nvPr/>
        </p:nvSpPr>
        <p:spPr>
          <a:xfrm>
            <a:off x="0" y="-56412"/>
            <a:ext cx="11338560" cy="914400"/>
          </a:xfrm>
          <a:prstGeom prst="rect">
            <a:avLst/>
          </a:prstGeom>
          <a:noFill/>
          <a:ln/>
        </p:spPr>
        <p:txBody>
          <a:bodyPr wrap="square" rtlCol="0" anchor="ctr"/>
          <a:lstStyle/>
          <a:p>
            <a:r>
              <a:rPr lang="en-US" sz="2800" b="1" dirty="0">
                <a:solidFill>
                  <a:srgbClr val="002060"/>
                </a:solidFill>
                <a:effectLst>
                  <a:outerShdw blurRad="38100" dist="38100" dir="2700000" algn="tl">
                    <a:srgbClr val="000000">
                      <a:alpha val="43137"/>
                    </a:srgbClr>
                  </a:outerShdw>
                </a:effectLst>
              </a:rPr>
              <a:t>INTRODUCTION TO MACHINE LEARING</a:t>
            </a:r>
          </a:p>
        </p:txBody>
      </p:sp>
      <p:pic>
        <p:nvPicPr>
          <p:cNvPr id="8" name="Picture 7">
            <a:extLst>
              <a:ext uri="{FF2B5EF4-FFF2-40B4-BE49-F238E27FC236}">
                <a16:creationId xmlns:a16="http://schemas.microsoft.com/office/drawing/2014/main" id="{40028D0E-A722-4C72-B553-4C695397541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1560" y="941260"/>
            <a:ext cx="10287000" cy="5677270"/>
          </a:xfrm>
          <a:prstGeom prst="rect">
            <a:avLst/>
          </a:prstGeom>
        </p:spPr>
      </p:pic>
    </p:spTree>
    <p:extLst>
      <p:ext uri="{BB962C8B-B14F-4D97-AF65-F5344CB8AC3E}">
        <p14:creationId xmlns:p14="http://schemas.microsoft.com/office/powerpoint/2010/main" val="13030966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1AC6BF4-7D5D-47BA-909C-FF6EA140E62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EDA1106F-02AC-4D78-A4F5-6806B948DE7D}"/>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9D0B5BCF-6312-48E5-8E8A-3C6AB7821CE4}"/>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11658D86-1F04-4C12-BDE2-6385F49D2630}"/>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FC307310-2A81-43D0-8CC1-E7E5BA23AA1C}"/>
              </a:ext>
            </a:extLst>
          </p:cNvPr>
          <p:cNvSpPr/>
          <p:nvPr/>
        </p:nvSpPr>
        <p:spPr>
          <a:xfrm>
            <a:off x="426720" y="10131"/>
            <a:ext cx="11338560" cy="914400"/>
          </a:xfrm>
          <a:prstGeom prst="rect">
            <a:avLst/>
          </a:prstGeom>
          <a:noFill/>
          <a:ln/>
        </p:spPr>
        <p:txBody>
          <a:bodyPr wrap="square" rtlCol="0" anchor="ctr"/>
          <a:lstStyle/>
          <a:p>
            <a:endParaRPr lang="en-US" sz="2800" dirty="0">
              <a:solidFill>
                <a:srgbClr val="002060"/>
              </a:solidFill>
            </a:endParaRPr>
          </a:p>
        </p:txBody>
      </p:sp>
      <p:sp>
        <p:nvSpPr>
          <p:cNvPr id="7" name="TextBox 6">
            <a:extLst>
              <a:ext uri="{FF2B5EF4-FFF2-40B4-BE49-F238E27FC236}">
                <a16:creationId xmlns:a16="http://schemas.microsoft.com/office/drawing/2014/main" id="{C4A669FC-B3CE-49F8-A5D8-68CE5ECDC11E}"/>
              </a:ext>
            </a:extLst>
          </p:cNvPr>
          <p:cNvSpPr txBox="1"/>
          <p:nvPr/>
        </p:nvSpPr>
        <p:spPr>
          <a:xfrm>
            <a:off x="-47977" y="138552"/>
            <a:ext cx="11372303" cy="523220"/>
          </a:xfrm>
          <a:prstGeom prst="rect">
            <a:avLst/>
          </a:prstGeom>
          <a:noFill/>
        </p:spPr>
        <p:txBody>
          <a:bodyPr wrap="square" rtlCol="0">
            <a:spAutoFit/>
          </a:bodyPr>
          <a:lstStyle/>
          <a:p>
            <a:r>
              <a:rPr lang="en-US" sz="2800" b="1" dirty="0">
                <a:solidFill>
                  <a:schemeClr val="accent1">
                    <a:lumMod val="75000"/>
                  </a:schemeClr>
                </a:solidFill>
                <a:effectLst>
                  <a:outerShdw blurRad="38100" dist="38100" dir="2700000" algn="tl">
                    <a:srgbClr val="000000">
                      <a:alpha val="43137"/>
                    </a:srgbClr>
                  </a:outerShdw>
                </a:effectLst>
              </a:rPr>
              <a:t>Data preprocessing and EDA</a:t>
            </a:r>
            <a:endParaRPr lang="en-IN" sz="2800" b="1" dirty="0">
              <a:solidFill>
                <a:schemeClr val="accent1">
                  <a:lumMod val="75000"/>
                </a:schemeClr>
              </a:solidFill>
              <a:effectLst>
                <a:outerShdw blurRad="38100" dist="38100" dir="2700000" algn="tl">
                  <a:srgbClr val="000000">
                    <a:alpha val="43137"/>
                  </a:srgbClr>
                </a:outerShdw>
              </a:effectLst>
            </a:endParaRPr>
          </a:p>
        </p:txBody>
      </p:sp>
      <p:sp>
        <p:nvSpPr>
          <p:cNvPr id="9" name="Rectangle 1">
            <a:extLst>
              <a:ext uri="{FF2B5EF4-FFF2-40B4-BE49-F238E27FC236}">
                <a16:creationId xmlns:a16="http://schemas.microsoft.com/office/drawing/2014/main" id="{895B7717-6B50-441B-85EE-6ECAAE74BBF4}"/>
              </a:ext>
            </a:extLst>
          </p:cNvPr>
          <p:cNvSpPr>
            <a:spLocks noChangeArrowheads="1"/>
          </p:cNvSpPr>
          <p:nvPr/>
        </p:nvSpPr>
        <p:spPr bwMode="auto">
          <a:xfrm>
            <a:off x="0" y="1167224"/>
            <a:ext cx="5262773" cy="372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accent1">
                    <a:lumMod val="50000"/>
                  </a:schemeClr>
                </a:solidFill>
                <a:effectLst>
                  <a:outerShdw blurRad="38100" dist="38100" dir="2700000" algn="tl">
                    <a:srgbClr val="000000">
                      <a:alpha val="43137"/>
                    </a:srgbClr>
                  </a:outerShdw>
                </a:effectLst>
                <a:latin typeface="Arial" panose="020B0604020202020204" pitchFamily="34" charset="0"/>
              </a:rPr>
              <a:t>Handling Missing Values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Real-world data is messy and often contains blanks (NaNs). If you pass missing values into a machine learning model, it will throw an error.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b="1" i="0" u="none" strike="noStrike" cap="none" normalizeH="0" baseline="0" dirty="0">
                <a:ln>
                  <a:noFill/>
                </a:ln>
                <a:solidFill>
                  <a:schemeClr val="tx1"/>
                </a:solidFill>
                <a:effectLst/>
                <a:latin typeface="Arial Unicode MS"/>
              </a:rPr>
              <a:t>dropna()</a:t>
            </a:r>
            <a:r>
              <a:rPr kumimoji="0" lang="en-US" altLang="en-US" b="0" i="0" u="none" strike="noStrike" cap="none" normalizeH="0" baseline="0" dirty="0">
                <a:ln>
                  <a:noFill/>
                </a:ln>
                <a:solidFill>
                  <a:schemeClr val="tx1"/>
                </a:solidFill>
                <a:effectLst/>
              </a:rPr>
              <a:t>: Deletes rows or columns that contain missing data. Use this if the missing data is minimal and losing a few rows won’t hurt your dataset.</a:t>
            </a:r>
          </a:p>
          <a:p>
            <a:pPr marR="0" lvl="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b="1" i="0" u="none" strike="noStrike" cap="none" normalizeH="0" baseline="0" dirty="0">
                <a:ln>
                  <a:noFill/>
                </a:ln>
                <a:solidFill>
                  <a:schemeClr val="tx1"/>
                </a:solidFill>
                <a:effectLst/>
                <a:latin typeface="Arial Unicode MS"/>
              </a:rPr>
              <a:t>fillna()</a:t>
            </a:r>
            <a:r>
              <a:rPr kumimoji="0" lang="en-US" altLang="en-US" b="0" i="0" u="none" strike="noStrike" cap="none" normalizeH="0" baseline="0" dirty="0">
                <a:ln>
                  <a:noFill/>
                </a:ln>
                <a:solidFill>
                  <a:schemeClr val="tx1"/>
                </a:solidFill>
                <a:effectLst/>
              </a:rPr>
              <a:t>: Replaces missing values with a specific substitute, like a fixed number, the </a:t>
            </a:r>
            <a:r>
              <a:rPr kumimoji="0" lang="en-US" altLang="en-US" b="1" i="0" u="none" strike="noStrike" cap="none" normalizeH="0" baseline="0" dirty="0">
                <a:ln>
                  <a:noFill/>
                </a:ln>
                <a:solidFill>
                  <a:schemeClr val="tx1"/>
                </a:solidFill>
                <a:effectLst/>
                <a:latin typeface="Arial" panose="020B0604020202020204" pitchFamily="34" charset="0"/>
              </a:rPr>
              <a:t>mean</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a:ln>
                  <a:noFill/>
                </a:ln>
                <a:solidFill>
                  <a:schemeClr val="tx1"/>
                </a:solidFill>
                <a:effectLst/>
                <a:latin typeface="Arial" panose="020B0604020202020204" pitchFamily="34" charset="0"/>
              </a:rPr>
              <a:t>median</a:t>
            </a:r>
            <a:r>
              <a:rPr kumimoji="0" lang="en-US" altLang="en-US" b="0" i="0" u="none" strike="noStrike" cap="none" normalizeH="0" baseline="0" dirty="0">
                <a:ln>
                  <a:noFill/>
                </a:ln>
                <a:solidFill>
                  <a:schemeClr val="tx1"/>
                </a:solidFill>
                <a:effectLst/>
                <a:latin typeface="Arial" panose="020B0604020202020204" pitchFamily="34" charset="0"/>
              </a:rPr>
              <a:t>, or </a:t>
            </a:r>
            <a:r>
              <a:rPr kumimoji="0" lang="en-US" altLang="en-US" b="1" i="0" u="none" strike="noStrike" cap="none" normalizeH="0" baseline="0" dirty="0">
                <a:ln>
                  <a:noFill/>
                </a:ln>
                <a:solidFill>
                  <a:schemeClr val="tx1"/>
                </a:solidFill>
                <a:effectLst/>
                <a:latin typeface="Arial" panose="020B0604020202020204" pitchFamily="34" charset="0"/>
              </a:rPr>
              <a:t>mode</a:t>
            </a:r>
            <a:r>
              <a:rPr kumimoji="0" lang="en-US" altLang="en-US" b="0" i="0" u="none" strike="noStrike" cap="none" normalizeH="0" baseline="0" dirty="0">
                <a:ln>
                  <a:noFill/>
                </a:ln>
                <a:solidFill>
                  <a:schemeClr val="tx1"/>
                </a:solidFill>
                <a:effectLst/>
                <a:latin typeface="Arial" panose="020B0604020202020204" pitchFamily="34" charset="0"/>
              </a:rPr>
              <a:t> of that column.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E9041CAE-12C0-4246-BE60-4E432CA2C1C4}"/>
              </a:ext>
            </a:extLst>
          </p:cNvPr>
          <p:cNvSpPr txBox="1"/>
          <p:nvPr/>
        </p:nvSpPr>
        <p:spPr>
          <a:xfrm>
            <a:off x="5262773" y="1305723"/>
            <a:ext cx="6111089" cy="400110"/>
          </a:xfrm>
          <a:prstGeom prst="rect">
            <a:avLst/>
          </a:prstGeom>
          <a:noFill/>
        </p:spPr>
        <p:txBody>
          <a:bodyPr wrap="square" rtlCol="0">
            <a:spAutoFit/>
          </a:bodyPr>
          <a:lstStyle/>
          <a:p>
            <a:r>
              <a:rPr lang="en-IN" sz="2000" b="1" dirty="0">
                <a:solidFill>
                  <a:schemeClr val="tx2">
                    <a:lumMod val="75000"/>
                  </a:schemeClr>
                </a:solidFill>
              </a:rPr>
              <a:t>Example:</a:t>
            </a:r>
          </a:p>
        </p:txBody>
      </p:sp>
      <p:pic>
        <p:nvPicPr>
          <p:cNvPr id="12" name="Picture 11">
            <a:extLst>
              <a:ext uri="{FF2B5EF4-FFF2-40B4-BE49-F238E27FC236}">
                <a16:creationId xmlns:a16="http://schemas.microsoft.com/office/drawing/2014/main" id="{D57D366D-B4F4-4827-838D-B4D1223362D4}"/>
              </a:ext>
            </a:extLst>
          </p:cNvPr>
          <p:cNvPicPr>
            <a:picLocks noChangeAspect="1"/>
          </p:cNvPicPr>
          <p:nvPr/>
        </p:nvPicPr>
        <p:blipFill>
          <a:blip r:embed="rId4"/>
          <a:stretch>
            <a:fillRect/>
          </a:stretch>
        </p:blipFill>
        <p:spPr>
          <a:xfrm>
            <a:off x="5262773" y="1924822"/>
            <a:ext cx="6887536" cy="2448267"/>
          </a:xfrm>
          <a:prstGeom prst="rect">
            <a:avLst/>
          </a:prstGeom>
        </p:spPr>
      </p:pic>
    </p:spTree>
    <p:extLst>
      <p:ext uri="{BB962C8B-B14F-4D97-AF65-F5344CB8AC3E}">
        <p14:creationId xmlns:p14="http://schemas.microsoft.com/office/powerpoint/2010/main" val="4049195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63D022-57A7-450F-A3DB-C8616DFFED06}"/>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0A7BC32C-6E61-4EE6-8192-488BD01656DD}"/>
              </a:ext>
            </a:extLst>
          </p:cNvPr>
          <p:cNvSpPr/>
          <p:nvPr/>
        </p:nvSpPr>
        <p:spPr>
          <a:xfrm>
            <a:off x="0" y="747791"/>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4A023BF8-B27B-4A7F-9E55-4E819571E21A}"/>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5735BEC0-EE07-4DA0-AE57-C7A156EF1F40}"/>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622FAC16-512B-414F-8A6B-C55348E9EF22}"/>
              </a:ext>
            </a:extLst>
          </p:cNvPr>
          <p:cNvSpPr/>
          <p:nvPr/>
        </p:nvSpPr>
        <p:spPr>
          <a:xfrm>
            <a:off x="426720" y="101443"/>
            <a:ext cx="11338560" cy="914400"/>
          </a:xfrm>
          <a:prstGeom prst="rect">
            <a:avLst/>
          </a:prstGeom>
          <a:noFill/>
          <a:ln/>
        </p:spPr>
        <p:txBody>
          <a:bodyPr wrap="square" rtlCol="0" anchor="ctr"/>
          <a:lstStyle/>
          <a:p>
            <a:endParaRPr lang="en-US" sz="2800" dirty="0">
              <a:solidFill>
                <a:srgbClr val="002060"/>
              </a:solidFill>
            </a:endParaRPr>
          </a:p>
        </p:txBody>
      </p:sp>
      <p:sp>
        <p:nvSpPr>
          <p:cNvPr id="7" name="TextBox 6">
            <a:extLst>
              <a:ext uri="{FF2B5EF4-FFF2-40B4-BE49-F238E27FC236}">
                <a16:creationId xmlns:a16="http://schemas.microsoft.com/office/drawing/2014/main" id="{4CD1D4FB-04CA-4347-8BBA-F0325A0DE777}"/>
              </a:ext>
            </a:extLst>
          </p:cNvPr>
          <p:cNvSpPr txBox="1"/>
          <p:nvPr/>
        </p:nvSpPr>
        <p:spPr>
          <a:xfrm>
            <a:off x="0" y="54705"/>
            <a:ext cx="11047114" cy="523220"/>
          </a:xfrm>
          <a:prstGeom prst="rect">
            <a:avLst/>
          </a:prstGeom>
          <a:noFill/>
        </p:spPr>
        <p:txBody>
          <a:bodyPr wrap="square" rtlCol="0">
            <a:spAutoFit/>
          </a:bodyPr>
          <a:lstStyle/>
          <a:p>
            <a:r>
              <a:rPr lang="en-US" sz="2800" b="1" dirty="0">
                <a:solidFill>
                  <a:schemeClr val="accent1">
                    <a:lumMod val="75000"/>
                  </a:schemeClr>
                </a:solidFill>
                <a:effectLst>
                  <a:outerShdw blurRad="38100" dist="38100" dir="2700000" algn="tl">
                    <a:srgbClr val="000000">
                      <a:alpha val="43137"/>
                    </a:srgbClr>
                  </a:outerShdw>
                </a:effectLst>
              </a:rPr>
              <a:t>DATA PREPROCESSING AND EDA</a:t>
            </a:r>
            <a:endParaRPr lang="en-IN" sz="2800" b="1" dirty="0">
              <a:solidFill>
                <a:schemeClr val="accent1">
                  <a:lumMod val="75000"/>
                </a:schemeClr>
              </a:solidFill>
              <a:effectLst>
                <a:outerShdw blurRad="38100" dist="38100" dir="2700000" algn="tl">
                  <a:srgbClr val="000000">
                    <a:alpha val="43137"/>
                  </a:srgbClr>
                </a:outerShdw>
              </a:effectLst>
            </a:endParaRPr>
          </a:p>
        </p:txBody>
      </p:sp>
      <p:sp>
        <p:nvSpPr>
          <p:cNvPr id="9" name="Rectangle 1">
            <a:extLst>
              <a:ext uri="{FF2B5EF4-FFF2-40B4-BE49-F238E27FC236}">
                <a16:creationId xmlns:a16="http://schemas.microsoft.com/office/drawing/2014/main" id="{FFA0E697-35E0-44E3-A46C-6C3B133651C6}"/>
              </a:ext>
            </a:extLst>
          </p:cNvPr>
          <p:cNvSpPr>
            <a:spLocks noChangeArrowheads="1"/>
          </p:cNvSpPr>
          <p:nvPr/>
        </p:nvSpPr>
        <p:spPr bwMode="auto">
          <a:xfrm>
            <a:off x="-1" y="1008105"/>
            <a:ext cx="5694630" cy="5109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rPr>
              <a:t>Encoding Categorical Variables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Machine learning models are just massive calculators; they only understand numbers, not text. Categorical data (like "Red", "Blue", or "Low", "Medium", "High") must be converted into numerical formats.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b="1" i="0" u="none" strike="noStrike" cap="none" normalizeH="0" baseline="0" dirty="0">
                <a:ln>
                  <a:noFill/>
                </a:ln>
                <a:solidFill>
                  <a:schemeClr val="tx1"/>
                </a:solidFill>
                <a:effectLst/>
                <a:latin typeface="Arial Unicode MS"/>
              </a:rPr>
              <a:t>LabelEncoder</a:t>
            </a:r>
            <a:r>
              <a:rPr kumimoji="0" lang="en-US" altLang="en-US" b="0" i="0" u="none" strike="noStrike" cap="none" normalizeH="0" baseline="0" dirty="0">
                <a:ln>
                  <a:noFill/>
                </a:ln>
                <a:solidFill>
                  <a:schemeClr val="tx1"/>
                </a:solidFill>
                <a:effectLst/>
              </a:rPr>
              <a:t>: Assigns a unique integer to each category (e.g., Low = 0, Medium = 1, High = 2).</a:t>
            </a:r>
            <a:endParaRPr kumimoji="0" lang="en-US" altLang="en-US" b="0" i="0" u="none" strike="noStrike" cap="none" normalizeH="0" baseline="0" dirty="0">
              <a:ln>
                <a:noFill/>
              </a:ln>
              <a:solidFill>
                <a:schemeClr val="tx1"/>
              </a:solidFill>
              <a:effectLst/>
              <a:latin typeface="Arial" panose="020B0604020202020204" pitchFamily="34" charset="0"/>
            </a:endParaRP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b="0" i="1" u="none" strike="noStrike" cap="none" normalizeH="0" baseline="0" dirty="0">
                <a:ln>
                  <a:noFill/>
                </a:ln>
                <a:solidFill>
                  <a:schemeClr val="tx1"/>
                </a:solidFill>
                <a:effectLst/>
                <a:latin typeface="Arial" panose="020B0604020202020204" pitchFamily="34" charset="0"/>
              </a:rPr>
              <a:t>Best for:</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a:ln>
                  <a:noFill/>
                </a:ln>
                <a:solidFill>
                  <a:schemeClr val="tx1"/>
                </a:solidFill>
                <a:effectLst/>
                <a:latin typeface="Arial" panose="020B0604020202020204" pitchFamily="34" charset="0"/>
              </a:rPr>
              <a:t>Ordinal data</a:t>
            </a:r>
            <a:r>
              <a:rPr kumimoji="0" lang="en-US" altLang="en-US" b="0" i="0" u="none" strike="noStrike" cap="none" normalizeH="0" baseline="0" dirty="0">
                <a:ln>
                  <a:noFill/>
                </a:ln>
                <a:solidFill>
                  <a:schemeClr val="tx1"/>
                </a:solidFill>
                <a:effectLst/>
                <a:latin typeface="Arial" panose="020B0604020202020204" pitchFamily="34" charset="0"/>
              </a:rPr>
              <a:t> where the categories have a natural mathematical order.</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b="1" i="0" u="none" strike="noStrike" cap="none" normalizeH="0" baseline="0" dirty="0">
                <a:ln>
                  <a:noFill/>
                </a:ln>
                <a:solidFill>
                  <a:schemeClr val="tx1"/>
                </a:solidFill>
                <a:effectLst/>
                <a:latin typeface="Arial Unicode MS"/>
              </a:rPr>
              <a:t>OneHotEncoder</a:t>
            </a:r>
            <a:r>
              <a:rPr kumimoji="0" lang="en-US" altLang="en-US" b="0" i="0" u="none" strike="noStrike" cap="none" normalizeH="0" baseline="0" dirty="0">
                <a:ln>
                  <a:noFill/>
                </a:ln>
                <a:solidFill>
                  <a:schemeClr val="tx1"/>
                </a:solidFill>
                <a:effectLst/>
              </a:rPr>
              <a:t>: Creates a new binary column </a:t>
            </a: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rPr>
              <a:t>        (0 or 1) for each unique category.</a:t>
            </a:r>
            <a:endParaRPr kumimoji="0" lang="en-US" altLang="en-US" b="0" i="0" u="none" strike="noStrike" cap="none" normalizeH="0" baseline="0" dirty="0">
              <a:ln>
                <a:noFill/>
              </a:ln>
              <a:solidFill>
                <a:schemeClr val="tx1"/>
              </a:solidFill>
              <a:effectLst/>
              <a:latin typeface="Arial" panose="020B0604020202020204" pitchFamily="34" charset="0"/>
            </a:endParaRP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b="0" i="1" u="none" strike="noStrike" cap="none" normalizeH="0" baseline="0" dirty="0">
                <a:ln>
                  <a:noFill/>
                </a:ln>
                <a:solidFill>
                  <a:schemeClr val="tx1"/>
                </a:solidFill>
                <a:effectLst/>
                <a:latin typeface="Arial" panose="020B0604020202020204" pitchFamily="34" charset="0"/>
              </a:rPr>
              <a:t>Best for:</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a:ln>
                  <a:noFill/>
                </a:ln>
                <a:solidFill>
                  <a:schemeClr val="tx1"/>
                </a:solidFill>
                <a:effectLst/>
                <a:latin typeface="Arial" panose="020B0604020202020204" pitchFamily="34" charset="0"/>
              </a:rPr>
              <a:t>Nominal data</a:t>
            </a:r>
            <a:r>
              <a:rPr kumimoji="0" lang="en-US" altLang="en-US" b="0" i="0" u="none" strike="noStrike" cap="none" normalizeH="0" baseline="0" dirty="0">
                <a:ln>
                  <a:noFill/>
                </a:ln>
                <a:solidFill>
                  <a:schemeClr val="tx1"/>
                </a:solidFill>
                <a:effectLst/>
                <a:latin typeface="Arial" panose="020B0604020202020204" pitchFamily="34" charset="0"/>
              </a:rPr>
              <a:t> where there is no inherent order (e.g., Country: USA, India, Germany). This prevents the model from mistakenly thinking Germany (2) is "greater than" USA (0).</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TextBox 12">
            <a:extLst>
              <a:ext uri="{FF2B5EF4-FFF2-40B4-BE49-F238E27FC236}">
                <a16:creationId xmlns:a16="http://schemas.microsoft.com/office/drawing/2014/main" id="{82BA577A-6B94-4052-9BBF-B52A6699112F}"/>
              </a:ext>
            </a:extLst>
          </p:cNvPr>
          <p:cNvSpPr txBox="1"/>
          <p:nvPr/>
        </p:nvSpPr>
        <p:spPr>
          <a:xfrm>
            <a:off x="6082035" y="987732"/>
            <a:ext cx="6039305" cy="523220"/>
          </a:xfrm>
          <a:prstGeom prst="rect">
            <a:avLst/>
          </a:prstGeom>
          <a:noFill/>
        </p:spPr>
        <p:txBody>
          <a:bodyPr wrap="square" rtlCol="0">
            <a:spAutoFit/>
          </a:bodyPr>
          <a:lstStyle/>
          <a:p>
            <a:r>
              <a:rPr lang="en-IN" sz="2800" b="1" dirty="0">
                <a:effectLst>
                  <a:outerShdw blurRad="38100" dist="38100" dir="2700000" algn="tl">
                    <a:srgbClr val="000000">
                      <a:alpha val="43137"/>
                    </a:srgbClr>
                  </a:outerShdw>
                </a:effectLst>
              </a:rPr>
              <a:t>Example:</a:t>
            </a:r>
          </a:p>
        </p:txBody>
      </p:sp>
      <p:pic>
        <p:nvPicPr>
          <p:cNvPr id="14" name="Picture 13">
            <a:extLst>
              <a:ext uri="{FF2B5EF4-FFF2-40B4-BE49-F238E27FC236}">
                <a16:creationId xmlns:a16="http://schemas.microsoft.com/office/drawing/2014/main" id="{F7B20C21-A5B7-4279-98D0-7E8717728C94}"/>
              </a:ext>
            </a:extLst>
          </p:cNvPr>
          <p:cNvPicPr>
            <a:picLocks noChangeAspect="1"/>
          </p:cNvPicPr>
          <p:nvPr/>
        </p:nvPicPr>
        <p:blipFill>
          <a:blip r:embed="rId4"/>
          <a:stretch>
            <a:fillRect/>
          </a:stretch>
        </p:blipFill>
        <p:spPr>
          <a:xfrm>
            <a:off x="6224735" y="1847362"/>
            <a:ext cx="5753903" cy="2248214"/>
          </a:xfrm>
          <a:prstGeom prst="rect">
            <a:avLst/>
          </a:prstGeom>
        </p:spPr>
      </p:pic>
    </p:spTree>
    <p:extLst>
      <p:ext uri="{BB962C8B-B14F-4D97-AF65-F5344CB8AC3E}">
        <p14:creationId xmlns:p14="http://schemas.microsoft.com/office/powerpoint/2010/main" val="6887836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63D022-57A7-450F-A3DB-C8616DFFED06}"/>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0A7BC32C-6E61-4EE6-8192-488BD01656DD}"/>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4A023BF8-B27B-4A7F-9E55-4E819571E21A}"/>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5735BEC0-EE07-4DA0-AE57-C7A156EF1F40}"/>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622FAC16-512B-414F-8A6B-C55348E9EF22}"/>
              </a:ext>
            </a:extLst>
          </p:cNvPr>
          <p:cNvSpPr/>
          <p:nvPr/>
        </p:nvSpPr>
        <p:spPr>
          <a:xfrm>
            <a:off x="426720" y="10131"/>
            <a:ext cx="11338560" cy="914400"/>
          </a:xfrm>
          <a:prstGeom prst="rect">
            <a:avLst/>
          </a:prstGeom>
          <a:noFill/>
          <a:ln/>
        </p:spPr>
        <p:txBody>
          <a:bodyPr wrap="square" rtlCol="0" anchor="ctr"/>
          <a:lstStyle/>
          <a:p>
            <a:endParaRPr lang="en-US" sz="2800" dirty="0">
              <a:solidFill>
                <a:srgbClr val="002060"/>
              </a:solidFill>
            </a:endParaRPr>
          </a:p>
        </p:txBody>
      </p:sp>
      <p:sp>
        <p:nvSpPr>
          <p:cNvPr id="7" name="TextBox 6">
            <a:extLst>
              <a:ext uri="{FF2B5EF4-FFF2-40B4-BE49-F238E27FC236}">
                <a16:creationId xmlns:a16="http://schemas.microsoft.com/office/drawing/2014/main" id="{34D2397F-D2C7-4277-909C-FBC29E225003}"/>
              </a:ext>
            </a:extLst>
          </p:cNvPr>
          <p:cNvSpPr txBox="1"/>
          <p:nvPr/>
        </p:nvSpPr>
        <p:spPr>
          <a:xfrm>
            <a:off x="133165" y="120228"/>
            <a:ext cx="10324730" cy="523220"/>
          </a:xfrm>
          <a:prstGeom prst="rect">
            <a:avLst/>
          </a:prstGeom>
          <a:noFill/>
        </p:spPr>
        <p:txBody>
          <a:bodyPr wrap="square" rtlCol="0">
            <a:spAutoFit/>
          </a:bodyPr>
          <a:lstStyle/>
          <a:p>
            <a:r>
              <a:rPr lang="en-US" sz="2800" b="1" dirty="0">
                <a:solidFill>
                  <a:schemeClr val="accent1">
                    <a:lumMod val="75000"/>
                  </a:schemeClr>
                </a:solidFill>
                <a:effectLst>
                  <a:outerShdw blurRad="38100" dist="38100" dir="2700000" algn="tl">
                    <a:srgbClr val="000000">
                      <a:alpha val="43137"/>
                    </a:srgbClr>
                  </a:outerShdw>
                </a:effectLst>
              </a:rPr>
              <a:t>DATA PREPROCESSING AND EDA</a:t>
            </a:r>
            <a:endParaRPr lang="en-IN" sz="2800" b="1" dirty="0">
              <a:solidFill>
                <a:schemeClr val="accent1">
                  <a:lumMod val="75000"/>
                </a:schemeClr>
              </a:solidFill>
              <a:effectLst>
                <a:outerShdw blurRad="38100" dist="38100" dir="2700000" algn="tl">
                  <a:srgbClr val="000000">
                    <a:alpha val="43137"/>
                  </a:srgbClr>
                </a:outerShdw>
              </a:effectLst>
            </a:endParaRPr>
          </a:p>
        </p:txBody>
      </p:sp>
      <p:sp>
        <p:nvSpPr>
          <p:cNvPr id="9" name="Rectangle 1">
            <a:extLst>
              <a:ext uri="{FF2B5EF4-FFF2-40B4-BE49-F238E27FC236}">
                <a16:creationId xmlns:a16="http://schemas.microsoft.com/office/drawing/2014/main" id="{148944D8-367E-4F23-BCE6-DDB7FE35503E}"/>
              </a:ext>
            </a:extLst>
          </p:cNvPr>
          <p:cNvSpPr>
            <a:spLocks noChangeArrowheads="1"/>
          </p:cNvSpPr>
          <p:nvPr/>
        </p:nvSpPr>
        <p:spPr bwMode="auto">
          <a:xfrm>
            <a:off x="0" y="1013027"/>
            <a:ext cx="5797118" cy="5386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2">
                    <a:lumMod val="75000"/>
                  </a:schemeClr>
                </a:solidFill>
                <a:effectLst>
                  <a:outerShdw blurRad="38100" dist="38100" dir="2700000" algn="tl">
                    <a:srgbClr val="000000">
                      <a:alpha val="43137"/>
                    </a:srgbClr>
                  </a:outerShdw>
                </a:effectLst>
                <a:latin typeface="Arial" panose="020B0604020202020204" pitchFamily="34" charset="0"/>
              </a:rPr>
              <a:t>Feature scaling</a:t>
            </a:r>
            <a:r>
              <a:rPr kumimoji="0" lang="en-US" altLang="en-US" sz="2000" b="1" i="0" u="none" strike="noStrike" cap="none" normalizeH="0" baseline="0" dirty="0">
                <a:ln>
                  <a:noFill/>
                </a:ln>
                <a:solidFill>
                  <a:schemeClr val="tx2">
                    <a:lumMod val="75000"/>
                  </a:schemeClr>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When your dataset features have wildly different ranges (e.g., Age ranges from 0 to 100, while Salary ranges from $20,000 to $200,000), algorithms that rely on distances can get warped. Scaling brings them to a level playing field.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tx1"/>
                </a:solidFill>
                <a:effectLst/>
                <a:latin typeface="Arial Unicode MS"/>
              </a:rPr>
              <a:t>StandardScaler</a:t>
            </a:r>
            <a:r>
              <a:rPr kumimoji="0" lang="en-US" altLang="en-US" b="1" i="0" u="none" strike="noStrike" cap="none" normalizeH="0" baseline="0" dirty="0">
                <a:ln>
                  <a:noFill/>
                </a:ln>
                <a:solidFill>
                  <a:schemeClr val="tx1"/>
                </a:solidFill>
                <a:effectLst/>
              </a:rPr>
              <a:t> (Standardization)</a:t>
            </a:r>
            <a:r>
              <a:rPr kumimoji="0" lang="en-US" altLang="en-US" b="0" i="0" u="none" strike="noStrike" cap="none" normalizeH="0" baseline="0" dirty="0">
                <a:ln>
                  <a:noFill/>
                </a:ln>
                <a:solidFill>
                  <a:schemeClr val="tx1"/>
                </a:solidFill>
                <a:effectLst/>
                <a:latin typeface="Arial" panose="020B0604020202020204" pitchFamily="34" charset="0"/>
              </a:rPr>
              <a:t>: Centers the data around a mean of 0 with a standard deviation of 1. It transforms data into a standard normal distribution.</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0" i="1" u="none" strike="noStrike" cap="none" normalizeH="0" baseline="0" dirty="0">
                <a:ln>
                  <a:noFill/>
                </a:ln>
                <a:solidFill>
                  <a:schemeClr val="tx1"/>
                </a:solidFill>
                <a:effectLst/>
                <a:latin typeface="Arial" panose="020B0604020202020204" pitchFamily="34" charset="0"/>
              </a:rPr>
              <a:t>Best for:</a:t>
            </a:r>
            <a:r>
              <a:rPr kumimoji="0" lang="en-US" altLang="en-US" b="0" i="0" u="none" strike="noStrike" cap="none" normalizeH="0" baseline="0" dirty="0">
                <a:ln>
                  <a:noFill/>
                </a:ln>
                <a:solidFill>
                  <a:schemeClr val="tx1"/>
                </a:solidFill>
                <a:effectLst/>
                <a:latin typeface="Arial" panose="020B0604020202020204" pitchFamily="34" charset="0"/>
              </a:rPr>
              <a:t> Most algorithms (especially Linear Regression, Logistic Regression, SVMs) and handles outliers relatively well.</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tx1"/>
                </a:solidFill>
                <a:effectLst/>
                <a:latin typeface="Arial Unicode MS"/>
              </a:rPr>
              <a:t>MinMaxScaler</a:t>
            </a:r>
            <a:r>
              <a:rPr kumimoji="0" lang="en-US" altLang="en-US" b="1" i="0" u="none" strike="noStrike" cap="none" normalizeH="0" baseline="0" dirty="0">
                <a:ln>
                  <a:noFill/>
                </a:ln>
                <a:solidFill>
                  <a:schemeClr val="tx1"/>
                </a:solidFill>
                <a:effectLst/>
              </a:rPr>
              <a:t> (Normalization)</a:t>
            </a:r>
            <a:r>
              <a:rPr kumimoji="0" lang="en-US" altLang="en-US" b="0" i="0" u="none" strike="noStrike" cap="none" normalizeH="0" baseline="0" dirty="0">
                <a:ln>
                  <a:noFill/>
                </a:ln>
                <a:solidFill>
                  <a:schemeClr val="tx1"/>
                </a:solidFill>
                <a:effectLst/>
                <a:latin typeface="Arial" panose="020B0604020202020204" pitchFamily="34" charset="0"/>
              </a:rPr>
              <a:t>: Rescales the data so all values fall strictly between 0 and 1.</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0" i="1" u="none" strike="noStrike" cap="none" normalizeH="0" baseline="0" dirty="0">
                <a:ln>
                  <a:noFill/>
                </a:ln>
                <a:solidFill>
                  <a:schemeClr val="tx1"/>
                </a:solidFill>
                <a:effectLst/>
                <a:latin typeface="Arial" panose="020B0604020202020204" pitchFamily="34" charset="0"/>
              </a:rPr>
              <a:t>Best for:</a:t>
            </a:r>
            <a:r>
              <a:rPr kumimoji="0" lang="en-US" altLang="en-US" b="0" i="0" u="none" strike="noStrike" cap="none" normalizeH="0" baseline="0" dirty="0">
                <a:ln>
                  <a:noFill/>
                </a:ln>
                <a:solidFill>
                  <a:schemeClr val="tx1"/>
                </a:solidFill>
                <a:effectLst/>
                <a:latin typeface="Arial" panose="020B0604020202020204" pitchFamily="34" charset="0"/>
              </a:rPr>
              <a:t> Neural networks or algorithms where you specifically need bounded intervals, but it is highly sensitive to outliers.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TextBox 12">
            <a:extLst>
              <a:ext uri="{FF2B5EF4-FFF2-40B4-BE49-F238E27FC236}">
                <a16:creationId xmlns:a16="http://schemas.microsoft.com/office/drawing/2014/main" id="{8866931B-97ED-49D8-B392-75F17BFB4175}"/>
              </a:ext>
            </a:extLst>
          </p:cNvPr>
          <p:cNvSpPr txBox="1"/>
          <p:nvPr/>
        </p:nvSpPr>
        <p:spPr>
          <a:xfrm>
            <a:off x="5797118" y="1049090"/>
            <a:ext cx="6394882" cy="461665"/>
          </a:xfrm>
          <a:prstGeom prst="rect">
            <a:avLst/>
          </a:prstGeom>
          <a:noFill/>
        </p:spPr>
        <p:txBody>
          <a:bodyPr wrap="square" rtlCol="0">
            <a:spAutoFit/>
          </a:bodyPr>
          <a:lstStyle/>
          <a:p>
            <a:r>
              <a:rPr lang="en-IN" sz="2400" b="1" dirty="0">
                <a:solidFill>
                  <a:schemeClr val="tx2">
                    <a:lumMod val="75000"/>
                  </a:schemeClr>
                </a:solidFill>
                <a:effectLst>
                  <a:outerShdw blurRad="38100" dist="38100" dir="2700000" algn="tl">
                    <a:srgbClr val="000000">
                      <a:alpha val="43137"/>
                    </a:srgbClr>
                  </a:outerShdw>
                </a:effectLst>
              </a:rPr>
              <a:t>Example</a:t>
            </a:r>
            <a:r>
              <a:rPr lang="en-IN" dirty="0"/>
              <a:t>: </a:t>
            </a:r>
          </a:p>
        </p:txBody>
      </p:sp>
      <p:pic>
        <p:nvPicPr>
          <p:cNvPr id="15" name="Picture 14">
            <a:extLst>
              <a:ext uri="{FF2B5EF4-FFF2-40B4-BE49-F238E27FC236}">
                <a16:creationId xmlns:a16="http://schemas.microsoft.com/office/drawing/2014/main" id="{50137364-8088-445B-A93B-C52C0AD0D70D}"/>
              </a:ext>
            </a:extLst>
          </p:cNvPr>
          <p:cNvPicPr>
            <a:picLocks noChangeAspect="1"/>
          </p:cNvPicPr>
          <p:nvPr/>
        </p:nvPicPr>
        <p:blipFill>
          <a:blip r:embed="rId4"/>
          <a:stretch>
            <a:fillRect/>
          </a:stretch>
        </p:blipFill>
        <p:spPr>
          <a:xfrm>
            <a:off x="5855633" y="1741909"/>
            <a:ext cx="6277851" cy="2010056"/>
          </a:xfrm>
          <a:prstGeom prst="rect">
            <a:avLst/>
          </a:prstGeom>
        </p:spPr>
      </p:pic>
    </p:spTree>
    <p:extLst>
      <p:ext uri="{BB962C8B-B14F-4D97-AF65-F5344CB8AC3E}">
        <p14:creationId xmlns:p14="http://schemas.microsoft.com/office/powerpoint/2010/main" val="41414322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63D022-57A7-450F-A3DB-C8616DFFED06}"/>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0A7BC32C-6E61-4EE6-8192-488BD01656DD}"/>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4A023BF8-B27B-4A7F-9E55-4E819571E21A}"/>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5735BEC0-EE07-4DA0-AE57-C7A156EF1F40}"/>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622FAC16-512B-414F-8A6B-C55348E9EF22}"/>
              </a:ext>
            </a:extLst>
          </p:cNvPr>
          <p:cNvSpPr/>
          <p:nvPr/>
        </p:nvSpPr>
        <p:spPr>
          <a:xfrm>
            <a:off x="426720" y="10131"/>
            <a:ext cx="11338560" cy="914400"/>
          </a:xfrm>
          <a:prstGeom prst="rect">
            <a:avLst/>
          </a:prstGeom>
          <a:noFill/>
          <a:ln/>
        </p:spPr>
        <p:txBody>
          <a:bodyPr wrap="square" rtlCol="0" anchor="ctr"/>
          <a:lstStyle/>
          <a:p>
            <a:endParaRPr lang="en-US" sz="2800" dirty="0">
              <a:solidFill>
                <a:srgbClr val="002060"/>
              </a:solidFill>
            </a:endParaRPr>
          </a:p>
        </p:txBody>
      </p:sp>
      <p:sp>
        <p:nvSpPr>
          <p:cNvPr id="7" name="TextBox 6">
            <a:extLst>
              <a:ext uri="{FF2B5EF4-FFF2-40B4-BE49-F238E27FC236}">
                <a16:creationId xmlns:a16="http://schemas.microsoft.com/office/drawing/2014/main" id="{BC198360-EFA8-4390-AE25-4B6AAA7EC6A2}"/>
              </a:ext>
            </a:extLst>
          </p:cNvPr>
          <p:cNvSpPr txBox="1"/>
          <p:nvPr/>
        </p:nvSpPr>
        <p:spPr>
          <a:xfrm>
            <a:off x="-1" y="155722"/>
            <a:ext cx="8854289" cy="523220"/>
          </a:xfrm>
          <a:prstGeom prst="rect">
            <a:avLst/>
          </a:prstGeom>
          <a:noFill/>
        </p:spPr>
        <p:txBody>
          <a:bodyPr wrap="square" rtlCol="0">
            <a:spAutoFit/>
          </a:bodyPr>
          <a:lstStyle/>
          <a:p>
            <a:r>
              <a:rPr lang="en-US" sz="2800" b="1" dirty="0">
                <a:solidFill>
                  <a:schemeClr val="accent1">
                    <a:lumMod val="75000"/>
                  </a:schemeClr>
                </a:solidFill>
                <a:effectLst>
                  <a:outerShdw blurRad="38100" dist="38100" dir="2700000" algn="tl">
                    <a:srgbClr val="000000">
                      <a:alpha val="43137"/>
                    </a:srgbClr>
                  </a:outerShdw>
                </a:effectLst>
              </a:rPr>
              <a:t>DATA PREPROCESSING AND EDA</a:t>
            </a:r>
            <a:endParaRPr lang="en-IN" sz="2800" b="1" dirty="0">
              <a:solidFill>
                <a:schemeClr val="accent1">
                  <a:lumMod val="75000"/>
                </a:schemeClr>
              </a:solidFill>
              <a:effectLst>
                <a:outerShdw blurRad="38100" dist="38100" dir="2700000" algn="tl">
                  <a:srgbClr val="000000">
                    <a:alpha val="43137"/>
                  </a:srgbClr>
                </a:outerShdw>
              </a:effectLst>
            </a:endParaRPr>
          </a:p>
        </p:txBody>
      </p:sp>
      <p:sp>
        <p:nvSpPr>
          <p:cNvPr id="9" name="Rectangle 1">
            <a:extLst>
              <a:ext uri="{FF2B5EF4-FFF2-40B4-BE49-F238E27FC236}">
                <a16:creationId xmlns:a16="http://schemas.microsoft.com/office/drawing/2014/main" id="{3A5DE014-46E4-498A-9101-3D1A2B6FF029}"/>
              </a:ext>
            </a:extLst>
          </p:cNvPr>
          <p:cNvSpPr>
            <a:spLocks noChangeArrowheads="1"/>
          </p:cNvSpPr>
          <p:nvPr/>
        </p:nvSpPr>
        <p:spPr bwMode="auto">
          <a:xfrm>
            <a:off x="0" y="1360879"/>
            <a:ext cx="11765280" cy="1461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outerShdw blurRad="38100" dist="38100" dir="2700000" algn="tl">
                    <a:srgbClr val="000000">
                      <a:alpha val="43137"/>
                    </a:srgbClr>
                  </a:outerShdw>
                </a:effectLst>
                <a:latin typeface="Google Sans"/>
              </a:rPr>
              <a:t>Train-Test Split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Google Sans Text"/>
              </a:rPr>
              <a:t>As we discussed earlier, you never want your model to take its final exam using the exact same questions it studied. You split your data to evaluate it fairly.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Google Sans Text"/>
              </a:rPr>
              <a:t>Using train_test_split from sklearn, you shuffle and cut your features ($X$) and labels ($y$) simultaneously.</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12" name="TextBox 11">
            <a:extLst>
              <a:ext uri="{FF2B5EF4-FFF2-40B4-BE49-F238E27FC236}">
                <a16:creationId xmlns:a16="http://schemas.microsoft.com/office/drawing/2014/main" id="{26F09296-C9EA-490F-A6F9-34944B5157AC}"/>
              </a:ext>
            </a:extLst>
          </p:cNvPr>
          <p:cNvSpPr txBox="1"/>
          <p:nvPr/>
        </p:nvSpPr>
        <p:spPr>
          <a:xfrm>
            <a:off x="0" y="3344837"/>
            <a:ext cx="10715348" cy="369332"/>
          </a:xfrm>
          <a:prstGeom prst="rect">
            <a:avLst/>
          </a:prstGeom>
          <a:noFill/>
        </p:spPr>
        <p:txBody>
          <a:bodyPr wrap="square" rtlCol="0">
            <a:spAutoFit/>
          </a:bodyPr>
          <a:lstStyle/>
          <a:p>
            <a:r>
              <a:rPr lang="en-IN" b="1" dirty="0">
                <a:effectLst>
                  <a:outerShdw blurRad="38100" dist="38100" dir="2700000" algn="tl">
                    <a:srgbClr val="000000">
                      <a:alpha val="43137"/>
                    </a:srgbClr>
                  </a:outerShdw>
                </a:effectLst>
              </a:rPr>
              <a:t>Example: </a:t>
            </a:r>
          </a:p>
        </p:txBody>
      </p:sp>
      <p:sp>
        <p:nvSpPr>
          <p:cNvPr id="17" name="TextBox 16">
            <a:extLst>
              <a:ext uri="{FF2B5EF4-FFF2-40B4-BE49-F238E27FC236}">
                <a16:creationId xmlns:a16="http://schemas.microsoft.com/office/drawing/2014/main" id="{C936AAF6-8CA7-4A42-B5F9-DC907726FD61}"/>
              </a:ext>
            </a:extLst>
          </p:cNvPr>
          <p:cNvSpPr txBox="1"/>
          <p:nvPr/>
        </p:nvSpPr>
        <p:spPr>
          <a:xfrm>
            <a:off x="5337846" y="977190"/>
            <a:ext cx="7090891" cy="369332"/>
          </a:xfrm>
          <a:prstGeom prst="rect">
            <a:avLst/>
          </a:prstGeom>
          <a:noFill/>
        </p:spPr>
        <p:txBody>
          <a:bodyPr wrap="square" rtlCol="0">
            <a:spAutoFit/>
          </a:bodyPr>
          <a:lstStyle/>
          <a:p>
            <a:r>
              <a:rPr lang="en-US" dirty="0"/>
              <a:t>.</a:t>
            </a:r>
          </a:p>
        </p:txBody>
      </p:sp>
      <p:pic>
        <p:nvPicPr>
          <p:cNvPr id="19" name="Picture 18">
            <a:extLst>
              <a:ext uri="{FF2B5EF4-FFF2-40B4-BE49-F238E27FC236}">
                <a16:creationId xmlns:a16="http://schemas.microsoft.com/office/drawing/2014/main" id="{68267885-B2DE-4B1E-84B8-7F74E08943F7}"/>
              </a:ext>
            </a:extLst>
          </p:cNvPr>
          <p:cNvPicPr>
            <a:picLocks noChangeAspect="1"/>
          </p:cNvPicPr>
          <p:nvPr/>
        </p:nvPicPr>
        <p:blipFill>
          <a:blip r:embed="rId4"/>
          <a:stretch>
            <a:fillRect/>
          </a:stretch>
        </p:blipFill>
        <p:spPr>
          <a:xfrm>
            <a:off x="314142" y="3783998"/>
            <a:ext cx="8243932" cy="2508830"/>
          </a:xfrm>
          <a:prstGeom prst="rect">
            <a:avLst/>
          </a:prstGeom>
        </p:spPr>
      </p:pic>
    </p:spTree>
    <p:extLst>
      <p:ext uri="{BB962C8B-B14F-4D97-AF65-F5344CB8AC3E}">
        <p14:creationId xmlns:p14="http://schemas.microsoft.com/office/powerpoint/2010/main" val="40640701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63D022-57A7-450F-A3DB-C8616DFFED06}"/>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0A7BC32C-6E61-4EE6-8192-488BD01656DD}"/>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4A023BF8-B27B-4A7F-9E55-4E819571E21A}"/>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5735BEC0-EE07-4DA0-AE57-C7A156EF1F40}"/>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622FAC16-512B-414F-8A6B-C55348E9EF22}"/>
              </a:ext>
            </a:extLst>
          </p:cNvPr>
          <p:cNvSpPr/>
          <p:nvPr/>
        </p:nvSpPr>
        <p:spPr>
          <a:xfrm>
            <a:off x="64511" y="62606"/>
            <a:ext cx="11338560" cy="914400"/>
          </a:xfrm>
          <a:prstGeom prst="rect">
            <a:avLst/>
          </a:prstGeom>
          <a:noFill/>
          <a:ln/>
        </p:spPr>
        <p:txBody>
          <a:bodyPr wrap="square" rtlCol="0" anchor="ctr"/>
          <a:lstStyle/>
          <a:p>
            <a:r>
              <a:rPr lang="en-US" sz="2800" b="1" dirty="0">
                <a:solidFill>
                  <a:schemeClr val="accent1">
                    <a:lumMod val="75000"/>
                  </a:schemeClr>
                </a:solidFill>
                <a:effectLst>
                  <a:outerShdw blurRad="38100" dist="38100" dir="2700000" algn="tl">
                    <a:srgbClr val="000000">
                      <a:alpha val="43137"/>
                    </a:srgbClr>
                  </a:outerShdw>
                </a:effectLst>
              </a:rPr>
              <a:t>DATA PREPROCESSING AND EDA</a:t>
            </a:r>
            <a:endParaRPr lang="en-IN" sz="2800" b="1" dirty="0">
              <a:solidFill>
                <a:schemeClr val="accent1">
                  <a:lumMod val="75000"/>
                </a:schemeClr>
              </a:solidFill>
              <a:effectLst>
                <a:outerShdw blurRad="38100" dist="38100" dir="2700000" algn="tl">
                  <a:srgbClr val="000000">
                    <a:alpha val="43137"/>
                  </a:srgbClr>
                </a:outerShdw>
              </a:effectLst>
            </a:endParaRPr>
          </a:p>
          <a:p>
            <a:endParaRPr lang="en-US" sz="2800" dirty="0">
              <a:solidFill>
                <a:srgbClr val="002060"/>
              </a:solidFill>
            </a:endParaRPr>
          </a:p>
        </p:txBody>
      </p:sp>
      <p:sp>
        <p:nvSpPr>
          <p:cNvPr id="9" name="TextBox 8">
            <a:extLst>
              <a:ext uri="{FF2B5EF4-FFF2-40B4-BE49-F238E27FC236}">
                <a16:creationId xmlns:a16="http://schemas.microsoft.com/office/drawing/2014/main" id="{0EC13F08-3756-46D8-A831-E7F0FC46FA20}"/>
              </a:ext>
            </a:extLst>
          </p:cNvPr>
          <p:cNvSpPr txBox="1"/>
          <p:nvPr/>
        </p:nvSpPr>
        <p:spPr>
          <a:xfrm>
            <a:off x="178145" y="959159"/>
            <a:ext cx="11949344" cy="2031325"/>
          </a:xfrm>
          <a:prstGeom prst="rect">
            <a:avLst/>
          </a:prstGeom>
          <a:noFill/>
        </p:spPr>
        <p:txBody>
          <a:bodyPr wrap="square" rtlCol="0">
            <a:spAutoFit/>
          </a:bodyPr>
          <a:lstStyle/>
          <a:p>
            <a:r>
              <a:rPr lang="en-US" b="1" dirty="0">
                <a:effectLst>
                  <a:outerShdw blurRad="38100" dist="38100" dir="2700000" algn="tl">
                    <a:srgbClr val="000000">
                      <a:alpha val="43137"/>
                    </a:srgbClr>
                  </a:outerShdw>
                </a:effectLst>
              </a:rPr>
              <a:t>Exploratory Data Analysis (EDA) with Seaborn/Matplotlib</a:t>
            </a:r>
          </a:p>
          <a:p>
            <a:endParaRPr lang="en-US" b="1" dirty="0">
              <a:effectLst>
                <a:outerShdw blurRad="38100" dist="38100" dir="2700000" algn="tl">
                  <a:srgbClr val="000000">
                    <a:alpha val="43137"/>
                  </a:srgbClr>
                </a:outerShdw>
              </a:effectLst>
            </a:endParaRPr>
          </a:p>
          <a:p>
            <a:r>
              <a:rPr lang="en-US" dirty="0"/>
              <a:t>Before writing a single line of machine learning code, you must look at your data visually to check for trends, outliers, and correlations.</a:t>
            </a:r>
          </a:p>
          <a:p>
            <a:r>
              <a:rPr lang="en-US" b="1" dirty="0">
                <a:solidFill>
                  <a:schemeClr val="accent6">
                    <a:lumMod val="75000"/>
                  </a:schemeClr>
                </a:solidFill>
              </a:rPr>
              <a:t>Matplotlib</a:t>
            </a:r>
            <a:r>
              <a:rPr lang="en-US" dirty="0"/>
              <a:t> is the foundational, low-level plotting engine.</a:t>
            </a:r>
          </a:p>
          <a:p>
            <a:r>
              <a:rPr lang="en-US" b="1" dirty="0">
                <a:solidFill>
                  <a:schemeClr val="accent6">
                    <a:lumMod val="75000"/>
                  </a:schemeClr>
                </a:solidFill>
              </a:rPr>
              <a:t>Seaborn</a:t>
            </a:r>
            <a:r>
              <a:rPr lang="en-US" dirty="0"/>
              <a:t> is built on top of Matplotlib and makes beautiful, complex statistical plots with very little code.</a:t>
            </a:r>
            <a:r>
              <a:rPr lang="en-US" b="1" dirty="0"/>
              <a:t> </a:t>
            </a:r>
          </a:p>
          <a:p>
            <a:endParaRPr lang="en-US" dirty="0"/>
          </a:p>
        </p:txBody>
      </p:sp>
      <p:sp>
        <p:nvSpPr>
          <p:cNvPr id="10" name="TextBox 9">
            <a:extLst>
              <a:ext uri="{FF2B5EF4-FFF2-40B4-BE49-F238E27FC236}">
                <a16:creationId xmlns:a16="http://schemas.microsoft.com/office/drawing/2014/main" id="{05741A4E-E9AF-41D0-8C3E-C8E7E4E24802}"/>
              </a:ext>
            </a:extLst>
          </p:cNvPr>
          <p:cNvSpPr txBox="1"/>
          <p:nvPr/>
        </p:nvSpPr>
        <p:spPr>
          <a:xfrm>
            <a:off x="177553" y="2891114"/>
            <a:ext cx="10697593" cy="1754326"/>
          </a:xfrm>
          <a:prstGeom prst="rect">
            <a:avLst/>
          </a:prstGeom>
          <a:noFill/>
        </p:spPr>
        <p:txBody>
          <a:bodyPr wrap="square" rtlCol="0">
            <a:spAutoFit/>
          </a:bodyPr>
          <a:lstStyle/>
          <a:p>
            <a:r>
              <a:rPr lang="en-US" b="1" dirty="0">
                <a:solidFill>
                  <a:schemeClr val="accent4">
                    <a:lumMod val="75000"/>
                  </a:schemeClr>
                </a:solidFill>
              </a:rPr>
              <a:t>A. Distribution Plot (Histogram)</a:t>
            </a:r>
          </a:p>
          <a:p>
            <a:r>
              <a:rPr lang="en-US" dirty="0"/>
              <a:t>Used to see the spread and skewness of a single continuous variable.</a:t>
            </a:r>
          </a:p>
          <a:p>
            <a:r>
              <a:rPr lang="en-US" b="1" dirty="0">
                <a:solidFill>
                  <a:schemeClr val="accent4">
                    <a:lumMod val="75000"/>
                  </a:schemeClr>
                </a:solidFill>
              </a:rPr>
              <a:t>B. Scatter Plot</a:t>
            </a:r>
          </a:p>
          <a:p>
            <a:r>
              <a:rPr lang="en-US" dirty="0"/>
              <a:t>Used to see the relationship between two continuous variables and find potential clusters or linear trends.</a:t>
            </a:r>
          </a:p>
          <a:p>
            <a:endParaRPr lang="en-US" dirty="0"/>
          </a:p>
          <a:p>
            <a:endParaRPr lang="en-US" b="1" dirty="0"/>
          </a:p>
        </p:txBody>
      </p:sp>
      <p:sp>
        <p:nvSpPr>
          <p:cNvPr id="13" name="Rectangle 3">
            <a:extLst>
              <a:ext uri="{FF2B5EF4-FFF2-40B4-BE49-F238E27FC236}">
                <a16:creationId xmlns:a16="http://schemas.microsoft.com/office/drawing/2014/main" id="{3B160F49-8C96-4551-B794-B93EDAA5A81C}"/>
              </a:ext>
            </a:extLst>
          </p:cNvPr>
          <p:cNvSpPr>
            <a:spLocks noChangeArrowheads="1"/>
          </p:cNvSpPr>
          <p:nvPr/>
        </p:nvSpPr>
        <p:spPr bwMode="auto">
          <a:xfrm>
            <a:off x="177553" y="4066557"/>
            <a:ext cx="1015245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accent4">
                    <a:lumMod val="75000"/>
                  </a:schemeClr>
                </a:solidFill>
                <a:effectLst/>
                <a:latin typeface="Arial" panose="020B0604020202020204" pitchFamily="34" charset="0"/>
              </a:rPr>
              <a:t>C. Correlation Heatmap</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Used to check the linear relationship between all numerical variables simultaneously. Values closer to </a:t>
            </a:r>
            <a:r>
              <a:rPr kumimoji="0" lang="en-US" altLang="en-US" b="0" i="0" u="none" strike="noStrike" cap="none" normalizeH="0" baseline="0" dirty="0">
                <a:ln>
                  <a:noFill/>
                </a:ln>
                <a:solidFill>
                  <a:schemeClr val="tx1"/>
                </a:solidFill>
                <a:effectLst/>
                <a:latin typeface="Arial Unicode MS"/>
              </a:rPr>
              <a:t>1</a:t>
            </a:r>
            <a:r>
              <a:rPr kumimoji="0" lang="en-US" altLang="en-US" b="0" i="0" u="none" strike="noStrike" cap="none" normalizeH="0" baseline="0" dirty="0">
                <a:ln>
                  <a:noFill/>
                </a:ln>
                <a:solidFill>
                  <a:schemeClr val="tx1"/>
                </a:solidFill>
                <a:effectLst/>
              </a:rPr>
              <a:t> or </a:t>
            </a:r>
            <a:r>
              <a:rPr kumimoji="0" lang="en-US" altLang="en-US" b="0" i="0" u="none" strike="noStrike" cap="none" normalizeH="0" baseline="0" dirty="0">
                <a:ln>
                  <a:noFill/>
                </a:ln>
                <a:solidFill>
                  <a:schemeClr val="tx1"/>
                </a:solidFill>
                <a:effectLst/>
                <a:latin typeface="Arial Unicode MS"/>
              </a:rPr>
              <a:t>-1</a:t>
            </a:r>
            <a:r>
              <a:rPr kumimoji="0" lang="en-US" altLang="en-US" b="0" i="0" u="none" strike="noStrike" cap="none" normalizeH="0" baseline="0" dirty="0">
                <a:ln>
                  <a:noFill/>
                </a:ln>
                <a:solidFill>
                  <a:schemeClr val="tx1"/>
                </a:solidFill>
                <a:effectLst/>
              </a:rPr>
              <a:t> indicate a strong correlation, which helps you identify which features might be strong predictors for your target label.</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551628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63D022-57A7-450F-A3DB-C8616DFFED06}"/>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0A7BC32C-6E61-4EE6-8192-488BD01656DD}"/>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4A023BF8-B27B-4A7F-9E55-4E819571E21A}"/>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5735BEC0-EE07-4DA0-AE57-C7A156EF1F40}"/>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622FAC16-512B-414F-8A6B-C55348E9EF22}"/>
              </a:ext>
            </a:extLst>
          </p:cNvPr>
          <p:cNvSpPr/>
          <p:nvPr/>
        </p:nvSpPr>
        <p:spPr>
          <a:xfrm>
            <a:off x="426720" y="-34257"/>
            <a:ext cx="11338560" cy="914400"/>
          </a:xfrm>
          <a:prstGeom prst="rect">
            <a:avLst/>
          </a:prstGeom>
          <a:noFill/>
          <a:ln/>
        </p:spPr>
        <p:txBody>
          <a:bodyPr wrap="square" rtlCol="0" anchor="ctr"/>
          <a:lstStyle/>
          <a:p>
            <a:endParaRPr lang="en-US" sz="2800" dirty="0">
              <a:solidFill>
                <a:srgbClr val="002060"/>
              </a:solidFill>
            </a:endParaRPr>
          </a:p>
        </p:txBody>
      </p:sp>
      <p:sp>
        <p:nvSpPr>
          <p:cNvPr id="7" name="TextBox 6">
            <a:extLst>
              <a:ext uri="{FF2B5EF4-FFF2-40B4-BE49-F238E27FC236}">
                <a16:creationId xmlns:a16="http://schemas.microsoft.com/office/drawing/2014/main" id="{CCFCCAF3-1F71-4A96-AEE0-8D3EE98E0C49}"/>
              </a:ext>
            </a:extLst>
          </p:cNvPr>
          <p:cNvSpPr txBox="1"/>
          <p:nvPr/>
        </p:nvSpPr>
        <p:spPr>
          <a:xfrm>
            <a:off x="0" y="120228"/>
            <a:ext cx="10800247" cy="523220"/>
          </a:xfrm>
          <a:prstGeom prst="rect">
            <a:avLst/>
          </a:prstGeom>
          <a:noFill/>
        </p:spPr>
        <p:txBody>
          <a:bodyPr wrap="square" rtlCol="0">
            <a:spAutoFit/>
          </a:bodyPr>
          <a:lstStyle/>
          <a:p>
            <a:r>
              <a:rPr lang="en-US" sz="2800" b="1" dirty="0">
                <a:solidFill>
                  <a:schemeClr val="accent1">
                    <a:lumMod val="75000"/>
                  </a:schemeClr>
                </a:solidFill>
                <a:effectLst>
                  <a:outerShdw blurRad="38100" dist="38100" dir="2700000" algn="tl">
                    <a:srgbClr val="000000">
                      <a:alpha val="43137"/>
                    </a:srgbClr>
                  </a:outerShdw>
                </a:effectLst>
              </a:rPr>
              <a:t>LINEAR AND LOGISTIC REGRESSION</a:t>
            </a:r>
            <a:endParaRPr lang="en-IN" sz="2800" b="1" dirty="0">
              <a:solidFill>
                <a:schemeClr val="accent1">
                  <a:lumMod val="75000"/>
                </a:schemeClr>
              </a:solidFill>
              <a:effectLst>
                <a:outerShdw blurRad="38100" dist="38100" dir="2700000" algn="tl">
                  <a:srgbClr val="000000">
                    <a:alpha val="43137"/>
                  </a:srgbClr>
                </a:outerShdw>
              </a:effectLst>
            </a:endParaRPr>
          </a:p>
        </p:txBody>
      </p:sp>
      <p:sp>
        <p:nvSpPr>
          <p:cNvPr id="15" name="TextBox 14">
            <a:extLst>
              <a:ext uri="{FF2B5EF4-FFF2-40B4-BE49-F238E27FC236}">
                <a16:creationId xmlns:a16="http://schemas.microsoft.com/office/drawing/2014/main" id="{B9FD5C75-9750-4AAE-929D-6795AC02D4E6}"/>
              </a:ext>
            </a:extLst>
          </p:cNvPr>
          <p:cNvSpPr txBox="1"/>
          <p:nvPr/>
        </p:nvSpPr>
        <p:spPr>
          <a:xfrm>
            <a:off x="142043" y="2538126"/>
            <a:ext cx="2298403" cy="369332"/>
          </a:xfrm>
          <a:prstGeom prst="rect">
            <a:avLst/>
          </a:prstGeom>
          <a:noFill/>
        </p:spPr>
        <p:txBody>
          <a:bodyPr wrap="square" rtlCol="0">
            <a:spAutoFit/>
          </a:bodyPr>
          <a:lstStyle/>
          <a:p>
            <a:endParaRPr lang="en-IN" dirty="0"/>
          </a:p>
        </p:txBody>
      </p:sp>
      <p:sp>
        <p:nvSpPr>
          <p:cNvPr id="16" name="Rectangle 3">
            <a:extLst>
              <a:ext uri="{FF2B5EF4-FFF2-40B4-BE49-F238E27FC236}">
                <a16:creationId xmlns:a16="http://schemas.microsoft.com/office/drawing/2014/main" id="{7020FA52-0DD3-4E2E-A7DD-F4EE7D481F6E}"/>
              </a:ext>
            </a:extLst>
          </p:cNvPr>
          <p:cNvSpPr>
            <a:spLocks noChangeArrowheads="1"/>
          </p:cNvSpPr>
          <p:nvPr/>
        </p:nvSpPr>
        <p:spPr bwMode="auto">
          <a:xfrm>
            <a:off x="204189" y="999345"/>
            <a:ext cx="4820575" cy="2816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outerShdw blurRad="38100" dist="38100" dir="2700000" algn="tl">
                    <a:srgbClr val="000000">
                      <a:alpha val="43137"/>
                    </a:srgbClr>
                  </a:outerShdw>
                </a:effectLst>
                <a:latin typeface="Google Sans"/>
              </a:rPr>
              <a:t>Linear Regression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accent6">
                  <a:lumMod val="75000"/>
                </a:schemeClr>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accent6">
                    <a:lumMod val="75000"/>
                  </a:schemeClr>
                </a:solidFill>
                <a:effectLst/>
                <a:latin typeface="Google Sans"/>
              </a:rPr>
              <a:t>The Cost Function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Google Sans Text"/>
              </a:rPr>
              <a:t>To find the best-fitting line, we need to measure how "wrong" our model's predictions are. We use the </a:t>
            </a:r>
            <a:r>
              <a:rPr kumimoji="0" lang="en-US" altLang="en-US" b="1" i="0" u="none" strike="noStrike" cap="none" normalizeH="0" baseline="0" dirty="0">
                <a:ln>
                  <a:noFill/>
                </a:ln>
                <a:solidFill>
                  <a:schemeClr val="tx1"/>
                </a:solidFill>
                <a:effectLst/>
                <a:latin typeface="Google Sans Text"/>
              </a:rPr>
              <a:t>Mean Squared Error (MSE)</a:t>
            </a:r>
            <a:r>
              <a:rPr kumimoji="0" lang="en-US" altLang="en-US" b="0" i="0" u="none" strike="noStrike" cap="none" normalizeH="0" baseline="0" dirty="0">
                <a:ln>
                  <a:noFill/>
                </a:ln>
                <a:solidFill>
                  <a:schemeClr val="tx1"/>
                </a:solidFill>
                <a:effectLst/>
                <a:latin typeface="Google Sans Text"/>
              </a:rPr>
              <a:t> as the cost function, often denoted as $J(\theta)$.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20" name="Picture 19">
            <a:extLst>
              <a:ext uri="{FF2B5EF4-FFF2-40B4-BE49-F238E27FC236}">
                <a16:creationId xmlns:a16="http://schemas.microsoft.com/office/drawing/2014/main" id="{0410930A-60C7-40A6-8007-1EFCD05775FE}"/>
              </a:ext>
            </a:extLst>
          </p:cNvPr>
          <p:cNvPicPr>
            <a:picLocks noChangeAspect="1"/>
          </p:cNvPicPr>
          <p:nvPr/>
        </p:nvPicPr>
        <p:blipFill>
          <a:blip r:embed="rId4"/>
          <a:stretch>
            <a:fillRect/>
          </a:stretch>
        </p:blipFill>
        <p:spPr>
          <a:xfrm>
            <a:off x="204189" y="3662138"/>
            <a:ext cx="3734321" cy="938092"/>
          </a:xfrm>
          <a:prstGeom prst="rect">
            <a:avLst/>
          </a:prstGeom>
        </p:spPr>
      </p:pic>
      <p:sp>
        <p:nvSpPr>
          <p:cNvPr id="21" name="TextBox 20">
            <a:extLst>
              <a:ext uri="{FF2B5EF4-FFF2-40B4-BE49-F238E27FC236}">
                <a16:creationId xmlns:a16="http://schemas.microsoft.com/office/drawing/2014/main" id="{8F633F8E-B51E-4F6D-AC5A-DED9201007D4}"/>
              </a:ext>
            </a:extLst>
          </p:cNvPr>
          <p:cNvSpPr txBox="1"/>
          <p:nvPr/>
        </p:nvSpPr>
        <p:spPr>
          <a:xfrm>
            <a:off x="2012009" y="935837"/>
            <a:ext cx="9830640" cy="646331"/>
          </a:xfrm>
          <a:prstGeom prst="rect">
            <a:avLst/>
          </a:prstGeom>
          <a:noFill/>
        </p:spPr>
        <p:txBody>
          <a:bodyPr wrap="none" rtlCol="0">
            <a:spAutoFit/>
          </a:bodyPr>
          <a:lstStyle/>
          <a:p>
            <a:r>
              <a:rPr lang="en-US" altLang="en-US" dirty="0">
                <a:latin typeface="Google Sans Text"/>
              </a:rPr>
              <a:t>Linear Regression is used to predict a continuous numeric value (like housing prices or stock trends) by </a:t>
            </a:r>
          </a:p>
          <a:p>
            <a:r>
              <a:rPr lang="en-US" altLang="en-US" dirty="0">
                <a:latin typeface="Google Sans Text"/>
              </a:rPr>
              <a:t>fitting a straight line to the data points</a:t>
            </a:r>
            <a:endParaRPr lang="en-IN" dirty="0"/>
          </a:p>
        </p:txBody>
      </p:sp>
      <p:sp>
        <p:nvSpPr>
          <p:cNvPr id="25" name="TextBox 24">
            <a:extLst>
              <a:ext uri="{FF2B5EF4-FFF2-40B4-BE49-F238E27FC236}">
                <a16:creationId xmlns:a16="http://schemas.microsoft.com/office/drawing/2014/main" id="{C445457A-373D-415F-B5AE-E247D0821F56}"/>
              </a:ext>
            </a:extLst>
          </p:cNvPr>
          <p:cNvSpPr txBox="1"/>
          <p:nvPr/>
        </p:nvSpPr>
        <p:spPr>
          <a:xfrm>
            <a:off x="5561780" y="1799462"/>
            <a:ext cx="5743852" cy="1477328"/>
          </a:xfrm>
          <a:prstGeom prst="rect">
            <a:avLst/>
          </a:prstGeom>
          <a:noFill/>
        </p:spPr>
        <p:txBody>
          <a:bodyPr wrap="square" rtlCol="0">
            <a:spAutoFit/>
          </a:bodyPr>
          <a:lstStyle/>
          <a:p>
            <a:r>
              <a:rPr lang="en-US" b="1" dirty="0">
                <a:solidFill>
                  <a:schemeClr val="accent6">
                    <a:lumMod val="75000"/>
                  </a:schemeClr>
                </a:solidFill>
              </a:rPr>
              <a:t>Gradient Descent</a:t>
            </a:r>
          </a:p>
          <a:p>
            <a:r>
              <a:rPr lang="en-US" dirty="0"/>
              <a:t>Gradient Descent is the optimization algorithm used to minimize the cost function. It calculates the gradient (slope) of the cost function and takes small steps downward until it reaches the minimum error.</a:t>
            </a:r>
          </a:p>
        </p:txBody>
      </p:sp>
      <p:pic>
        <p:nvPicPr>
          <p:cNvPr id="27" name="Picture 26">
            <a:extLst>
              <a:ext uri="{FF2B5EF4-FFF2-40B4-BE49-F238E27FC236}">
                <a16:creationId xmlns:a16="http://schemas.microsoft.com/office/drawing/2014/main" id="{C09FE0F3-6A20-4B39-B967-A4A2A8FA8831}"/>
              </a:ext>
            </a:extLst>
          </p:cNvPr>
          <p:cNvPicPr>
            <a:picLocks noChangeAspect="1"/>
          </p:cNvPicPr>
          <p:nvPr/>
        </p:nvPicPr>
        <p:blipFill>
          <a:blip r:embed="rId5"/>
          <a:stretch>
            <a:fillRect/>
          </a:stretch>
        </p:blipFill>
        <p:spPr>
          <a:xfrm>
            <a:off x="5699474" y="3662138"/>
            <a:ext cx="3172268" cy="1057423"/>
          </a:xfrm>
          <a:prstGeom prst="rect">
            <a:avLst/>
          </a:prstGeom>
        </p:spPr>
      </p:pic>
    </p:spTree>
    <p:extLst>
      <p:ext uri="{BB962C8B-B14F-4D97-AF65-F5344CB8AC3E}">
        <p14:creationId xmlns:p14="http://schemas.microsoft.com/office/powerpoint/2010/main" val="22495563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63D022-57A7-450F-A3DB-C8616DFFED06}"/>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0A7BC32C-6E61-4EE6-8192-488BD01656DD}"/>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4A023BF8-B27B-4A7F-9E55-4E819571E21A}"/>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5735BEC0-EE07-4DA0-AE57-C7A156EF1F40}"/>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622FAC16-512B-414F-8A6B-C55348E9EF22}"/>
              </a:ext>
            </a:extLst>
          </p:cNvPr>
          <p:cNvSpPr/>
          <p:nvPr/>
        </p:nvSpPr>
        <p:spPr>
          <a:xfrm>
            <a:off x="426720" y="10131"/>
            <a:ext cx="11338560" cy="914400"/>
          </a:xfrm>
          <a:prstGeom prst="rect">
            <a:avLst/>
          </a:prstGeom>
          <a:noFill/>
          <a:ln/>
        </p:spPr>
        <p:txBody>
          <a:bodyPr wrap="square" rtlCol="0" anchor="ctr"/>
          <a:lstStyle/>
          <a:p>
            <a:endParaRPr lang="en-US" sz="2800" dirty="0">
              <a:solidFill>
                <a:srgbClr val="002060"/>
              </a:solidFill>
            </a:endParaRPr>
          </a:p>
        </p:txBody>
      </p:sp>
      <p:sp>
        <p:nvSpPr>
          <p:cNvPr id="8" name="TextBox 7">
            <a:extLst>
              <a:ext uri="{FF2B5EF4-FFF2-40B4-BE49-F238E27FC236}">
                <a16:creationId xmlns:a16="http://schemas.microsoft.com/office/drawing/2014/main" id="{34A9913C-CDB8-47B3-8D77-500C008A4919}"/>
              </a:ext>
            </a:extLst>
          </p:cNvPr>
          <p:cNvSpPr txBox="1"/>
          <p:nvPr/>
        </p:nvSpPr>
        <p:spPr>
          <a:xfrm>
            <a:off x="79899" y="136102"/>
            <a:ext cx="5421164" cy="800219"/>
          </a:xfrm>
          <a:prstGeom prst="rect">
            <a:avLst/>
          </a:prstGeom>
          <a:noFill/>
        </p:spPr>
        <p:txBody>
          <a:bodyPr wrap="none" rtlCol="0">
            <a:spAutoFit/>
          </a:bodyPr>
          <a:lstStyle/>
          <a:p>
            <a:r>
              <a:rPr lang="en-US" sz="2800" b="1" dirty="0">
                <a:solidFill>
                  <a:schemeClr val="accent1">
                    <a:lumMod val="75000"/>
                  </a:schemeClr>
                </a:solidFill>
                <a:effectLst>
                  <a:outerShdw blurRad="38100" dist="38100" dir="2700000" algn="tl">
                    <a:srgbClr val="000000">
                      <a:alpha val="43137"/>
                    </a:srgbClr>
                  </a:outerShdw>
                </a:effectLst>
              </a:rPr>
              <a:t>LINEAR AND LOGISTIC REGRESSION</a:t>
            </a:r>
            <a:endParaRPr lang="en-IN" sz="2800" b="1" dirty="0">
              <a:solidFill>
                <a:schemeClr val="accent1">
                  <a:lumMod val="75000"/>
                </a:schemeClr>
              </a:solidFill>
              <a:effectLst>
                <a:outerShdw blurRad="38100" dist="38100" dir="2700000" algn="tl">
                  <a:srgbClr val="000000">
                    <a:alpha val="43137"/>
                  </a:srgbClr>
                </a:outerShdw>
              </a:effectLst>
            </a:endParaRPr>
          </a:p>
          <a:p>
            <a:endParaRPr lang="en-IN" dirty="0"/>
          </a:p>
        </p:txBody>
      </p:sp>
      <p:sp>
        <p:nvSpPr>
          <p:cNvPr id="10" name="Rectangle 1">
            <a:extLst>
              <a:ext uri="{FF2B5EF4-FFF2-40B4-BE49-F238E27FC236}">
                <a16:creationId xmlns:a16="http://schemas.microsoft.com/office/drawing/2014/main" id="{96B3358E-773F-45FB-A6C4-9C860B4327D1}"/>
              </a:ext>
            </a:extLst>
          </p:cNvPr>
          <p:cNvSpPr>
            <a:spLocks noChangeArrowheads="1"/>
          </p:cNvSpPr>
          <p:nvPr/>
        </p:nvSpPr>
        <p:spPr bwMode="auto">
          <a:xfrm>
            <a:off x="0" y="1100457"/>
            <a:ext cx="5317724" cy="28777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outerShdw blurRad="38100" dist="38100" dir="2700000" algn="tl">
                    <a:srgbClr val="000000">
                      <a:alpha val="43137"/>
                    </a:srgbClr>
                  </a:outerShdw>
                </a:effectLst>
                <a:latin typeface="Google Sans"/>
              </a:rPr>
              <a:t>Regression Metrics</a:t>
            </a:r>
          </a:p>
          <a:p>
            <a:pPr eaLnBrk="0" fontAlgn="base" hangingPunct="0">
              <a:spcBef>
                <a:spcPct val="0"/>
              </a:spcBef>
              <a:spcAft>
                <a:spcPct val="0"/>
              </a:spcAft>
            </a:pPr>
            <a:endParaRPr lang="en-US" altLang="en-US" sz="2000" dirty="0">
              <a:latin typeface="Google Sans Text"/>
            </a:endParaRPr>
          </a:p>
          <a:p>
            <a:endParaRPr lang="en-US" b="1" dirty="0"/>
          </a:p>
          <a:p>
            <a:endParaRPr lang="en-US" b="1" dirty="0"/>
          </a:p>
          <a:p>
            <a:endParaRPr lang="en-US" b="1" dirty="0"/>
          </a:p>
          <a:p>
            <a:r>
              <a:rPr lang="en-US" b="1" dirty="0">
                <a:solidFill>
                  <a:schemeClr val="accent1">
                    <a:lumMod val="75000"/>
                  </a:schemeClr>
                </a:solidFill>
              </a:rPr>
              <a:t>1. Mean Squared Error (MSE)</a:t>
            </a:r>
          </a:p>
          <a:p>
            <a:r>
              <a:rPr lang="en-US" dirty="0"/>
              <a:t>Measures the average squared difference between</a:t>
            </a:r>
          </a:p>
          <a:p>
            <a:r>
              <a:rPr lang="en-US" dirty="0"/>
              <a:t> actual and predicted values.</a:t>
            </a:r>
          </a:p>
          <a:p>
            <a:r>
              <a:rPr lang="en-IN" dirty="0">
                <a:solidFill>
                  <a:srgbClr val="FF0000"/>
                </a:solidFill>
              </a:rPr>
              <a:t>Formula</a:t>
            </a:r>
            <a:r>
              <a:rPr lang="en-IN" dirty="0"/>
              <a:t>: </a:t>
            </a:r>
            <a:endParaRPr lang="en-US"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11" name="Picture 10">
            <a:extLst>
              <a:ext uri="{FF2B5EF4-FFF2-40B4-BE49-F238E27FC236}">
                <a16:creationId xmlns:a16="http://schemas.microsoft.com/office/drawing/2014/main" id="{27CC5F52-88A2-43DB-AA2C-F955B215FD40}"/>
              </a:ext>
            </a:extLst>
          </p:cNvPr>
          <p:cNvPicPr>
            <a:picLocks noChangeAspect="1"/>
          </p:cNvPicPr>
          <p:nvPr/>
        </p:nvPicPr>
        <p:blipFill>
          <a:blip r:embed="rId4"/>
          <a:stretch>
            <a:fillRect/>
          </a:stretch>
        </p:blipFill>
        <p:spPr>
          <a:xfrm>
            <a:off x="1075524" y="3558303"/>
            <a:ext cx="2172003" cy="819264"/>
          </a:xfrm>
          <a:prstGeom prst="rect">
            <a:avLst/>
          </a:prstGeom>
        </p:spPr>
      </p:pic>
      <p:sp>
        <p:nvSpPr>
          <p:cNvPr id="14" name="TextBox 13">
            <a:extLst>
              <a:ext uri="{FF2B5EF4-FFF2-40B4-BE49-F238E27FC236}">
                <a16:creationId xmlns:a16="http://schemas.microsoft.com/office/drawing/2014/main" id="{43F9B2B1-69A9-45A0-89DF-52C73C9B4B95}"/>
              </a:ext>
            </a:extLst>
          </p:cNvPr>
          <p:cNvSpPr txBox="1"/>
          <p:nvPr/>
        </p:nvSpPr>
        <p:spPr>
          <a:xfrm>
            <a:off x="0" y="4780295"/>
            <a:ext cx="4838330" cy="923330"/>
          </a:xfrm>
          <a:prstGeom prst="rect">
            <a:avLst/>
          </a:prstGeom>
          <a:noFill/>
        </p:spPr>
        <p:txBody>
          <a:bodyPr wrap="square" rtlCol="0">
            <a:spAutoFit/>
          </a:bodyPr>
          <a:lstStyle/>
          <a:p>
            <a:r>
              <a:rPr lang="en-US" b="1" dirty="0">
                <a:solidFill>
                  <a:schemeClr val="accent1">
                    <a:lumMod val="75000"/>
                  </a:schemeClr>
                </a:solidFill>
              </a:rPr>
              <a:t>2. Root Mean Squared Error (RMSE)</a:t>
            </a:r>
          </a:p>
          <a:p>
            <a:r>
              <a:rPr lang="en-US" dirty="0"/>
              <a:t>Square root of MSE.</a:t>
            </a:r>
          </a:p>
          <a:p>
            <a:r>
              <a:rPr lang="en-US" dirty="0">
                <a:solidFill>
                  <a:srgbClr val="FF0000"/>
                </a:solidFill>
              </a:rPr>
              <a:t>Formula</a:t>
            </a:r>
            <a:r>
              <a:rPr lang="en-US" dirty="0"/>
              <a:t>:     </a:t>
            </a:r>
          </a:p>
        </p:txBody>
      </p:sp>
      <p:pic>
        <p:nvPicPr>
          <p:cNvPr id="15" name="Picture 14">
            <a:extLst>
              <a:ext uri="{FF2B5EF4-FFF2-40B4-BE49-F238E27FC236}">
                <a16:creationId xmlns:a16="http://schemas.microsoft.com/office/drawing/2014/main" id="{3B301EF4-A56F-4091-9009-9D654068EF5F}"/>
              </a:ext>
            </a:extLst>
          </p:cNvPr>
          <p:cNvPicPr>
            <a:picLocks noChangeAspect="1"/>
          </p:cNvPicPr>
          <p:nvPr/>
        </p:nvPicPr>
        <p:blipFill>
          <a:blip r:embed="rId5"/>
          <a:stretch>
            <a:fillRect/>
          </a:stretch>
        </p:blipFill>
        <p:spPr>
          <a:xfrm>
            <a:off x="1161479" y="5703625"/>
            <a:ext cx="1629002" cy="512699"/>
          </a:xfrm>
          <a:prstGeom prst="rect">
            <a:avLst/>
          </a:prstGeom>
        </p:spPr>
      </p:pic>
      <p:sp>
        <p:nvSpPr>
          <p:cNvPr id="17" name="TextBox 16">
            <a:extLst>
              <a:ext uri="{FF2B5EF4-FFF2-40B4-BE49-F238E27FC236}">
                <a16:creationId xmlns:a16="http://schemas.microsoft.com/office/drawing/2014/main" id="{B35C06D8-9E3A-4CF9-A03B-182EEDC55920}"/>
              </a:ext>
            </a:extLst>
          </p:cNvPr>
          <p:cNvSpPr txBox="1"/>
          <p:nvPr/>
        </p:nvSpPr>
        <p:spPr>
          <a:xfrm>
            <a:off x="79900" y="1411550"/>
            <a:ext cx="11993731" cy="923330"/>
          </a:xfrm>
          <a:prstGeom prst="rect">
            <a:avLst/>
          </a:prstGeom>
          <a:noFill/>
        </p:spPr>
        <p:txBody>
          <a:bodyPr wrap="square" rtlCol="0">
            <a:spAutoFit/>
          </a:bodyPr>
          <a:lstStyle/>
          <a:p>
            <a:pPr eaLnBrk="0" fontAlgn="base" hangingPunct="0">
              <a:spcBef>
                <a:spcPct val="0"/>
              </a:spcBef>
              <a:spcAft>
                <a:spcPct val="0"/>
              </a:spcAft>
            </a:pPr>
            <a:r>
              <a:rPr lang="en-US" altLang="en-US" dirty="0">
                <a:latin typeface="Google Sans Text"/>
              </a:rPr>
              <a:t>To evaluate how well a </a:t>
            </a:r>
            <a:r>
              <a:rPr lang="en-US" altLang="en-US" b="1" dirty="0">
                <a:latin typeface="Google Sans Text"/>
              </a:rPr>
              <a:t>Linear Regression</a:t>
            </a:r>
            <a:r>
              <a:rPr lang="en-US" altLang="en-US" dirty="0">
                <a:latin typeface="Google Sans Text"/>
              </a:rPr>
              <a:t> model is performing, we measure the distance between the predicted values (X) and the actual values (y).</a:t>
            </a:r>
          </a:p>
          <a:p>
            <a:pPr eaLnBrk="0" fontAlgn="base" hangingPunct="0">
              <a:spcBef>
                <a:spcPct val="0"/>
              </a:spcBef>
              <a:spcAft>
                <a:spcPct val="0"/>
              </a:spcAft>
            </a:pPr>
            <a:endParaRPr lang="en-US" altLang="en-US" dirty="0">
              <a:latin typeface="Google Sans Text"/>
            </a:endParaRPr>
          </a:p>
        </p:txBody>
      </p:sp>
      <p:sp>
        <p:nvSpPr>
          <p:cNvPr id="18" name="TextBox 17">
            <a:extLst>
              <a:ext uri="{FF2B5EF4-FFF2-40B4-BE49-F238E27FC236}">
                <a16:creationId xmlns:a16="http://schemas.microsoft.com/office/drawing/2014/main" id="{FF553B4C-07B8-4632-BE34-67FE587D7473}"/>
              </a:ext>
            </a:extLst>
          </p:cNvPr>
          <p:cNvSpPr txBox="1"/>
          <p:nvPr/>
        </p:nvSpPr>
        <p:spPr>
          <a:xfrm>
            <a:off x="5584054" y="2354928"/>
            <a:ext cx="6039183" cy="1477328"/>
          </a:xfrm>
          <a:prstGeom prst="rect">
            <a:avLst/>
          </a:prstGeom>
          <a:noFill/>
        </p:spPr>
        <p:txBody>
          <a:bodyPr wrap="square" rtlCol="0">
            <a:spAutoFit/>
          </a:bodyPr>
          <a:lstStyle/>
          <a:p>
            <a:r>
              <a:rPr lang="en-US" b="1" dirty="0">
                <a:solidFill>
                  <a:schemeClr val="accent1">
                    <a:lumMod val="75000"/>
                  </a:schemeClr>
                </a:solidFill>
              </a:rPr>
              <a:t>3.R² Score (Coefficient of Determination)</a:t>
            </a:r>
          </a:p>
          <a:p>
            <a:r>
              <a:rPr lang="en-US" dirty="0"/>
              <a:t>Measures how well the regression model explains the variation in the data.</a:t>
            </a:r>
          </a:p>
          <a:p>
            <a:r>
              <a:rPr lang="en-US" dirty="0">
                <a:solidFill>
                  <a:srgbClr val="FF0000"/>
                </a:solidFill>
              </a:rPr>
              <a:t>Formula</a:t>
            </a:r>
            <a:r>
              <a:rPr lang="en-US" dirty="0"/>
              <a:t>:</a:t>
            </a:r>
          </a:p>
          <a:p>
            <a:endParaRPr lang="en-IN" dirty="0"/>
          </a:p>
        </p:txBody>
      </p:sp>
      <p:pic>
        <p:nvPicPr>
          <p:cNvPr id="19" name="Picture 18">
            <a:extLst>
              <a:ext uri="{FF2B5EF4-FFF2-40B4-BE49-F238E27FC236}">
                <a16:creationId xmlns:a16="http://schemas.microsoft.com/office/drawing/2014/main" id="{8FC55D9B-E285-47A3-990A-0F74038CA0A0}"/>
              </a:ext>
            </a:extLst>
          </p:cNvPr>
          <p:cNvPicPr>
            <a:picLocks noChangeAspect="1"/>
          </p:cNvPicPr>
          <p:nvPr/>
        </p:nvPicPr>
        <p:blipFill>
          <a:blip r:embed="rId6"/>
          <a:stretch>
            <a:fillRect/>
          </a:stretch>
        </p:blipFill>
        <p:spPr>
          <a:xfrm>
            <a:off x="7089301" y="3307222"/>
            <a:ext cx="1724266" cy="800212"/>
          </a:xfrm>
          <a:prstGeom prst="rect">
            <a:avLst/>
          </a:prstGeom>
        </p:spPr>
      </p:pic>
      <p:sp>
        <p:nvSpPr>
          <p:cNvPr id="22" name="TextBox 21">
            <a:extLst>
              <a:ext uri="{FF2B5EF4-FFF2-40B4-BE49-F238E27FC236}">
                <a16:creationId xmlns:a16="http://schemas.microsoft.com/office/drawing/2014/main" id="{027F22E2-DCA6-41CB-9321-B2AD82FCDA4A}"/>
              </a:ext>
            </a:extLst>
          </p:cNvPr>
          <p:cNvSpPr txBox="1"/>
          <p:nvPr/>
        </p:nvSpPr>
        <p:spPr>
          <a:xfrm>
            <a:off x="5584054" y="4622344"/>
            <a:ext cx="5619565" cy="923330"/>
          </a:xfrm>
          <a:prstGeom prst="rect">
            <a:avLst/>
          </a:prstGeom>
          <a:noFill/>
        </p:spPr>
        <p:txBody>
          <a:bodyPr wrap="square" rtlCol="0">
            <a:spAutoFit/>
          </a:bodyPr>
          <a:lstStyle/>
          <a:p>
            <a:r>
              <a:rPr lang="en-US" b="1" dirty="0">
                <a:solidFill>
                  <a:schemeClr val="accent1">
                    <a:lumMod val="75000"/>
                  </a:schemeClr>
                </a:solidFill>
              </a:rPr>
              <a:t>4. Accuracy</a:t>
            </a:r>
          </a:p>
          <a:p>
            <a:r>
              <a:rPr lang="en-US" dirty="0"/>
              <a:t>Percentage of correctly classified instances. </a:t>
            </a:r>
          </a:p>
          <a:p>
            <a:r>
              <a:rPr lang="en-US" dirty="0">
                <a:solidFill>
                  <a:srgbClr val="FF0000"/>
                </a:solidFill>
              </a:rPr>
              <a:t>Formula</a:t>
            </a:r>
            <a:r>
              <a:rPr lang="en-US" dirty="0"/>
              <a:t>:</a:t>
            </a:r>
          </a:p>
        </p:txBody>
      </p:sp>
      <p:pic>
        <p:nvPicPr>
          <p:cNvPr id="23" name="Picture 22">
            <a:extLst>
              <a:ext uri="{FF2B5EF4-FFF2-40B4-BE49-F238E27FC236}">
                <a16:creationId xmlns:a16="http://schemas.microsoft.com/office/drawing/2014/main" id="{A6E32AC7-E175-46C2-90D5-329B42D1802D}"/>
              </a:ext>
            </a:extLst>
          </p:cNvPr>
          <p:cNvPicPr>
            <a:picLocks noChangeAspect="1"/>
          </p:cNvPicPr>
          <p:nvPr/>
        </p:nvPicPr>
        <p:blipFill>
          <a:blip r:embed="rId7"/>
          <a:stretch>
            <a:fillRect/>
          </a:stretch>
        </p:blipFill>
        <p:spPr>
          <a:xfrm>
            <a:off x="7046206" y="5365440"/>
            <a:ext cx="3057952" cy="676369"/>
          </a:xfrm>
          <a:prstGeom prst="rect">
            <a:avLst/>
          </a:prstGeom>
        </p:spPr>
      </p:pic>
    </p:spTree>
    <p:extLst>
      <p:ext uri="{BB962C8B-B14F-4D97-AF65-F5344CB8AC3E}">
        <p14:creationId xmlns:p14="http://schemas.microsoft.com/office/powerpoint/2010/main" val="27902383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63D022-57A7-450F-A3DB-C8616DFFED06}"/>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0A7BC32C-6E61-4EE6-8192-488BD01656DD}"/>
              </a:ext>
            </a:extLst>
          </p:cNvPr>
          <p:cNvSpPr/>
          <p:nvPr/>
        </p:nvSpPr>
        <p:spPr>
          <a:xfrm>
            <a:off x="0" y="757686"/>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4A023BF8-B27B-4A7F-9E55-4E819571E21A}"/>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5735BEC0-EE07-4DA0-AE57-C7A156EF1F40}"/>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622FAC16-512B-414F-8A6B-C55348E9EF22}"/>
              </a:ext>
            </a:extLst>
          </p:cNvPr>
          <p:cNvSpPr/>
          <p:nvPr/>
        </p:nvSpPr>
        <p:spPr>
          <a:xfrm>
            <a:off x="426720" y="10131"/>
            <a:ext cx="11338560" cy="914400"/>
          </a:xfrm>
          <a:prstGeom prst="rect">
            <a:avLst/>
          </a:prstGeom>
          <a:noFill/>
          <a:ln/>
        </p:spPr>
        <p:txBody>
          <a:bodyPr wrap="square" rtlCol="0" anchor="ctr"/>
          <a:lstStyle/>
          <a:p>
            <a:endParaRPr lang="en-US" sz="2800" dirty="0">
              <a:solidFill>
                <a:srgbClr val="002060"/>
              </a:solidFill>
            </a:endParaRPr>
          </a:p>
        </p:txBody>
      </p:sp>
      <p:sp>
        <p:nvSpPr>
          <p:cNvPr id="10" name="Rectangle 1">
            <a:extLst>
              <a:ext uri="{FF2B5EF4-FFF2-40B4-BE49-F238E27FC236}">
                <a16:creationId xmlns:a16="http://schemas.microsoft.com/office/drawing/2014/main" id="{286FC439-29F8-42FA-A74B-C2B6F3E8B3D9}"/>
              </a:ext>
            </a:extLst>
          </p:cNvPr>
          <p:cNvSpPr>
            <a:spLocks noChangeArrowheads="1"/>
          </p:cNvSpPr>
          <p:nvPr/>
        </p:nvSpPr>
        <p:spPr bwMode="auto">
          <a:xfrm>
            <a:off x="26634" y="1034628"/>
            <a:ext cx="5586347" cy="5801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accent1">
                    <a:lumMod val="75000"/>
                  </a:schemeClr>
                </a:solidFill>
                <a:effectLst>
                  <a:outerShdw blurRad="38100" dist="38100" dir="2700000" algn="tl">
                    <a:srgbClr val="000000">
                      <a:alpha val="43137"/>
                    </a:srgbClr>
                  </a:outerShdw>
                </a:effectLst>
                <a:latin typeface="Google Sans"/>
              </a:rPr>
              <a:t>1. Plotting a Regression Line (Linear Regression)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Google Sans Text"/>
              </a:rPr>
              <a:t>A regression line visualizes the relationship between a continuous independent variable (x) and a dependent variable (y).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B0F0"/>
                </a:solidFill>
                <a:effectLst/>
                <a:latin typeface="Google Sans"/>
              </a:rPr>
              <a:t>The Steps:</a:t>
            </a:r>
          </a:p>
          <a:p>
            <a:pPr marR="0" lvl="0" algn="just"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Google Sans Text"/>
              </a:rPr>
              <a:t>1.Scatter the Data:</a:t>
            </a:r>
            <a:r>
              <a:rPr kumimoji="0" lang="en-US" altLang="en-US" sz="1600" b="0" i="0" u="none" strike="noStrike" cap="none" normalizeH="0" baseline="0" dirty="0">
                <a:ln>
                  <a:noFill/>
                </a:ln>
                <a:solidFill>
                  <a:schemeClr val="tx1"/>
                </a:solidFill>
                <a:effectLst/>
                <a:latin typeface="Google Sans Text"/>
              </a:rPr>
              <a:t> Plot the actual data points from your dataset using their (x, y) coordinates.</a:t>
            </a:r>
          </a:p>
          <a:p>
            <a:pPr marR="0" lvl="0" algn="just"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Google Sans Text"/>
            </a:endParaRPr>
          </a:p>
          <a:p>
            <a:pPr marR="0" lvl="0" algn="just"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Google Sans Text"/>
              </a:rPr>
              <a:t>2.Find the Line Equation:</a:t>
            </a:r>
            <a:r>
              <a:rPr kumimoji="0" lang="en-US" altLang="en-US" sz="1600" b="0" i="0" u="none" strike="noStrike" cap="none" normalizeH="0" baseline="0" dirty="0">
                <a:ln>
                  <a:noFill/>
                </a:ln>
                <a:solidFill>
                  <a:schemeClr val="tx1"/>
                </a:solidFill>
                <a:effectLst/>
                <a:latin typeface="Google Sans Text"/>
              </a:rPr>
              <a:t> Once the model is trained, it outputs two primary coefficients: the slope (m or theta) and the y-intercept (c or theta). This gives you the standard line equation:</a:t>
            </a:r>
          </a:p>
          <a:p>
            <a:pPr marR="0" lvl="0" algn="just"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Google Sans Text"/>
              </a:rPr>
              <a:t>y = mx + c</a:t>
            </a:r>
          </a:p>
          <a:p>
            <a:pPr marR="0" lvl="0" algn="just"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Google Sans Text"/>
            </a:endParaRPr>
          </a:p>
          <a:p>
            <a:pPr marR="0" lvl="0" algn="just"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Google Sans Text"/>
              </a:rPr>
              <a:t>3.Generate Prediction Points:</a:t>
            </a:r>
            <a:r>
              <a:rPr kumimoji="0" lang="en-US" altLang="en-US" sz="1600" b="0" i="0" u="none" strike="noStrike" cap="none" normalizeH="0" baseline="0" dirty="0">
                <a:ln>
                  <a:noFill/>
                </a:ln>
                <a:solidFill>
                  <a:schemeClr val="tx1"/>
                </a:solidFill>
                <a:effectLst/>
                <a:latin typeface="Google Sans Text"/>
              </a:rPr>
              <a:t> To draw a perfectly straight line, you only need two points, but typically you take the minimum and maximum x values from your dataset.</a:t>
            </a:r>
          </a:p>
          <a:p>
            <a:pPr marR="0" lvl="0" algn="just"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Google Sans Text"/>
            </a:endParaRPr>
          </a:p>
          <a:p>
            <a:pPr marR="0" lvl="0" algn="just"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Google Sans Text"/>
              </a:rPr>
              <a:t>4.Calculate y for those x values:</a:t>
            </a:r>
            <a:r>
              <a:rPr kumimoji="0" lang="en-US" altLang="en-US" sz="1600" b="0" i="0" u="none" strike="noStrike" cap="none" normalizeH="0" baseline="0" dirty="0">
                <a:ln>
                  <a:noFill/>
                </a:ln>
                <a:solidFill>
                  <a:schemeClr val="tx1"/>
                </a:solidFill>
                <a:effectLst/>
                <a:latin typeface="Google Sans Text"/>
              </a:rPr>
              <a:t> Plugin the min and max x values into your model to get the predicted hat{y} values.</a:t>
            </a:r>
          </a:p>
          <a:p>
            <a:pPr marR="0" lvl="0" algn="just"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Google Sans Text"/>
              </a:rPr>
              <a:t>Draw the Line:</a:t>
            </a:r>
            <a:r>
              <a:rPr kumimoji="0" lang="en-US" altLang="en-US" sz="1600" b="0" i="0" u="none" strike="noStrike" cap="none" normalizeH="0" baseline="0" dirty="0">
                <a:ln>
                  <a:noFill/>
                </a:ln>
                <a:solidFill>
                  <a:schemeClr val="tx1"/>
                </a:solidFill>
                <a:effectLst/>
                <a:latin typeface="Google Sans Text"/>
              </a:rPr>
              <a:t> Plot a solid line connecting those predicted coordinates directly over your scatter plot.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E179D0BF-28C1-46C8-99F6-5900DEE76C64}"/>
              </a:ext>
            </a:extLst>
          </p:cNvPr>
          <p:cNvSpPr txBox="1"/>
          <p:nvPr/>
        </p:nvSpPr>
        <p:spPr>
          <a:xfrm>
            <a:off x="0" y="120228"/>
            <a:ext cx="7670307" cy="523220"/>
          </a:xfrm>
          <a:prstGeom prst="rect">
            <a:avLst/>
          </a:prstGeom>
          <a:noFill/>
        </p:spPr>
        <p:txBody>
          <a:bodyPr wrap="square" rtlCol="0">
            <a:spAutoFit/>
          </a:bodyPr>
          <a:lstStyle/>
          <a:p>
            <a:r>
              <a:rPr lang="en-US" sz="2800" b="1" dirty="0">
                <a:solidFill>
                  <a:schemeClr val="accent1">
                    <a:lumMod val="75000"/>
                  </a:schemeClr>
                </a:solidFill>
                <a:effectLst>
                  <a:outerShdw blurRad="38100" dist="38100" dir="2700000" algn="tl">
                    <a:srgbClr val="000000">
                      <a:alpha val="43137"/>
                    </a:srgbClr>
                  </a:outerShdw>
                </a:effectLst>
              </a:rPr>
              <a:t>LINEAR AND LOGISTIC REGRESSION</a:t>
            </a:r>
            <a:endParaRPr lang="en-IN" sz="2800" b="1" dirty="0">
              <a:solidFill>
                <a:schemeClr val="accent1">
                  <a:lumMod val="75000"/>
                </a:schemeClr>
              </a:solidFill>
              <a:effectLst>
                <a:outerShdw blurRad="38100" dist="38100" dir="2700000" algn="tl">
                  <a:srgbClr val="000000">
                    <a:alpha val="43137"/>
                  </a:srgbClr>
                </a:outerShdw>
              </a:effectLst>
            </a:endParaRPr>
          </a:p>
        </p:txBody>
      </p:sp>
      <p:sp>
        <p:nvSpPr>
          <p:cNvPr id="13" name="Rectangle 2">
            <a:extLst>
              <a:ext uri="{FF2B5EF4-FFF2-40B4-BE49-F238E27FC236}">
                <a16:creationId xmlns:a16="http://schemas.microsoft.com/office/drawing/2014/main" id="{5AE83C31-955C-4D45-81FA-FFB97C27CD18}"/>
              </a:ext>
            </a:extLst>
          </p:cNvPr>
          <p:cNvSpPr>
            <a:spLocks noChangeArrowheads="1"/>
          </p:cNvSpPr>
          <p:nvPr/>
        </p:nvSpPr>
        <p:spPr bwMode="auto">
          <a:xfrm>
            <a:off x="5612981" y="1054508"/>
            <a:ext cx="6383045" cy="3093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accent1">
                    <a:lumMod val="75000"/>
                  </a:schemeClr>
                </a:solidFill>
                <a:effectLst>
                  <a:outerShdw blurRad="38100" dist="38100" dir="2700000" algn="tl">
                    <a:srgbClr val="000000">
                      <a:alpha val="43137"/>
                    </a:srgbClr>
                  </a:outerShdw>
                </a:effectLst>
                <a:latin typeface="Google Sans"/>
              </a:rPr>
              <a:t>2. Plotting a Decision Boundary (Logistic Regression)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Google Sans Text"/>
              </a:rPr>
              <a:t>A decision boundary visualizes how a classifier splits data into distinct classes (e.g., Class 0 vs. Class 1). Since we usually work with two features (x1 and x2) to plot this on a 2D plane, the boundary is the exact line where the probability of belonging to either class is exactly </a:t>
            </a:r>
            <a:r>
              <a:rPr kumimoji="0" lang="en-US" altLang="en-US" sz="1600" b="1" i="0" u="none" strike="noStrike" cap="none" normalizeH="0" baseline="0" dirty="0">
                <a:ln>
                  <a:noFill/>
                </a:ln>
                <a:solidFill>
                  <a:schemeClr val="tx1"/>
                </a:solidFill>
                <a:effectLst/>
                <a:latin typeface="Google Sans Text"/>
              </a:rPr>
              <a:t>50% (p = 0.5)</a:t>
            </a:r>
            <a:r>
              <a:rPr kumimoji="0" lang="en-US" altLang="en-US" sz="1600" b="0" i="0" u="none" strike="noStrike" cap="none" normalizeH="0" baseline="0" dirty="0">
                <a:ln>
                  <a:noFill/>
                </a:ln>
                <a:solidFill>
                  <a:schemeClr val="tx1"/>
                </a:solidFill>
                <a:effectLst/>
                <a:latin typeface="Google Sans Text"/>
              </a:rPr>
              <a:t>.</a:t>
            </a:r>
            <a:endParaRPr kumimoji="0" lang="en-US" altLang="en-US" sz="1600" b="1" i="0" u="none" strike="noStrike" cap="none" normalizeH="0" baseline="0" dirty="0">
              <a:ln>
                <a:noFill/>
              </a:ln>
              <a:solidFill>
                <a:schemeClr val="tx1"/>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B0F0"/>
                </a:solidFill>
                <a:effectLst/>
                <a:latin typeface="Google Sans"/>
              </a:rPr>
              <a:t>The Steps:</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1" i="0" u="none" strike="noStrike" cap="none" normalizeH="0" baseline="0" dirty="0">
                <a:ln>
                  <a:noFill/>
                </a:ln>
                <a:solidFill>
                  <a:schemeClr val="tx1"/>
                </a:solidFill>
                <a:effectLst/>
                <a:latin typeface="Google Sans Text"/>
              </a:rPr>
              <a:t>Scatter the Data:</a:t>
            </a:r>
            <a:r>
              <a:rPr kumimoji="0" lang="en-US" altLang="en-US" sz="1600" b="0" i="0" u="none" strike="noStrike" cap="none" normalizeH="0" baseline="0" dirty="0">
                <a:ln>
                  <a:noFill/>
                </a:ln>
                <a:solidFill>
                  <a:schemeClr val="tx1"/>
                </a:solidFill>
                <a:effectLst/>
                <a:latin typeface="Google Sans Text"/>
              </a:rPr>
              <a:t> Plot your data points using x1 on the horizontal axis and x2 on the vertical axis. Color-code the points based on their true class (e.g., Blue for 0, Red for 1).</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1" i="0" u="none" strike="noStrike" cap="none" normalizeH="0" baseline="0" dirty="0">
                <a:ln>
                  <a:noFill/>
                </a:ln>
                <a:solidFill>
                  <a:schemeClr val="tx1"/>
                </a:solidFill>
                <a:effectLst/>
                <a:latin typeface="Google Sans Text"/>
              </a:rPr>
              <a:t>Set the Boundary Equation:</a:t>
            </a:r>
            <a:r>
              <a:rPr kumimoji="0" lang="en-US" altLang="en-US" sz="1600" b="0" i="0" u="none" strike="noStrike" cap="none" normalizeH="0" baseline="0" dirty="0">
                <a:ln>
                  <a:noFill/>
                </a:ln>
                <a:solidFill>
                  <a:schemeClr val="tx1"/>
                </a:solidFill>
                <a:effectLst/>
                <a:latin typeface="Google Sans Text"/>
              </a:rPr>
              <a:t> The underlying linear equation for logistic regression is: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4" name="Picture 13">
            <a:extLst>
              <a:ext uri="{FF2B5EF4-FFF2-40B4-BE49-F238E27FC236}">
                <a16:creationId xmlns:a16="http://schemas.microsoft.com/office/drawing/2014/main" id="{B48F202C-7674-4890-8078-CCBC22F0266A}"/>
              </a:ext>
            </a:extLst>
          </p:cNvPr>
          <p:cNvPicPr>
            <a:picLocks noChangeAspect="1"/>
          </p:cNvPicPr>
          <p:nvPr/>
        </p:nvPicPr>
        <p:blipFill>
          <a:blip r:embed="rId4"/>
          <a:stretch>
            <a:fillRect/>
          </a:stretch>
        </p:blipFill>
        <p:spPr>
          <a:xfrm>
            <a:off x="7204223" y="3609699"/>
            <a:ext cx="2267266" cy="352474"/>
          </a:xfrm>
          <a:prstGeom prst="rect">
            <a:avLst/>
          </a:prstGeom>
        </p:spPr>
      </p:pic>
      <p:sp>
        <p:nvSpPr>
          <p:cNvPr id="16" name="Rectangle 3">
            <a:extLst>
              <a:ext uri="{FF2B5EF4-FFF2-40B4-BE49-F238E27FC236}">
                <a16:creationId xmlns:a16="http://schemas.microsoft.com/office/drawing/2014/main" id="{EEFE3A29-D90C-471A-B6F7-008C45A1E98C}"/>
              </a:ext>
            </a:extLst>
          </p:cNvPr>
          <p:cNvSpPr>
            <a:spLocks noChangeArrowheads="1"/>
          </p:cNvSpPr>
          <p:nvPr/>
        </p:nvSpPr>
        <p:spPr bwMode="auto">
          <a:xfrm>
            <a:off x="5612981" y="4000457"/>
            <a:ext cx="6185029" cy="538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Google Sans Text"/>
              </a:rPr>
              <a:t>3.Solve for x2:</a:t>
            </a:r>
            <a:r>
              <a:rPr kumimoji="0" lang="en-US" altLang="en-US" sz="1600" b="0" i="0" u="none" strike="noStrike" cap="none" normalizeH="0" baseline="0" dirty="0">
                <a:ln>
                  <a:noFill/>
                </a:ln>
                <a:solidFill>
                  <a:schemeClr val="tx1"/>
                </a:solidFill>
                <a:effectLst/>
              </a:rPr>
              <a:t> To plot this as a standard </a:t>
            </a:r>
            <a:r>
              <a:rPr kumimoji="0" lang="en-US" altLang="en-US" sz="1600" b="0" i="0" u="none" strike="noStrike" cap="none" normalizeH="0" baseline="0" dirty="0">
                <a:ln>
                  <a:noFill/>
                </a:ln>
                <a:solidFill>
                  <a:schemeClr val="tx1"/>
                </a:solidFill>
                <a:effectLst/>
                <a:latin typeface="Google Sans Text"/>
              </a:rPr>
              <a:t>y = mx + c</a:t>
            </a:r>
            <a:r>
              <a:rPr kumimoji="0" lang="en-US" altLang="en-US" sz="1600" b="0" i="0" u="none" strike="noStrike" cap="none" normalizeH="0" baseline="0" dirty="0">
                <a:ln>
                  <a:noFill/>
                </a:ln>
                <a:solidFill>
                  <a:schemeClr val="tx1"/>
                </a:solidFill>
                <a:effectLst/>
              </a:rPr>
              <a:t> line where </a:t>
            </a:r>
            <a:r>
              <a:rPr kumimoji="0" lang="en-US" altLang="en-US" sz="1600" b="0" i="0" u="none" strike="noStrike" cap="none" normalizeH="0" baseline="0" dirty="0">
                <a:ln>
                  <a:noFill/>
                </a:ln>
                <a:solidFill>
                  <a:schemeClr val="tx1"/>
                </a:solidFill>
                <a:effectLst/>
                <a:latin typeface="Google Sans Text"/>
              </a:rPr>
              <a:t>x2</a:t>
            </a:r>
            <a:r>
              <a:rPr kumimoji="0" lang="en-US" altLang="en-US" sz="1600" b="0" i="0" u="none" strike="noStrike" cap="none" normalizeH="0" baseline="0" dirty="0">
                <a:ln>
                  <a:noFill/>
                </a:ln>
                <a:solidFill>
                  <a:schemeClr val="tx1"/>
                </a:solidFill>
                <a:effectLst/>
              </a:rPr>
              <a:t> acts as our "y-axis", rearrange the equation:</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pic>
        <p:nvPicPr>
          <p:cNvPr id="18" name="Picture 17">
            <a:extLst>
              <a:ext uri="{FF2B5EF4-FFF2-40B4-BE49-F238E27FC236}">
                <a16:creationId xmlns:a16="http://schemas.microsoft.com/office/drawing/2014/main" id="{B542C703-A93F-4CC1-97F6-A11239937460}"/>
              </a:ext>
            </a:extLst>
          </p:cNvPr>
          <p:cNvPicPr>
            <a:picLocks noChangeAspect="1"/>
          </p:cNvPicPr>
          <p:nvPr/>
        </p:nvPicPr>
        <p:blipFill>
          <a:blip r:embed="rId5"/>
          <a:stretch>
            <a:fillRect/>
          </a:stretch>
        </p:blipFill>
        <p:spPr>
          <a:xfrm>
            <a:off x="8913587" y="4277639"/>
            <a:ext cx="1914792" cy="790685"/>
          </a:xfrm>
          <a:prstGeom prst="rect">
            <a:avLst/>
          </a:prstGeom>
        </p:spPr>
      </p:pic>
      <p:sp>
        <p:nvSpPr>
          <p:cNvPr id="20" name="Rectangle 4">
            <a:extLst>
              <a:ext uri="{FF2B5EF4-FFF2-40B4-BE49-F238E27FC236}">
                <a16:creationId xmlns:a16="http://schemas.microsoft.com/office/drawing/2014/main" id="{B7BB3D37-C2C0-4483-9034-9AA7DD4A744F}"/>
              </a:ext>
            </a:extLst>
          </p:cNvPr>
          <p:cNvSpPr>
            <a:spLocks noChangeArrowheads="1"/>
          </p:cNvSpPr>
          <p:nvPr/>
        </p:nvSpPr>
        <p:spPr bwMode="auto">
          <a:xfrm>
            <a:off x="5657620" y="5051803"/>
            <a:ext cx="6185029" cy="1031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Google Sans Text"/>
              </a:rPr>
              <a:t>4.Plot the Boundary Line:</a:t>
            </a:r>
            <a:r>
              <a:rPr kumimoji="0" lang="en-US" altLang="en-US" sz="1600" b="0" i="0" u="none" strike="noStrike" cap="none" normalizeH="0" baseline="0" dirty="0">
                <a:ln>
                  <a:noFill/>
                </a:ln>
                <a:solidFill>
                  <a:schemeClr val="tx1"/>
                </a:solidFill>
                <a:effectLst/>
              </a:rPr>
              <a:t> Generate a range of </a:t>
            </a:r>
            <a:r>
              <a:rPr kumimoji="0" lang="en-US" altLang="en-US" sz="1600" b="0" i="0" u="none" strike="noStrike" cap="none" normalizeH="0" baseline="0" dirty="0">
                <a:ln>
                  <a:noFill/>
                </a:ln>
                <a:solidFill>
                  <a:schemeClr val="tx1"/>
                </a:solidFill>
                <a:effectLst/>
                <a:latin typeface="Google Sans Text"/>
              </a:rPr>
              <a:t>x1</a:t>
            </a:r>
            <a:r>
              <a:rPr kumimoji="0" lang="en-US" altLang="en-US" sz="1600" b="0" i="0" u="none" strike="noStrike" cap="none" normalizeH="0" baseline="0" dirty="0">
                <a:ln>
                  <a:noFill/>
                </a:ln>
                <a:solidFill>
                  <a:schemeClr val="tx1"/>
                </a:solidFill>
                <a:effectLst/>
              </a:rPr>
              <a:t> values, calculate the corresponding </a:t>
            </a:r>
            <a:r>
              <a:rPr kumimoji="0" lang="en-US" altLang="en-US" sz="1600" b="0" i="0" u="none" strike="noStrike" cap="none" normalizeH="0" baseline="0" dirty="0">
                <a:ln>
                  <a:noFill/>
                </a:ln>
                <a:solidFill>
                  <a:schemeClr val="tx1"/>
                </a:solidFill>
                <a:effectLst/>
                <a:latin typeface="Google Sans Text"/>
              </a:rPr>
              <a:t>x2</a:t>
            </a:r>
            <a:r>
              <a:rPr kumimoji="0" lang="en-US" altLang="en-US" sz="1600" b="0" i="0" u="none" strike="noStrike" cap="none" normalizeH="0" baseline="0" dirty="0">
                <a:ln>
                  <a:noFill/>
                </a:ln>
                <a:solidFill>
                  <a:schemeClr val="tx1"/>
                </a:solidFill>
                <a:effectLst/>
              </a:rPr>
              <a:t> values using the formula above, and draw the resulting straight line. Everything on one side of this line will be predicted as Class 0, and everything on the other side as Class 1.</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965725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63D022-57A7-450F-A3DB-C8616DFFED06}"/>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0A7BC32C-6E61-4EE6-8192-488BD01656DD}"/>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4A023BF8-B27B-4A7F-9E55-4E819571E21A}"/>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5735BEC0-EE07-4DA0-AE57-C7A156EF1F40}"/>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622FAC16-512B-414F-8A6B-C55348E9EF22}"/>
              </a:ext>
            </a:extLst>
          </p:cNvPr>
          <p:cNvSpPr/>
          <p:nvPr/>
        </p:nvSpPr>
        <p:spPr>
          <a:xfrm>
            <a:off x="426720" y="10131"/>
            <a:ext cx="11338560" cy="914400"/>
          </a:xfrm>
          <a:prstGeom prst="rect">
            <a:avLst/>
          </a:prstGeom>
          <a:noFill/>
          <a:ln/>
        </p:spPr>
        <p:txBody>
          <a:bodyPr wrap="square" rtlCol="0" anchor="ctr"/>
          <a:lstStyle/>
          <a:p>
            <a:endParaRPr lang="en-US" sz="2800" dirty="0">
              <a:solidFill>
                <a:srgbClr val="002060"/>
              </a:solidFill>
            </a:endParaRPr>
          </a:p>
        </p:txBody>
      </p:sp>
      <p:sp>
        <p:nvSpPr>
          <p:cNvPr id="8" name="Rectangle 1">
            <a:extLst>
              <a:ext uri="{FF2B5EF4-FFF2-40B4-BE49-F238E27FC236}">
                <a16:creationId xmlns:a16="http://schemas.microsoft.com/office/drawing/2014/main" id="{4ACA1002-2B2B-4022-AD06-99EFECF919EA}"/>
              </a:ext>
            </a:extLst>
          </p:cNvPr>
          <p:cNvSpPr>
            <a:spLocks noChangeArrowheads="1"/>
          </p:cNvSpPr>
          <p:nvPr/>
        </p:nvSpPr>
        <p:spPr bwMode="auto">
          <a:xfrm>
            <a:off x="31217" y="883411"/>
            <a:ext cx="11811432" cy="1031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outerShdw blurRad="38100" dist="38100" dir="2700000" algn="tl">
                    <a:srgbClr val="000000">
                      <a:alpha val="43137"/>
                    </a:srgbClr>
                  </a:outerShdw>
                </a:effectLst>
                <a:latin typeface="Google Sans"/>
              </a:rPr>
              <a:t>Decision Trees: Mathematical Formulations of Splitting Criteria</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Google Sans Text"/>
              </a:rPr>
              <a:t>Decision trees are non-parametric supervised learning models that partition the feature space into local regions through a sequence of recursive binary splits. The core objective at each node is to select a feature </a:t>
            </a:r>
            <a:r>
              <a:rPr kumimoji="0" lang="en-US" altLang="en-US" sz="1400" b="0" i="0" u="none" strike="noStrike" cap="none" normalizeH="0" dirty="0">
                <a:ln>
                  <a:noFill/>
                </a:ln>
                <a:solidFill>
                  <a:schemeClr val="tx1"/>
                </a:solidFill>
                <a:effectLst/>
                <a:latin typeface="Google Sans Text"/>
              </a:rPr>
              <a:t>X</a:t>
            </a:r>
            <a:r>
              <a:rPr lang="en-US" altLang="en-US" sz="1400" baseline="-25000" dirty="0">
                <a:latin typeface="Google Sans Text"/>
              </a:rPr>
              <a:t>j</a:t>
            </a:r>
            <a:r>
              <a:rPr lang="en-US" altLang="en-US" sz="1400" dirty="0">
                <a:latin typeface="Google Sans Text"/>
              </a:rPr>
              <a:t> </a:t>
            </a:r>
            <a:r>
              <a:rPr kumimoji="0" lang="en-US" altLang="en-US" sz="1200" b="0" i="0" u="none" strike="noStrike" cap="none" normalizeH="0" baseline="0" dirty="0">
                <a:ln>
                  <a:noFill/>
                </a:ln>
                <a:solidFill>
                  <a:schemeClr val="tx1"/>
                </a:solidFill>
                <a:effectLst/>
                <a:latin typeface="Google Sans Text"/>
              </a:rPr>
              <a:t>and</a:t>
            </a:r>
            <a:r>
              <a:rPr kumimoji="0" lang="en-US" altLang="en-US" sz="1400" b="0" i="0" u="none" strike="noStrike" cap="none" normalizeH="0" baseline="0" dirty="0">
                <a:ln>
                  <a:noFill/>
                </a:ln>
                <a:solidFill>
                  <a:schemeClr val="tx1"/>
                </a:solidFill>
                <a:effectLst/>
                <a:latin typeface="Google Sans Text"/>
              </a:rPr>
              <a:t> a corresponding threshold t that maximizes the homogeneity of the resulting child nodes. Three primary metrics govern this selection process: Gini Impurity, Entropy, and Information Gain.</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97B788EE-0E1D-4213-9B5B-B5FADA041A4C}"/>
              </a:ext>
            </a:extLst>
          </p:cNvPr>
          <p:cNvSpPr txBox="1"/>
          <p:nvPr/>
        </p:nvSpPr>
        <p:spPr>
          <a:xfrm>
            <a:off x="-1" y="20141"/>
            <a:ext cx="7031115" cy="523220"/>
          </a:xfrm>
          <a:prstGeom prst="rect">
            <a:avLst/>
          </a:prstGeom>
          <a:noFill/>
        </p:spPr>
        <p:txBody>
          <a:bodyPr wrap="square" rtlCol="0">
            <a:spAutoFit/>
          </a:bodyPr>
          <a:lstStyle/>
          <a:p>
            <a:r>
              <a:rPr lang="en-IN" sz="2800" b="1" dirty="0">
                <a:solidFill>
                  <a:schemeClr val="accent1">
                    <a:lumMod val="75000"/>
                  </a:schemeClr>
                </a:solidFill>
                <a:effectLst>
                  <a:outerShdw blurRad="38100" dist="38100" dir="2700000" algn="tl">
                    <a:srgbClr val="000000">
                      <a:alpha val="43137"/>
                    </a:srgbClr>
                  </a:outerShdw>
                </a:effectLst>
              </a:rPr>
              <a:t>Decision trees &amp; random forests</a:t>
            </a:r>
          </a:p>
        </p:txBody>
      </p:sp>
      <p:pic>
        <p:nvPicPr>
          <p:cNvPr id="11" name="Picture 10">
            <a:extLst>
              <a:ext uri="{FF2B5EF4-FFF2-40B4-BE49-F238E27FC236}">
                <a16:creationId xmlns:a16="http://schemas.microsoft.com/office/drawing/2014/main" id="{9EEEEDA6-C46C-448C-A932-43B48ABBE6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46555" y="1899073"/>
            <a:ext cx="7881301" cy="4711300"/>
          </a:xfrm>
          <a:prstGeom prst="rect">
            <a:avLst/>
          </a:prstGeom>
        </p:spPr>
      </p:pic>
    </p:spTree>
    <p:extLst>
      <p:ext uri="{BB962C8B-B14F-4D97-AF65-F5344CB8AC3E}">
        <p14:creationId xmlns:p14="http://schemas.microsoft.com/office/powerpoint/2010/main" val="6847742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63D022-57A7-450F-A3DB-C8616DFFED06}"/>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0A7BC32C-6E61-4EE6-8192-488BD01656DD}"/>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4A023BF8-B27B-4A7F-9E55-4E819571E21A}"/>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5735BEC0-EE07-4DA0-AE57-C7A156EF1F40}"/>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622FAC16-512B-414F-8A6B-C55348E9EF22}"/>
              </a:ext>
            </a:extLst>
          </p:cNvPr>
          <p:cNvSpPr/>
          <p:nvPr/>
        </p:nvSpPr>
        <p:spPr>
          <a:xfrm>
            <a:off x="426720" y="10131"/>
            <a:ext cx="11338560" cy="914400"/>
          </a:xfrm>
          <a:prstGeom prst="rect">
            <a:avLst/>
          </a:prstGeom>
          <a:noFill/>
          <a:ln/>
        </p:spPr>
        <p:txBody>
          <a:bodyPr wrap="square" rtlCol="0" anchor="ctr"/>
          <a:lstStyle/>
          <a:p>
            <a:endParaRPr lang="en-US" sz="2800" dirty="0">
              <a:solidFill>
                <a:srgbClr val="002060"/>
              </a:solidFill>
            </a:endParaRPr>
          </a:p>
        </p:txBody>
      </p:sp>
      <p:sp>
        <p:nvSpPr>
          <p:cNvPr id="8" name="TextBox 7">
            <a:extLst>
              <a:ext uri="{FF2B5EF4-FFF2-40B4-BE49-F238E27FC236}">
                <a16:creationId xmlns:a16="http://schemas.microsoft.com/office/drawing/2014/main" id="{BCEFDE2C-081D-4F93-9F9D-FF938269B60F}"/>
              </a:ext>
            </a:extLst>
          </p:cNvPr>
          <p:cNvSpPr txBox="1"/>
          <p:nvPr/>
        </p:nvSpPr>
        <p:spPr>
          <a:xfrm>
            <a:off x="0" y="120228"/>
            <a:ext cx="6755907" cy="523220"/>
          </a:xfrm>
          <a:prstGeom prst="rect">
            <a:avLst/>
          </a:prstGeom>
          <a:noFill/>
        </p:spPr>
        <p:txBody>
          <a:bodyPr wrap="square" rtlCol="0">
            <a:spAutoFit/>
          </a:bodyPr>
          <a:lstStyle/>
          <a:p>
            <a:r>
              <a:rPr lang="en-IN" sz="2800" b="1" dirty="0">
                <a:solidFill>
                  <a:schemeClr val="accent1">
                    <a:lumMod val="75000"/>
                  </a:schemeClr>
                </a:solidFill>
                <a:effectLst>
                  <a:outerShdw blurRad="38100" dist="38100" dir="2700000" algn="tl">
                    <a:srgbClr val="000000">
                      <a:alpha val="43137"/>
                    </a:srgbClr>
                  </a:outerShdw>
                </a:effectLst>
              </a:rPr>
              <a:t>DECISION TREES &amp; RANDOM FORESTS</a:t>
            </a:r>
          </a:p>
        </p:txBody>
      </p:sp>
      <p:sp>
        <p:nvSpPr>
          <p:cNvPr id="9" name="TextBox 8">
            <a:extLst>
              <a:ext uri="{FF2B5EF4-FFF2-40B4-BE49-F238E27FC236}">
                <a16:creationId xmlns:a16="http://schemas.microsoft.com/office/drawing/2014/main" id="{09B8CD9F-D317-45FE-803D-D7B93BAC38CD}"/>
              </a:ext>
            </a:extLst>
          </p:cNvPr>
          <p:cNvSpPr txBox="1"/>
          <p:nvPr/>
        </p:nvSpPr>
        <p:spPr>
          <a:xfrm>
            <a:off x="176368" y="2585838"/>
            <a:ext cx="945472" cy="369332"/>
          </a:xfrm>
          <a:prstGeom prst="rect">
            <a:avLst/>
          </a:prstGeom>
          <a:noFill/>
        </p:spPr>
        <p:txBody>
          <a:bodyPr wrap="square" rtlCol="0">
            <a:spAutoFit/>
          </a:bodyPr>
          <a:lstStyle/>
          <a:p>
            <a:endParaRPr lang="en-IN" dirty="0"/>
          </a:p>
        </p:txBody>
      </p:sp>
      <p:sp>
        <p:nvSpPr>
          <p:cNvPr id="10" name="Rectangle 1">
            <a:extLst>
              <a:ext uri="{FF2B5EF4-FFF2-40B4-BE49-F238E27FC236}">
                <a16:creationId xmlns:a16="http://schemas.microsoft.com/office/drawing/2014/main" id="{A07BAB4A-F628-4E45-8F89-1280938635D1}"/>
              </a:ext>
            </a:extLst>
          </p:cNvPr>
          <p:cNvSpPr>
            <a:spLocks noChangeArrowheads="1"/>
          </p:cNvSpPr>
          <p:nvPr/>
        </p:nvSpPr>
        <p:spPr bwMode="auto">
          <a:xfrm>
            <a:off x="0" y="1086692"/>
            <a:ext cx="3741421"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outerShdw blurRad="38100" dist="38100" dir="2700000" algn="tl">
                    <a:srgbClr val="000000">
                      <a:alpha val="43137"/>
                    </a:srgbClr>
                  </a:outerShdw>
                </a:effectLst>
                <a:latin typeface="Google Sans Text"/>
              </a:rPr>
              <a:t>Gini Impurity </a:t>
            </a:r>
            <a:r>
              <a:rPr kumimoji="0" lang="en-US" altLang="en-US" sz="1400" b="0" i="0" u="none" strike="noStrike" cap="none" normalizeH="0" baseline="0" dirty="0">
                <a:ln>
                  <a:noFill/>
                </a:ln>
                <a:solidFill>
                  <a:schemeClr val="tx1"/>
                </a:solidFill>
                <a:effectLst/>
                <a:latin typeface="Google Sans Text"/>
              </a:rPr>
              <a:t>measures the probability of a randomly chosen element from a node being incorrectly labeled if it were randomly labeled according to the distribution of labels in the subset.</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Google Sans Text"/>
              </a:rPr>
              <a:t>For a discrete probability distribution at node m with K classes, where pk represents the proportion of instances belonging to class k, the Gini impurity Ig(m) is mathematically defined as:</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pic>
        <p:nvPicPr>
          <p:cNvPr id="11" name="Picture 10">
            <a:extLst>
              <a:ext uri="{FF2B5EF4-FFF2-40B4-BE49-F238E27FC236}">
                <a16:creationId xmlns:a16="http://schemas.microsoft.com/office/drawing/2014/main" id="{02648D29-17BF-49CF-B73B-8C7C45444F83}"/>
              </a:ext>
            </a:extLst>
          </p:cNvPr>
          <p:cNvPicPr>
            <a:picLocks noChangeAspect="1"/>
          </p:cNvPicPr>
          <p:nvPr/>
        </p:nvPicPr>
        <p:blipFill>
          <a:blip r:embed="rId4"/>
          <a:stretch>
            <a:fillRect/>
          </a:stretch>
        </p:blipFill>
        <p:spPr>
          <a:xfrm>
            <a:off x="649104" y="3081821"/>
            <a:ext cx="1460327" cy="544890"/>
          </a:xfrm>
          <a:prstGeom prst="rect">
            <a:avLst/>
          </a:prstGeom>
        </p:spPr>
      </p:pic>
      <p:sp>
        <p:nvSpPr>
          <p:cNvPr id="13" name="Rectangle 2">
            <a:extLst>
              <a:ext uri="{FF2B5EF4-FFF2-40B4-BE49-F238E27FC236}">
                <a16:creationId xmlns:a16="http://schemas.microsoft.com/office/drawing/2014/main" id="{20136D1B-CF33-4453-8357-5830675F1384}"/>
              </a:ext>
            </a:extLst>
          </p:cNvPr>
          <p:cNvSpPr>
            <a:spLocks noChangeArrowheads="1"/>
          </p:cNvSpPr>
          <p:nvPr/>
        </p:nvSpPr>
        <p:spPr bwMode="auto">
          <a:xfrm>
            <a:off x="0" y="3924648"/>
            <a:ext cx="36576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Gini impurity ranges from </a:t>
            </a:r>
            <a:r>
              <a:rPr kumimoji="0" lang="en-US" altLang="en-US" sz="1400" b="0" i="0" u="none" strike="noStrike" cap="none" normalizeH="0" baseline="0" dirty="0">
                <a:ln>
                  <a:noFill/>
                </a:ln>
                <a:solidFill>
                  <a:schemeClr val="tx1"/>
                </a:solidFill>
                <a:effectLst/>
                <a:latin typeface="Google Sans Text"/>
              </a:rPr>
              <a:t>0</a:t>
            </a:r>
            <a:r>
              <a:rPr kumimoji="0" lang="en-US" altLang="en-US" sz="1400" b="0" i="0" u="none" strike="noStrike" cap="none" normalizeH="0" baseline="0" dirty="0">
                <a:ln>
                  <a:noFill/>
                </a:ln>
                <a:solidFill>
                  <a:schemeClr val="tx1"/>
                </a:solidFill>
                <a:effectLst/>
              </a:rPr>
              <a:t> (perfect purity, where all instances belong to a single class) to </a:t>
            </a:r>
            <a:r>
              <a:rPr kumimoji="0" lang="en-US" altLang="en-US" sz="1400" b="0" i="0" u="none" strike="noStrike" cap="none" normalizeH="0" baseline="0" dirty="0">
                <a:ln>
                  <a:noFill/>
                </a:ln>
                <a:solidFill>
                  <a:schemeClr val="tx1"/>
                </a:solidFill>
                <a:effectLst/>
                <a:latin typeface="Google Sans Text"/>
              </a:rPr>
              <a:t>1 - 1/K</a:t>
            </a:r>
            <a:r>
              <a:rPr kumimoji="0" lang="en-US" altLang="en-US" sz="1400" b="0" i="0" u="none" strike="noStrike" cap="none" normalizeH="0" baseline="0" dirty="0">
                <a:ln>
                  <a:noFill/>
                </a:ln>
                <a:solidFill>
                  <a:schemeClr val="tx1"/>
                </a:solidFill>
                <a:effectLst/>
              </a:rPr>
              <a:t> (uniform distribution across all classes). Computationally, Gini is favored over entropy because it avoids the costly evaluation of logarithmic functions.</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15" name="Rectangle 3">
            <a:extLst>
              <a:ext uri="{FF2B5EF4-FFF2-40B4-BE49-F238E27FC236}">
                <a16:creationId xmlns:a16="http://schemas.microsoft.com/office/drawing/2014/main" id="{837859FA-91BA-44FE-BCCC-089F3779D3FB}"/>
              </a:ext>
            </a:extLst>
          </p:cNvPr>
          <p:cNvSpPr>
            <a:spLocks noChangeArrowheads="1"/>
          </p:cNvSpPr>
          <p:nvPr/>
        </p:nvSpPr>
        <p:spPr bwMode="auto">
          <a:xfrm>
            <a:off x="3855721" y="1128765"/>
            <a:ext cx="3688079" cy="115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outerShdw blurRad="38100" dist="38100" dir="2700000" algn="tl">
                    <a:srgbClr val="000000">
                      <a:alpha val="43137"/>
                    </a:srgbClr>
                  </a:outerShdw>
                </a:effectLst>
                <a:latin typeface="Google Sans"/>
              </a:rPr>
              <a:t>Entropy</a:t>
            </a:r>
            <a:r>
              <a:rPr kumimoji="0" lang="en-US" altLang="en-US" sz="1400" b="1" i="0" u="none" strike="noStrike" cap="none" normalizeH="0" baseline="0" dirty="0">
                <a:ln>
                  <a:noFill/>
                </a:ln>
                <a:solidFill>
                  <a:schemeClr val="tx1"/>
                </a:solidFill>
                <a:effectLst>
                  <a:outerShdw blurRad="38100" dist="38100" dir="2700000" algn="tl">
                    <a:srgbClr val="000000">
                      <a:alpha val="43137"/>
                    </a:srgbClr>
                  </a:outerShdw>
                </a:effectLst>
                <a:latin typeface="Google Sans"/>
              </a:rPr>
              <a:t>  </a:t>
            </a:r>
            <a:r>
              <a:rPr lang="en-US" altLang="en-US" sz="1400" dirty="0">
                <a:latin typeface="Google Sans Text"/>
              </a:rPr>
              <a:t>r</a:t>
            </a:r>
            <a:r>
              <a:rPr kumimoji="0" lang="en-US" altLang="en-US" sz="1400" b="0" i="0" u="none" strike="noStrike" cap="none" normalizeH="0" baseline="0" dirty="0">
                <a:ln>
                  <a:noFill/>
                </a:ln>
                <a:solidFill>
                  <a:schemeClr val="tx1"/>
                </a:solidFill>
                <a:effectLst/>
                <a:latin typeface="Google Sans Text"/>
              </a:rPr>
              <a:t>ooted in Shannon’s Information Theory, Entropy quantifies the average level of "information," surprise, or uncertainty inherent in the node's class distribution. For a node $m$, the entropy I_E(m) is formulated as:</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pic>
        <p:nvPicPr>
          <p:cNvPr id="16" name="Picture 15">
            <a:extLst>
              <a:ext uri="{FF2B5EF4-FFF2-40B4-BE49-F238E27FC236}">
                <a16:creationId xmlns:a16="http://schemas.microsoft.com/office/drawing/2014/main" id="{EDD8F297-E0D1-4D12-AF37-35056CDC6CD9}"/>
              </a:ext>
            </a:extLst>
          </p:cNvPr>
          <p:cNvPicPr>
            <a:picLocks noChangeAspect="1"/>
          </p:cNvPicPr>
          <p:nvPr/>
        </p:nvPicPr>
        <p:blipFill>
          <a:blip r:embed="rId5"/>
          <a:stretch>
            <a:fillRect/>
          </a:stretch>
        </p:blipFill>
        <p:spPr>
          <a:xfrm>
            <a:off x="4556667" y="2282927"/>
            <a:ext cx="2286186" cy="737469"/>
          </a:xfrm>
          <a:prstGeom prst="rect">
            <a:avLst/>
          </a:prstGeom>
        </p:spPr>
      </p:pic>
      <p:sp>
        <p:nvSpPr>
          <p:cNvPr id="20" name="TextBox 19">
            <a:extLst>
              <a:ext uri="{FF2B5EF4-FFF2-40B4-BE49-F238E27FC236}">
                <a16:creationId xmlns:a16="http://schemas.microsoft.com/office/drawing/2014/main" id="{1F1D19B6-CB17-452D-B556-AEB02609D6BA}"/>
              </a:ext>
            </a:extLst>
          </p:cNvPr>
          <p:cNvSpPr txBox="1"/>
          <p:nvPr/>
        </p:nvSpPr>
        <p:spPr>
          <a:xfrm flipV="1">
            <a:off x="7926207" y="7248918"/>
            <a:ext cx="1115644" cy="45719"/>
          </a:xfrm>
          <a:prstGeom prst="rect">
            <a:avLst/>
          </a:prstGeom>
          <a:noFill/>
        </p:spPr>
        <p:txBody>
          <a:bodyPr wrap="square" rtlCol="0">
            <a:spAutoFit/>
          </a:bodyPr>
          <a:lstStyle/>
          <a:p>
            <a:endParaRPr lang="en-IN" dirty="0"/>
          </a:p>
        </p:txBody>
      </p:sp>
      <p:sp>
        <p:nvSpPr>
          <p:cNvPr id="21" name="Rectangle 4">
            <a:extLst>
              <a:ext uri="{FF2B5EF4-FFF2-40B4-BE49-F238E27FC236}">
                <a16:creationId xmlns:a16="http://schemas.microsoft.com/office/drawing/2014/main" id="{BD440351-D5EC-4CB3-9FF5-537C32703C3C}"/>
              </a:ext>
            </a:extLst>
          </p:cNvPr>
          <p:cNvSpPr>
            <a:spLocks noChangeArrowheads="1"/>
          </p:cNvSpPr>
          <p:nvPr/>
        </p:nvSpPr>
        <p:spPr bwMode="auto">
          <a:xfrm>
            <a:off x="3855721" y="3217589"/>
            <a:ext cx="3688079"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When a node is completely homogeneous (</a:t>
            </a:r>
            <a:r>
              <a:rPr kumimoji="0" lang="en-US" altLang="en-US" sz="1400" b="0" i="0" u="none" strike="noStrike" cap="none" normalizeH="0" baseline="0" dirty="0">
                <a:ln>
                  <a:noFill/>
                </a:ln>
                <a:solidFill>
                  <a:schemeClr val="tx1"/>
                </a:solidFill>
                <a:effectLst/>
                <a:latin typeface="Google Sans Text"/>
              </a:rPr>
              <a:t>pk = 1</a:t>
            </a:r>
            <a:r>
              <a:rPr kumimoji="0" lang="en-US" altLang="en-US" sz="1400" b="0" i="0" u="none" strike="noStrike" cap="none" normalizeH="0" baseline="0" dirty="0">
                <a:ln>
                  <a:noFill/>
                </a:ln>
                <a:solidFill>
                  <a:schemeClr val="tx1"/>
                </a:solidFill>
                <a:effectLst/>
              </a:rPr>
              <a:t> for some </a:t>
            </a:r>
            <a:r>
              <a:rPr kumimoji="0" lang="en-US" altLang="en-US" sz="1400" b="0" i="0" u="none" strike="noStrike" cap="none" normalizeH="0" baseline="0" dirty="0">
                <a:ln>
                  <a:noFill/>
                </a:ln>
                <a:solidFill>
                  <a:schemeClr val="tx1"/>
                </a:solidFill>
                <a:effectLst/>
                <a:latin typeface="Google Sans Text"/>
              </a:rPr>
              <a:t>k</a:t>
            </a:r>
            <a:r>
              <a:rPr kumimoji="0" lang="en-US" altLang="en-US" sz="1400" b="0" i="0" u="none" strike="noStrike" cap="none" normalizeH="0" baseline="0" dirty="0">
                <a:ln>
                  <a:noFill/>
                </a:ln>
                <a:solidFill>
                  <a:schemeClr val="tx1"/>
                </a:solidFill>
                <a:effectLst/>
              </a:rPr>
              <a:t>), entropy equals </a:t>
            </a:r>
            <a:r>
              <a:rPr kumimoji="0" lang="en-US" altLang="en-US" sz="1400" b="0" i="0" u="none" strike="noStrike" cap="none" normalizeH="0" baseline="0" dirty="0">
                <a:ln>
                  <a:noFill/>
                </a:ln>
                <a:solidFill>
                  <a:schemeClr val="tx1"/>
                </a:solidFill>
                <a:effectLst/>
                <a:latin typeface="Google Sans Text"/>
              </a:rPr>
              <a:t>0</a:t>
            </a:r>
            <a:r>
              <a:rPr kumimoji="0" lang="en-US" altLang="en-US" sz="1400" b="0" i="0" u="none" strike="noStrike" cap="none" normalizeH="0" baseline="0" dirty="0">
                <a:ln>
                  <a:noFill/>
                </a:ln>
                <a:solidFill>
                  <a:schemeClr val="tx1"/>
                </a:solidFill>
                <a:effectLst/>
              </a:rPr>
              <a:t>. Conversely, if classes are perfectly balanced (</a:t>
            </a:r>
            <a:r>
              <a:rPr kumimoji="0" lang="en-US" altLang="en-US" sz="1400" b="0" i="0" u="none" strike="noStrike" cap="none" normalizeH="0" baseline="0" dirty="0">
                <a:ln>
                  <a:noFill/>
                </a:ln>
                <a:solidFill>
                  <a:schemeClr val="tx1"/>
                </a:solidFill>
                <a:effectLst/>
                <a:latin typeface="Google Sans Text"/>
              </a:rPr>
              <a:t>pk = 1/K</a:t>
            </a:r>
            <a:r>
              <a:rPr kumimoji="0" lang="en-US" altLang="en-US" sz="1400" b="0" i="0" u="none" strike="noStrike" cap="none" normalizeH="0" baseline="0" dirty="0">
                <a:ln>
                  <a:noFill/>
                </a:ln>
                <a:solidFill>
                  <a:schemeClr val="tx1"/>
                </a:solidFill>
                <a:effectLst/>
              </a:rPr>
              <a:t>), entropy reaches its theoretical maximum of </a:t>
            </a:r>
            <a:r>
              <a:rPr kumimoji="0" lang="en-US" altLang="en-US" sz="1400" b="0" i="0" u="none" strike="noStrike" cap="none" normalizeH="0" baseline="0" dirty="0">
                <a:ln>
                  <a:noFill/>
                </a:ln>
                <a:solidFill>
                  <a:schemeClr val="tx1"/>
                </a:solidFill>
                <a:effectLst/>
                <a:latin typeface="Google Sans Text"/>
              </a:rPr>
              <a:t>log2(K)</a:t>
            </a:r>
            <a:r>
              <a:rPr kumimoji="0" lang="en-US" altLang="en-US" sz="1400" b="0" i="0" u="none" strike="noStrike" cap="none" normalizeH="0" baseline="0" dirty="0">
                <a:ln>
                  <a:noFill/>
                </a:ln>
                <a:solidFill>
                  <a:schemeClr val="tx1"/>
                </a:solidFill>
                <a:effectLst/>
              </a:rPr>
              <a:t>.</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23" name="Rectangle 5">
            <a:extLst>
              <a:ext uri="{FF2B5EF4-FFF2-40B4-BE49-F238E27FC236}">
                <a16:creationId xmlns:a16="http://schemas.microsoft.com/office/drawing/2014/main" id="{28624FE9-C340-4FFE-A854-528D8B27D40F}"/>
              </a:ext>
            </a:extLst>
          </p:cNvPr>
          <p:cNvSpPr>
            <a:spLocks noChangeArrowheads="1"/>
          </p:cNvSpPr>
          <p:nvPr/>
        </p:nvSpPr>
        <p:spPr bwMode="auto">
          <a:xfrm>
            <a:off x="7712848" y="1105672"/>
            <a:ext cx="4370164" cy="1554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outerShdw blurRad="38100" dist="38100" dir="2700000" algn="tl">
                    <a:srgbClr val="000000">
                      <a:alpha val="43137"/>
                    </a:srgbClr>
                  </a:outerShdw>
                </a:effectLst>
                <a:latin typeface="Google Sans"/>
              </a:rPr>
              <a:t>Information Gain </a:t>
            </a:r>
            <a:r>
              <a:rPr lang="en-US" altLang="en-US" sz="1400" dirty="0">
                <a:latin typeface="Google Sans Text"/>
              </a:rPr>
              <a:t>(</a:t>
            </a:r>
            <a:r>
              <a:rPr kumimoji="0" lang="en-US" altLang="en-US" sz="1400" b="0" i="0" u="none" strike="noStrike" cap="none" normalizeH="0" baseline="0" dirty="0">
                <a:ln>
                  <a:noFill/>
                </a:ln>
                <a:solidFill>
                  <a:schemeClr val="tx1"/>
                </a:solidFill>
                <a:effectLst/>
                <a:latin typeface="Google Sans Text"/>
              </a:rPr>
              <a:t>IG) is the operational metric used to decide which feature split to execute. It measures the expected reduction in impurity or entropy after partitioning the data based on an attribute. Given a parent node $D$ and a split candidate that divides $D$ into a left child $D_L$ and a right child $D_R$, the Information Gain is computed as:</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pic>
        <p:nvPicPr>
          <p:cNvPr id="24" name="Picture 23">
            <a:extLst>
              <a:ext uri="{FF2B5EF4-FFF2-40B4-BE49-F238E27FC236}">
                <a16:creationId xmlns:a16="http://schemas.microsoft.com/office/drawing/2014/main" id="{43914DE7-F3A3-4EE3-BC2A-EE5BB8C0A0E7}"/>
              </a:ext>
            </a:extLst>
          </p:cNvPr>
          <p:cNvPicPr>
            <a:picLocks noChangeAspect="1"/>
          </p:cNvPicPr>
          <p:nvPr/>
        </p:nvPicPr>
        <p:blipFill>
          <a:blip r:embed="rId6"/>
          <a:stretch>
            <a:fillRect/>
          </a:stretch>
        </p:blipFill>
        <p:spPr>
          <a:xfrm>
            <a:off x="8244746" y="2813198"/>
            <a:ext cx="3154774" cy="544891"/>
          </a:xfrm>
          <a:prstGeom prst="rect">
            <a:avLst/>
          </a:prstGeom>
        </p:spPr>
      </p:pic>
      <p:sp>
        <p:nvSpPr>
          <p:cNvPr id="27" name="Rectangle 6">
            <a:extLst>
              <a:ext uri="{FF2B5EF4-FFF2-40B4-BE49-F238E27FC236}">
                <a16:creationId xmlns:a16="http://schemas.microsoft.com/office/drawing/2014/main" id="{F0069D0D-4BA8-404E-A975-2927364B70CE}"/>
              </a:ext>
            </a:extLst>
          </p:cNvPr>
          <p:cNvSpPr>
            <a:spLocks noChangeArrowheads="1"/>
          </p:cNvSpPr>
          <p:nvPr/>
        </p:nvSpPr>
        <p:spPr bwMode="auto">
          <a:xfrm>
            <a:off x="7741921" y="3458356"/>
            <a:ext cx="3747776" cy="1769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Google Sans Text"/>
              </a:rPr>
              <a:t>Where:</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400" dirty="0">
                <a:latin typeface="Google Sans Text"/>
              </a:rPr>
              <a:t>I(.)</a:t>
            </a:r>
            <a:r>
              <a:rPr kumimoji="0" lang="en-US" altLang="en-US" sz="1400" b="0" i="0" u="none" strike="noStrike" cap="none" normalizeH="0" baseline="0" dirty="0">
                <a:ln>
                  <a:noFill/>
                </a:ln>
                <a:solidFill>
                  <a:schemeClr val="tx1"/>
                </a:solidFill>
                <a:effectLst/>
                <a:latin typeface="Google Sans Text"/>
              </a:rPr>
              <a:t> represents either Gini Impurity or Entropy.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Google Sans Text"/>
              </a:rPr>
              <a:t>|D|, |D_L|, and |D_R| denote the number of samples in the parent, left child, and right child nodes, respectively.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Google Sans Text"/>
              </a:rPr>
              <a:t>The algorithm greedily scans all available features and thresholds to select the split that yields the maximum IG.</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315059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63D022-57A7-450F-A3DB-C8616DFFED06}"/>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0A7BC32C-6E61-4EE6-8192-488BD01656DD}"/>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4A023BF8-B27B-4A7F-9E55-4E819571E21A}"/>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5735BEC0-EE07-4DA0-AE57-C7A156EF1F40}"/>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622FAC16-512B-414F-8A6B-C55348E9EF22}"/>
              </a:ext>
            </a:extLst>
          </p:cNvPr>
          <p:cNvSpPr/>
          <p:nvPr/>
        </p:nvSpPr>
        <p:spPr>
          <a:xfrm>
            <a:off x="426720" y="10131"/>
            <a:ext cx="11338560" cy="914400"/>
          </a:xfrm>
          <a:prstGeom prst="rect">
            <a:avLst/>
          </a:prstGeom>
          <a:noFill/>
          <a:ln/>
        </p:spPr>
        <p:txBody>
          <a:bodyPr wrap="square" rtlCol="0" anchor="ctr"/>
          <a:lstStyle/>
          <a:p>
            <a:endParaRPr lang="en-US" sz="2800" dirty="0">
              <a:solidFill>
                <a:srgbClr val="002060"/>
              </a:solidFill>
            </a:endParaRPr>
          </a:p>
        </p:txBody>
      </p:sp>
      <p:sp>
        <p:nvSpPr>
          <p:cNvPr id="8" name="TextBox 7">
            <a:extLst>
              <a:ext uri="{FF2B5EF4-FFF2-40B4-BE49-F238E27FC236}">
                <a16:creationId xmlns:a16="http://schemas.microsoft.com/office/drawing/2014/main" id="{A5F2D0FA-2BA3-475A-8782-AB0CC83BDA33}"/>
              </a:ext>
            </a:extLst>
          </p:cNvPr>
          <p:cNvSpPr txBox="1"/>
          <p:nvPr/>
        </p:nvSpPr>
        <p:spPr>
          <a:xfrm>
            <a:off x="0" y="120228"/>
            <a:ext cx="6964680" cy="523220"/>
          </a:xfrm>
          <a:prstGeom prst="rect">
            <a:avLst/>
          </a:prstGeom>
          <a:noFill/>
        </p:spPr>
        <p:txBody>
          <a:bodyPr wrap="square" rtlCol="0">
            <a:spAutoFit/>
          </a:bodyPr>
          <a:lstStyle/>
          <a:p>
            <a:r>
              <a:rPr lang="en-IN" sz="2800" b="1" dirty="0">
                <a:solidFill>
                  <a:schemeClr val="accent1">
                    <a:lumMod val="75000"/>
                  </a:schemeClr>
                </a:solidFill>
                <a:effectLst>
                  <a:outerShdw blurRad="38100" dist="38100" dir="2700000" algn="tl">
                    <a:srgbClr val="000000">
                      <a:alpha val="43137"/>
                    </a:srgbClr>
                  </a:outerShdw>
                </a:effectLst>
              </a:rPr>
              <a:t>DECISION TREES &amp; RANDOM FORESTS</a:t>
            </a:r>
          </a:p>
        </p:txBody>
      </p:sp>
      <p:sp>
        <p:nvSpPr>
          <p:cNvPr id="9" name="TextBox 8">
            <a:extLst>
              <a:ext uri="{FF2B5EF4-FFF2-40B4-BE49-F238E27FC236}">
                <a16:creationId xmlns:a16="http://schemas.microsoft.com/office/drawing/2014/main" id="{DD439D7D-EB5B-42EB-87A6-E7F8D7188C49}"/>
              </a:ext>
            </a:extLst>
          </p:cNvPr>
          <p:cNvSpPr txBox="1"/>
          <p:nvPr/>
        </p:nvSpPr>
        <p:spPr>
          <a:xfrm>
            <a:off x="0" y="948635"/>
            <a:ext cx="4636719" cy="4278094"/>
          </a:xfrm>
          <a:prstGeom prst="rect">
            <a:avLst/>
          </a:prstGeom>
          <a:noFill/>
        </p:spPr>
        <p:txBody>
          <a:bodyPr wrap="square" rtlCol="0">
            <a:spAutoFit/>
          </a:bodyPr>
          <a:lstStyle/>
          <a:p>
            <a:r>
              <a:rPr lang="en-US" sz="1600" b="1" dirty="0">
                <a:solidFill>
                  <a:srgbClr val="00B050"/>
                </a:solidFill>
              </a:rPr>
              <a:t>What is Overfitting?</a:t>
            </a:r>
          </a:p>
          <a:p>
            <a:r>
              <a:rPr lang="en-US" sz="1600" dirty="0"/>
              <a:t>Overfitting occurs when a Decision Tree learns the training data too well, including noise and outliers. As a result, it performs very well on the training data but poorly on new, unseen data.</a:t>
            </a:r>
          </a:p>
          <a:p>
            <a:endParaRPr lang="en-US" sz="1600" dirty="0"/>
          </a:p>
          <a:p>
            <a:r>
              <a:rPr lang="en-US" sz="1600" b="1" dirty="0"/>
              <a:t>Characteristics of Overfitting</a:t>
            </a:r>
          </a:p>
          <a:p>
            <a:r>
              <a:rPr lang="en-US" sz="1600" dirty="0"/>
              <a:t>Very high training accuracy </a:t>
            </a:r>
          </a:p>
          <a:p>
            <a:r>
              <a:rPr lang="en-US" sz="1600" dirty="0"/>
              <a:t>Low testing accuracy </a:t>
            </a:r>
          </a:p>
          <a:p>
            <a:r>
              <a:rPr lang="en-US" sz="1600" dirty="0"/>
              <a:t>Deep and complex tree </a:t>
            </a:r>
          </a:p>
          <a:p>
            <a:r>
              <a:rPr lang="en-US" sz="1600" dirty="0"/>
              <a:t>Poor generalization to new data </a:t>
            </a:r>
          </a:p>
          <a:p>
            <a:endParaRPr lang="en-US" sz="1600" dirty="0"/>
          </a:p>
          <a:p>
            <a:r>
              <a:rPr lang="en-US" sz="1600" b="1" dirty="0"/>
              <a:t>Causes</a:t>
            </a:r>
          </a:p>
          <a:p>
            <a:r>
              <a:rPr lang="en-US" sz="1600" dirty="0"/>
              <a:t>Tree grows without restrictions. </a:t>
            </a:r>
          </a:p>
          <a:p>
            <a:r>
              <a:rPr lang="en-US" sz="1600" dirty="0"/>
              <a:t>Too many branches and leaf nodes. </a:t>
            </a:r>
          </a:p>
          <a:p>
            <a:r>
              <a:rPr lang="en-US" sz="1600" dirty="0"/>
              <a:t>Small training dataset. </a:t>
            </a:r>
          </a:p>
          <a:p>
            <a:r>
              <a:rPr lang="en-US" sz="1600" dirty="0"/>
              <a:t>Learning noise instead of actual patterns</a:t>
            </a:r>
          </a:p>
        </p:txBody>
      </p:sp>
      <p:sp>
        <p:nvSpPr>
          <p:cNvPr id="11" name="Rectangle 1">
            <a:extLst>
              <a:ext uri="{FF2B5EF4-FFF2-40B4-BE49-F238E27FC236}">
                <a16:creationId xmlns:a16="http://schemas.microsoft.com/office/drawing/2014/main" id="{D2A0CCB6-6600-4247-A9C3-7AFC7C7E7535}"/>
              </a:ext>
            </a:extLst>
          </p:cNvPr>
          <p:cNvSpPr>
            <a:spLocks noChangeArrowheads="1"/>
          </p:cNvSpPr>
          <p:nvPr/>
        </p:nvSpPr>
        <p:spPr bwMode="auto">
          <a:xfrm>
            <a:off x="4815840" y="890160"/>
            <a:ext cx="5478780"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B050"/>
                </a:solidFill>
                <a:effectLst/>
                <a:latin typeface="Arial" panose="020B0604020202020204" pitchFamily="34" charset="0"/>
              </a:rPr>
              <a:t>Tree Pruning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Tree pruning is the process of removing unnecessary branches from a Decision Tree to reduce complexity and improve prediction accuracy.</a:t>
            </a:r>
            <a:endParaRPr kumimoji="0" lang="en-US" altLang="en-US"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Types of Tree Pruning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accent1">
                    <a:lumMod val="75000"/>
                  </a:schemeClr>
                </a:solidFill>
                <a:effectLst/>
                <a:latin typeface="Arial" panose="020B0604020202020204" pitchFamily="34" charset="0"/>
              </a:rPr>
              <a:t>1. Pre-Pruning (Early Stopping)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Stops the tree from growing before it becomes too complex.</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Common parameters: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max_depth</a:t>
            </a:r>
            <a:r>
              <a:rPr kumimoji="0" lang="en-US" altLang="en-US" sz="1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min_samples_split</a:t>
            </a:r>
            <a:r>
              <a:rPr kumimoji="0" lang="en-US" altLang="en-US" sz="1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min_samples_leaf</a:t>
            </a:r>
            <a:r>
              <a:rPr kumimoji="0" lang="en-US" altLang="en-US" sz="1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accent1">
                    <a:lumMod val="75000"/>
                  </a:schemeClr>
                </a:solidFill>
                <a:effectLst/>
                <a:latin typeface="Arial" panose="020B0604020202020204" pitchFamily="34" charset="0"/>
              </a:rPr>
              <a:t>2. Post-Pruning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Grow the complete tree.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Remove branches that contribute little to prediction accuracy.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2">
            <a:extLst>
              <a:ext uri="{FF2B5EF4-FFF2-40B4-BE49-F238E27FC236}">
                <a16:creationId xmlns:a16="http://schemas.microsoft.com/office/drawing/2014/main" id="{1730A1B2-FA58-4DED-BFF2-55B7B0FF3982}"/>
              </a:ext>
            </a:extLst>
          </p:cNvPr>
          <p:cNvSpPr>
            <a:spLocks noChangeArrowheads="1"/>
          </p:cNvSpPr>
          <p:nvPr/>
        </p:nvSpPr>
        <p:spPr bwMode="auto">
          <a:xfrm>
            <a:off x="0" y="806537"/>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3" name="Rectangle 3">
            <a:extLst>
              <a:ext uri="{FF2B5EF4-FFF2-40B4-BE49-F238E27FC236}">
                <a16:creationId xmlns:a16="http://schemas.microsoft.com/office/drawing/2014/main" id="{AE4988D8-8F1F-4FD8-B925-2B52913AB566}"/>
              </a:ext>
            </a:extLst>
          </p:cNvPr>
          <p:cNvSpPr>
            <a:spLocks noChangeArrowheads="1"/>
          </p:cNvSpPr>
          <p:nvPr/>
        </p:nvSpPr>
        <p:spPr bwMode="auto">
          <a:xfrm>
            <a:off x="4815840" y="4621728"/>
            <a:ext cx="587115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max_depth Parameter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Unicode MS"/>
              </a:rPr>
              <a:t>max_depth</a:t>
            </a:r>
            <a:r>
              <a:rPr kumimoji="0" lang="en-US" altLang="en-US" sz="1400" b="0" i="0" u="none" strike="noStrike" cap="none" normalizeH="0" baseline="0" dirty="0">
                <a:ln>
                  <a:noFill/>
                </a:ln>
                <a:solidFill>
                  <a:schemeClr val="tx1"/>
                </a:solidFill>
                <a:effectLst/>
              </a:rPr>
              <a:t> defines the maximum depth (number of levels) of a Decision Tree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14" name="Table 13">
            <a:extLst>
              <a:ext uri="{FF2B5EF4-FFF2-40B4-BE49-F238E27FC236}">
                <a16:creationId xmlns:a16="http://schemas.microsoft.com/office/drawing/2014/main" id="{4007316A-7732-4E7B-98EC-A21937C83035}"/>
              </a:ext>
            </a:extLst>
          </p:cNvPr>
          <p:cNvGraphicFramePr>
            <a:graphicFrameLocks noGrp="1"/>
          </p:cNvGraphicFramePr>
          <p:nvPr>
            <p:extLst>
              <p:ext uri="{D42A27DB-BD31-4B8C-83A1-F6EECF244321}">
                <p14:modId xmlns:p14="http://schemas.microsoft.com/office/powerpoint/2010/main" val="3651792383"/>
              </p:ext>
            </p:extLst>
          </p:nvPr>
        </p:nvGraphicFramePr>
        <p:xfrm>
          <a:off x="4815840" y="5086372"/>
          <a:ext cx="4762500" cy="1524000"/>
        </p:xfrm>
        <a:graphic>
          <a:graphicData uri="http://schemas.openxmlformats.org/drawingml/2006/table">
            <a:tbl>
              <a:tblPr/>
              <a:tblGrid>
                <a:gridCol w="2331720">
                  <a:extLst>
                    <a:ext uri="{9D8B030D-6E8A-4147-A177-3AD203B41FA5}">
                      <a16:colId xmlns:a16="http://schemas.microsoft.com/office/drawing/2014/main" val="2518610580"/>
                    </a:ext>
                  </a:extLst>
                </a:gridCol>
                <a:gridCol w="2430780">
                  <a:extLst>
                    <a:ext uri="{9D8B030D-6E8A-4147-A177-3AD203B41FA5}">
                      <a16:colId xmlns:a16="http://schemas.microsoft.com/office/drawing/2014/main" val="4163722903"/>
                    </a:ext>
                  </a:extLst>
                </a:gridCol>
              </a:tblGrid>
              <a:tr h="0">
                <a:tc>
                  <a:txBody>
                    <a:bodyPr/>
                    <a:lstStyle/>
                    <a:p>
                      <a:r>
                        <a:rPr lang="en-IN" sz="1400" dirty="0"/>
                        <a:t>Small max_depth</a:t>
                      </a:r>
                    </a:p>
                  </a:txBody>
                  <a:tcPr anchor="ctr">
                    <a:lnL>
                      <a:noFill/>
                    </a:lnL>
                    <a:lnR>
                      <a:noFill/>
                    </a:lnR>
                    <a:lnT>
                      <a:noFill/>
                    </a:lnT>
                    <a:lnB>
                      <a:noFill/>
                    </a:lnB>
                  </a:tcPr>
                </a:tc>
                <a:tc>
                  <a:txBody>
                    <a:bodyPr/>
                    <a:lstStyle/>
                    <a:p>
                      <a:r>
                        <a:rPr lang="en-IN" sz="1400" dirty="0"/>
                        <a:t>Large max_depth</a:t>
                      </a:r>
                    </a:p>
                  </a:txBody>
                  <a:tcPr anchor="ctr">
                    <a:lnL>
                      <a:noFill/>
                    </a:lnL>
                    <a:lnR>
                      <a:noFill/>
                    </a:lnR>
                    <a:lnT>
                      <a:noFill/>
                    </a:lnT>
                    <a:lnB>
                      <a:noFill/>
                    </a:lnB>
                  </a:tcPr>
                </a:tc>
                <a:extLst>
                  <a:ext uri="{0D108BD9-81ED-4DB2-BD59-A6C34878D82A}">
                    <a16:rowId xmlns:a16="http://schemas.microsoft.com/office/drawing/2014/main" val="1221695452"/>
                  </a:ext>
                </a:extLst>
              </a:tr>
              <a:tr h="0">
                <a:tc>
                  <a:txBody>
                    <a:bodyPr/>
                    <a:lstStyle/>
                    <a:p>
                      <a:r>
                        <a:rPr lang="en-IN" sz="1400" dirty="0"/>
                        <a:t>Simple tree</a:t>
                      </a:r>
                    </a:p>
                  </a:txBody>
                  <a:tcPr anchor="ctr">
                    <a:lnL>
                      <a:noFill/>
                    </a:lnL>
                    <a:lnR>
                      <a:noFill/>
                    </a:lnR>
                    <a:lnT>
                      <a:noFill/>
                    </a:lnT>
                    <a:lnB>
                      <a:noFill/>
                    </a:lnB>
                  </a:tcPr>
                </a:tc>
                <a:tc>
                  <a:txBody>
                    <a:bodyPr/>
                    <a:lstStyle/>
                    <a:p>
                      <a:r>
                        <a:rPr lang="en-IN" sz="1400"/>
                        <a:t>Complex tree</a:t>
                      </a:r>
                    </a:p>
                  </a:txBody>
                  <a:tcPr anchor="ctr">
                    <a:lnL>
                      <a:noFill/>
                    </a:lnL>
                    <a:lnR>
                      <a:noFill/>
                    </a:lnR>
                    <a:lnT>
                      <a:noFill/>
                    </a:lnT>
                    <a:lnB>
                      <a:noFill/>
                    </a:lnB>
                  </a:tcPr>
                </a:tc>
                <a:extLst>
                  <a:ext uri="{0D108BD9-81ED-4DB2-BD59-A6C34878D82A}">
                    <a16:rowId xmlns:a16="http://schemas.microsoft.com/office/drawing/2014/main" val="3823824387"/>
                  </a:ext>
                </a:extLst>
              </a:tr>
              <a:tr h="0">
                <a:tc>
                  <a:txBody>
                    <a:bodyPr/>
                    <a:lstStyle/>
                    <a:p>
                      <a:r>
                        <a:rPr lang="en-IN" sz="1400" dirty="0"/>
                        <a:t>Less overfitting</a:t>
                      </a:r>
                    </a:p>
                  </a:txBody>
                  <a:tcPr anchor="ctr">
                    <a:lnL>
                      <a:noFill/>
                    </a:lnL>
                    <a:lnR>
                      <a:noFill/>
                    </a:lnR>
                    <a:lnT>
                      <a:noFill/>
                    </a:lnT>
                    <a:lnB>
                      <a:noFill/>
                    </a:lnB>
                  </a:tcPr>
                </a:tc>
                <a:tc>
                  <a:txBody>
                    <a:bodyPr/>
                    <a:lstStyle/>
                    <a:p>
                      <a:r>
                        <a:rPr lang="en-IN" sz="1400"/>
                        <a:t>Higher overfitting</a:t>
                      </a:r>
                    </a:p>
                  </a:txBody>
                  <a:tcPr anchor="ctr">
                    <a:lnL>
                      <a:noFill/>
                    </a:lnL>
                    <a:lnR>
                      <a:noFill/>
                    </a:lnR>
                    <a:lnT>
                      <a:noFill/>
                    </a:lnT>
                    <a:lnB>
                      <a:noFill/>
                    </a:lnB>
                  </a:tcPr>
                </a:tc>
                <a:extLst>
                  <a:ext uri="{0D108BD9-81ED-4DB2-BD59-A6C34878D82A}">
                    <a16:rowId xmlns:a16="http://schemas.microsoft.com/office/drawing/2014/main" val="4192305739"/>
                  </a:ext>
                </a:extLst>
              </a:tr>
              <a:tr h="0">
                <a:tc>
                  <a:txBody>
                    <a:bodyPr/>
                    <a:lstStyle/>
                    <a:p>
                      <a:r>
                        <a:rPr lang="en-IN" sz="1400"/>
                        <a:t>Better generalization</a:t>
                      </a:r>
                    </a:p>
                  </a:txBody>
                  <a:tcPr anchor="ctr">
                    <a:lnL>
                      <a:noFill/>
                    </a:lnL>
                    <a:lnR>
                      <a:noFill/>
                    </a:lnR>
                    <a:lnT>
                      <a:noFill/>
                    </a:lnT>
                    <a:lnB>
                      <a:noFill/>
                    </a:lnB>
                  </a:tcPr>
                </a:tc>
                <a:tc>
                  <a:txBody>
                    <a:bodyPr/>
                    <a:lstStyle/>
                    <a:p>
                      <a:r>
                        <a:rPr lang="en-IN" sz="1400"/>
                        <a:t>May memorize data</a:t>
                      </a:r>
                    </a:p>
                  </a:txBody>
                  <a:tcPr anchor="ctr">
                    <a:lnL>
                      <a:noFill/>
                    </a:lnL>
                    <a:lnR>
                      <a:noFill/>
                    </a:lnR>
                    <a:lnT>
                      <a:noFill/>
                    </a:lnT>
                    <a:lnB>
                      <a:noFill/>
                    </a:lnB>
                  </a:tcPr>
                </a:tc>
                <a:extLst>
                  <a:ext uri="{0D108BD9-81ED-4DB2-BD59-A6C34878D82A}">
                    <a16:rowId xmlns:a16="http://schemas.microsoft.com/office/drawing/2014/main" val="2944341301"/>
                  </a:ext>
                </a:extLst>
              </a:tr>
              <a:tr h="0">
                <a:tc>
                  <a:txBody>
                    <a:bodyPr/>
                    <a:lstStyle/>
                    <a:p>
                      <a:r>
                        <a:rPr lang="en-IN" sz="1400"/>
                        <a:t>Faster training</a:t>
                      </a:r>
                    </a:p>
                  </a:txBody>
                  <a:tcPr anchor="ctr">
                    <a:lnL>
                      <a:noFill/>
                    </a:lnL>
                    <a:lnR>
                      <a:noFill/>
                    </a:lnR>
                    <a:lnT>
                      <a:noFill/>
                    </a:lnT>
                    <a:lnB>
                      <a:noFill/>
                    </a:lnB>
                  </a:tcPr>
                </a:tc>
                <a:tc>
                  <a:txBody>
                    <a:bodyPr/>
                    <a:lstStyle/>
                    <a:p>
                      <a:r>
                        <a:rPr lang="en-IN" sz="1400" dirty="0"/>
                        <a:t>Slower training</a:t>
                      </a:r>
                    </a:p>
                  </a:txBody>
                  <a:tcPr anchor="ctr">
                    <a:lnL>
                      <a:noFill/>
                    </a:lnL>
                    <a:lnR>
                      <a:noFill/>
                    </a:lnR>
                    <a:lnT>
                      <a:noFill/>
                    </a:lnT>
                    <a:lnB>
                      <a:noFill/>
                    </a:lnB>
                  </a:tcPr>
                </a:tc>
                <a:extLst>
                  <a:ext uri="{0D108BD9-81ED-4DB2-BD59-A6C34878D82A}">
                    <a16:rowId xmlns:a16="http://schemas.microsoft.com/office/drawing/2014/main" val="2276671603"/>
                  </a:ext>
                </a:extLst>
              </a:tr>
            </a:tbl>
          </a:graphicData>
        </a:graphic>
      </p:graphicFrame>
    </p:spTree>
    <p:extLst>
      <p:ext uri="{BB962C8B-B14F-4D97-AF65-F5344CB8AC3E}">
        <p14:creationId xmlns:p14="http://schemas.microsoft.com/office/powerpoint/2010/main" val="31349579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63D022-57A7-450F-A3DB-C8616DFFED06}"/>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0A7BC32C-6E61-4EE6-8192-488BD01656DD}"/>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4A023BF8-B27B-4A7F-9E55-4E819571E21A}"/>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5735BEC0-EE07-4DA0-AE57-C7A156EF1F40}"/>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622FAC16-512B-414F-8A6B-C55348E9EF22}"/>
              </a:ext>
            </a:extLst>
          </p:cNvPr>
          <p:cNvSpPr/>
          <p:nvPr/>
        </p:nvSpPr>
        <p:spPr>
          <a:xfrm>
            <a:off x="140969" y="-86891"/>
            <a:ext cx="11338560" cy="914400"/>
          </a:xfrm>
          <a:prstGeom prst="rect">
            <a:avLst/>
          </a:prstGeom>
          <a:noFill/>
          <a:ln/>
        </p:spPr>
        <p:txBody>
          <a:bodyPr wrap="square" rtlCol="0" anchor="ctr"/>
          <a:lstStyle/>
          <a:p>
            <a:r>
              <a:rPr lang="en-IN" sz="2800" b="1" dirty="0">
                <a:solidFill>
                  <a:schemeClr val="accent1">
                    <a:lumMod val="75000"/>
                  </a:schemeClr>
                </a:solidFill>
                <a:effectLst>
                  <a:outerShdw blurRad="38100" dist="38100" dir="2700000" algn="tl">
                    <a:srgbClr val="000000">
                      <a:alpha val="43137"/>
                    </a:srgbClr>
                  </a:outerShdw>
                </a:effectLst>
              </a:rPr>
              <a:t>DECISION TREES &amp; RANDOM FORESTS</a:t>
            </a:r>
          </a:p>
        </p:txBody>
      </p:sp>
      <p:sp>
        <p:nvSpPr>
          <p:cNvPr id="7" name="TextBox 6">
            <a:extLst>
              <a:ext uri="{FF2B5EF4-FFF2-40B4-BE49-F238E27FC236}">
                <a16:creationId xmlns:a16="http://schemas.microsoft.com/office/drawing/2014/main" id="{3E48D9D7-5ED3-46F3-ABFC-D76F603C3839}"/>
              </a:ext>
            </a:extLst>
          </p:cNvPr>
          <p:cNvSpPr txBox="1"/>
          <p:nvPr/>
        </p:nvSpPr>
        <p:spPr>
          <a:xfrm>
            <a:off x="0" y="897431"/>
            <a:ext cx="11812905" cy="800219"/>
          </a:xfrm>
          <a:prstGeom prst="rect">
            <a:avLst/>
          </a:prstGeom>
          <a:noFill/>
        </p:spPr>
        <p:txBody>
          <a:bodyPr wrap="square" rtlCol="0">
            <a:spAutoFit/>
          </a:bodyPr>
          <a:lstStyle/>
          <a:p>
            <a:r>
              <a:rPr lang="en-US" b="1" dirty="0">
                <a:solidFill>
                  <a:schemeClr val="tx2">
                    <a:lumMod val="75000"/>
                  </a:schemeClr>
                </a:solidFill>
                <a:effectLst>
                  <a:outerShdw blurRad="38100" dist="38100" dir="2700000" algn="tl">
                    <a:srgbClr val="000000">
                      <a:alpha val="43137"/>
                    </a:srgbClr>
                  </a:outerShdw>
                </a:effectLst>
              </a:rPr>
              <a:t>What is Random Forest?</a:t>
            </a:r>
          </a:p>
          <a:p>
            <a:r>
              <a:rPr lang="en-US" sz="1400" dirty="0"/>
              <a:t>Random Forest is a </a:t>
            </a:r>
            <a:r>
              <a:rPr lang="en-US" sz="1400" b="1" dirty="0"/>
              <a:t>supervised ensemble machine learning algorithm</a:t>
            </a:r>
            <a:r>
              <a:rPr lang="en-US" sz="1400" dirty="0"/>
              <a:t> used for both </a:t>
            </a:r>
            <a:r>
              <a:rPr lang="en-US" sz="1400" b="1" dirty="0"/>
              <a:t>classification</a:t>
            </a:r>
            <a:r>
              <a:rPr lang="en-US" sz="1400" dirty="0"/>
              <a:t> and </a:t>
            </a:r>
            <a:r>
              <a:rPr lang="en-US" sz="1400" b="1" dirty="0"/>
              <a:t>regression</a:t>
            </a:r>
            <a:r>
              <a:rPr lang="en-US" sz="1400" dirty="0"/>
              <a:t> tasks. It combines multiple Decision Trees to produce more accurate and reliable predictions than a single Decision Tree.</a:t>
            </a:r>
          </a:p>
        </p:txBody>
      </p:sp>
      <p:pic>
        <p:nvPicPr>
          <p:cNvPr id="9" name="Picture 8">
            <a:extLst>
              <a:ext uri="{FF2B5EF4-FFF2-40B4-BE49-F238E27FC236}">
                <a16:creationId xmlns:a16="http://schemas.microsoft.com/office/drawing/2014/main" id="{9BAD0FFA-4AE3-495B-8D37-F846FF9FAE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2499" y="1697650"/>
            <a:ext cx="8467725" cy="4760300"/>
          </a:xfrm>
          <a:prstGeom prst="rect">
            <a:avLst/>
          </a:prstGeom>
        </p:spPr>
      </p:pic>
    </p:spTree>
    <p:extLst>
      <p:ext uri="{BB962C8B-B14F-4D97-AF65-F5344CB8AC3E}">
        <p14:creationId xmlns:p14="http://schemas.microsoft.com/office/powerpoint/2010/main" val="36321232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0DB3852-17B2-47C0-91BF-9C69C47735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57675" y="938736"/>
            <a:ext cx="7362825" cy="5460381"/>
          </a:xfrm>
          <a:prstGeom prst="rect">
            <a:avLst/>
          </a:prstGeom>
        </p:spPr>
      </p:pic>
      <p:pic>
        <p:nvPicPr>
          <p:cNvPr id="2" name="Picture 1">
            <a:extLst>
              <a:ext uri="{FF2B5EF4-FFF2-40B4-BE49-F238E27FC236}">
                <a16:creationId xmlns:a16="http://schemas.microsoft.com/office/drawing/2014/main" id="{9863D022-57A7-450F-A3DB-C8616DFFED06}"/>
              </a:ext>
            </a:extLst>
          </p:cNvPr>
          <p:cNvPicPr>
            <a:picLocks noChangeAspect="1"/>
          </p:cNvPicPr>
          <p:nvPr/>
        </p:nvPicPr>
        <p:blipFill rotWithShape="1">
          <a:blip r:embed="rId3"/>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0A7BC32C-6E61-4EE6-8192-488BD01656DD}"/>
              </a:ext>
            </a:extLst>
          </p:cNvPr>
          <p:cNvSpPr/>
          <p:nvPr/>
        </p:nvSpPr>
        <p:spPr>
          <a:xfrm>
            <a:off x="0" y="80794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4A023BF8-B27B-4A7F-9E55-4E819571E21A}"/>
              </a:ext>
            </a:extLst>
          </p:cNvPr>
          <p:cNvPicPr>
            <a:picLocks noChangeAspect="1"/>
          </p:cNvPicPr>
          <p:nvPr/>
        </p:nvPicPr>
        <p:blipFill>
          <a:blip r:embed="rId4"/>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5735BEC0-EE07-4DA0-AE57-C7A156EF1F40}"/>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622FAC16-512B-414F-8A6B-C55348E9EF22}"/>
              </a:ext>
            </a:extLst>
          </p:cNvPr>
          <p:cNvSpPr/>
          <p:nvPr/>
        </p:nvSpPr>
        <p:spPr>
          <a:xfrm>
            <a:off x="426720" y="10131"/>
            <a:ext cx="11338560" cy="914400"/>
          </a:xfrm>
          <a:prstGeom prst="rect">
            <a:avLst/>
          </a:prstGeom>
          <a:noFill/>
          <a:ln/>
        </p:spPr>
        <p:txBody>
          <a:bodyPr wrap="square" rtlCol="0" anchor="ctr"/>
          <a:lstStyle/>
          <a:p>
            <a:endParaRPr lang="en-US" sz="2800" dirty="0">
              <a:solidFill>
                <a:srgbClr val="002060"/>
              </a:solidFill>
            </a:endParaRPr>
          </a:p>
        </p:txBody>
      </p:sp>
      <p:sp>
        <p:nvSpPr>
          <p:cNvPr id="7" name="TextBox 6">
            <a:extLst>
              <a:ext uri="{FF2B5EF4-FFF2-40B4-BE49-F238E27FC236}">
                <a16:creationId xmlns:a16="http://schemas.microsoft.com/office/drawing/2014/main" id="{DDBD5A3B-7E89-4724-8458-DA24543E717B}"/>
              </a:ext>
            </a:extLst>
          </p:cNvPr>
          <p:cNvSpPr txBox="1"/>
          <p:nvPr/>
        </p:nvSpPr>
        <p:spPr>
          <a:xfrm>
            <a:off x="0" y="120228"/>
            <a:ext cx="6905625" cy="523220"/>
          </a:xfrm>
          <a:prstGeom prst="rect">
            <a:avLst/>
          </a:prstGeom>
          <a:noFill/>
        </p:spPr>
        <p:txBody>
          <a:bodyPr wrap="square" rtlCol="0">
            <a:spAutoFit/>
          </a:bodyPr>
          <a:lstStyle/>
          <a:p>
            <a:r>
              <a:rPr lang="en-IN" sz="2800" b="1" dirty="0">
                <a:solidFill>
                  <a:schemeClr val="accent1">
                    <a:lumMod val="75000"/>
                  </a:schemeClr>
                </a:solidFill>
                <a:effectLst>
                  <a:outerShdw blurRad="38100" dist="38100" dir="2700000" algn="tl">
                    <a:srgbClr val="000000">
                      <a:alpha val="43137"/>
                    </a:srgbClr>
                  </a:outerShdw>
                </a:effectLst>
              </a:rPr>
              <a:t>DECISION TREES &amp; RANDOM FORESTS</a:t>
            </a:r>
          </a:p>
        </p:txBody>
      </p:sp>
      <p:sp>
        <p:nvSpPr>
          <p:cNvPr id="8" name="TextBox 7">
            <a:extLst>
              <a:ext uri="{FF2B5EF4-FFF2-40B4-BE49-F238E27FC236}">
                <a16:creationId xmlns:a16="http://schemas.microsoft.com/office/drawing/2014/main" id="{B2E88F13-4FE8-4157-A6F5-3B0D04F0C1E1}"/>
              </a:ext>
            </a:extLst>
          </p:cNvPr>
          <p:cNvSpPr txBox="1"/>
          <p:nvPr/>
        </p:nvSpPr>
        <p:spPr>
          <a:xfrm>
            <a:off x="0" y="888468"/>
            <a:ext cx="5114925" cy="2616101"/>
          </a:xfrm>
          <a:prstGeom prst="rect">
            <a:avLst/>
          </a:prstGeom>
          <a:noFill/>
        </p:spPr>
        <p:txBody>
          <a:bodyPr wrap="square" rtlCol="0">
            <a:spAutoFit/>
          </a:bodyPr>
          <a:lstStyle/>
          <a:p>
            <a:r>
              <a:rPr lang="en-US" b="1" dirty="0">
                <a:effectLst>
                  <a:outerShdw blurRad="38100" dist="38100" dir="2700000" algn="tl">
                    <a:srgbClr val="000000">
                      <a:alpha val="43137"/>
                    </a:srgbClr>
                  </a:outerShdw>
                </a:effectLst>
              </a:rPr>
              <a:t>What is Bagging?</a:t>
            </a:r>
          </a:p>
          <a:p>
            <a:endParaRPr lang="en-US" b="1" dirty="0">
              <a:effectLst>
                <a:outerShdw blurRad="38100" dist="38100" dir="2700000" algn="tl">
                  <a:srgbClr val="000000">
                    <a:alpha val="43137"/>
                  </a:srgbClr>
                </a:outerShdw>
              </a:effectLst>
            </a:endParaRPr>
          </a:p>
          <a:p>
            <a:r>
              <a:rPr lang="en-US" sz="1600" b="1" dirty="0"/>
              <a:t>Bagging (Bootstrap Aggregating)</a:t>
            </a:r>
            <a:r>
              <a:rPr lang="en-US" sz="1600" dirty="0"/>
              <a:t> is an </a:t>
            </a:r>
            <a:r>
              <a:rPr lang="en-US" sz="1600" b="1" dirty="0"/>
              <a:t>ensemble learning technique</a:t>
            </a:r>
            <a:r>
              <a:rPr lang="en-US" sz="1600" dirty="0"/>
              <a:t> used to improve the accuracy and stability of machine  learning models. It is the main technique behind </a:t>
            </a:r>
            <a:r>
              <a:rPr lang="en-US" sz="1600" b="1" dirty="0"/>
              <a:t>Random Forest</a:t>
            </a:r>
            <a:r>
              <a:rPr lang="en-US" sz="1600" dirty="0"/>
              <a:t>.</a:t>
            </a:r>
          </a:p>
          <a:p>
            <a:endParaRPr lang="en-US" sz="1600" dirty="0"/>
          </a:p>
          <a:p>
            <a:r>
              <a:rPr lang="en-US" sz="1600" dirty="0"/>
              <a:t>Instead of training </a:t>
            </a:r>
            <a:r>
              <a:rPr lang="en-US" sz="1600" b="1" dirty="0"/>
              <a:t>one Decision Tree</a:t>
            </a:r>
            <a:r>
              <a:rPr lang="en-US" sz="1600" dirty="0"/>
              <a:t>, bagging trains </a:t>
            </a:r>
            <a:r>
              <a:rPr lang="en-US" sz="1600" b="1" dirty="0"/>
              <a:t>multiple Decision Trees</a:t>
            </a:r>
            <a:r>
              <a:rPr lang="en-US" sz="1600" dirty="0"/>
              <a:t> on different random subsets of the training data and combines their predictions.</a:t>
            </a:r>
          </a:p>
        </p:txBody>
      </p:sp>
    </p:spTree>
    <p:extLst>
      <p:ext uri="{BB962C8B-B14F-4D97-AF65-F5344CB8AC3E}">
        <p14:creationId xmlns:p14="http://schemas.microsoft.com/office/powerpoint/2010/main" val="1657038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63D022-57A7-450F-A3DB-C8616DFFED06}"/>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0A7BC32C-6E61-4EE6-8192-488BD01656DD}"/>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4A023BF8-B27B-4A7F-9E55-4E819571E21A}"/>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5735BEC0-EE07-4DA0-AE57-C7A156EF1F40}"/>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622FAC16-512B-414F-8A6B-C55348E9EF22}"/>
              </a:ext>
            </a:extLst>
          </p:cNvPr>
          <p:cNvSpPr/>
          <p:nvPr/>
        </p:nvSpPr>
        <p:spPr>
          <a:xfrm>
            <a:off x="0" y="-86891"/>
            <a:ext cx="11338560" cy="914400"/>
          </a:xfrm>
          <a:prstGeom prst="rect">
            <a:avLst/>
          </a:prstGeom>
          <a:noFill/>
          <a:ln/>
        </p:spPr>
        <p:txBody>
          <a:bodyPr wrap="square" rtlCol="0" anchor="ctr"/>
          <a:lstStyle/>
          <a:p>
            <a:r>
              <a:rPr lang="en-US" sz="2800" b="1" dirty="0">
                <a:solidFill>
                  <a:schemeClr val="accent1">
                    <a:lumMod val="75000"/>
                  </a:schemeClr>
                </a:solidFill>
                <a:effectLst>
                  <a:outerShdw blurRad="38100" dist="38100" dir="2700000" algn="tl">
                    <a:srgbClr val="000000">
                      <a:alpha val="43137"/>
                    </a:srgbClr>
                  </a:outerShdw>
                </a:effectLst>
              </a:rPr>
              <a:t>SVM &amp; K-NEAREST NEIGHBORS</a:t>
            </a:r>
          </a:p>
        </p:txBody>
      </p:sp>
      <p:sp>
        <p:nvSpPr>
          <p:cNvPr id="7" name="TextBox 6">
            <a:extLst>
              <a:ext uri="{FF2B5EF4-FFF2-40B4-BE49-F238E27FC236}">
                <a16:creationId xmlns:a16="http://schemas.microsoft.com/office/drawing/2014/main" id="{C6BB069D-228F-40DC-A767-4B58307B7793}"/>
              </a:ext>
            </a:extLst>
          </p:cNvPr>
          <p:cNvSpPr txBox="1"/>
          <p:nvPr/>
        </p:nvSpPr>
        <p:spPr>
          <a:xfrm>
            <a:off x="-66673" y="856357"/>
            <a:ext cx="5457824" cy="4524315"/>
          </a:xfrm>
          <a:prstGeom prst="rect">
            <a:avLst/>
          </a:prstGeom>
          <a:noFill/>
        </p:spPr>
        <p:txBody>
          <a:bodyPr wrap="square" rtlCol="0">
            <a:spAutoFit/>
          </a:bodyPr>
          <a:lstStyle/>
          <a:p>
            <a:r>
              <a:rPr lang="en-US" sz="2000" b="1" dirty="0">
                <a:solidFill>
                  <a:schemeClr val="tx2">
                    <a:lumMod val="75000"/>
                  </a:schemeClr>
                </a:solidFill>
                <a:effectLst>
                  <a:outerShdw blurRad="38100" dist="38100" dir="2700000" algn="tl">
                    <a:srgbClr val="000000">
                      <a:alpha val="43137"/>
                    </a:srgbClr>
                  </a:outerShdw>
                </a:effectLst>
              </a:rPr>
              <a:t>What is Support Vector Machine (SVM)?</a:t>
            </a:r>
          </a:p>
          <a:p>
            <a:endParaRPr lang="en-US" sz="1600" b="1" dirty="0">
              <a:solidFill>
                <a:schemeClr val="accent4">
                  <a:lumMod val="75000"/>
                </a:schemeClr>
              </a:solidFill>
            </a:endParaRPr>
          </a:p>
          <a:p>
            <a:endParaRPr lang="en-US" sz="1600" b="1" dirty="0">
              <a:solidFill>
                <a:schemeClr val="accent4">
                  <a:lumMod val="75000"/>
                </a:schemeClr>
              </a:solidFill>
            </a:endParaRPr>
          </a:p>
          <a:p>
            <a:endParaRPr lang="en-US" sz="1600" b="1" dirty="0">
              <a:solidFill>
                <a:schemeClr val="accent4">
                  <a:lumMod val="75000"/>
                </a:schemeClr>
              </a:solidFill>
            </a:endParaRPr>
          </a:p>
          <a:p>
            <a:r>
              <a:rPr lang="en-US" sz="2400" b="1" dirty="0">
                <a:solidFill>
                  <a:schemeClr val="accent6">
                    <a:lumMod val="50000"/>
                  </a:schemeClr>
                </a:solidFill>
                <a:effectLst>
                  <a:outerShdw blurRad="38100" dist="38100" dir="2700000" algn="tl">
                    <a:srgbClr val="000000">
                      <a:alpha val="43137"/>
                    </a:srgbClr>
                  </a:outerShdw>
                </a:effectLst>
              </a:rPr>
              <a:t>Key Concepts</a:t>
            </a:r>
          </a:p>
          <a:p>
            <a:r>
              <a:rPr lang="en-US" b="1" dirty="0">
                <a:solidFill>
                  <a:srgbClr val="00B050"/>
                </a:solidFill>
                <a:effectLst>
                  <a:outerShdw blurRad="38100" dist="38100" dir="2700000" algn="tl">
                    <a:srgbClr val="000000">
                      <a:alpha val="43137"/>
                    </a:srgbClr>
                  </a:outerShdw>
                </a:effectLst>
              </a:rPr>
              <a:t>1. Hyperplane</a:t>
            </a:r>
          </a:p>
          <a:p>
            <a:r>
              <a:rPr lang="en-US" sz="1600" dirty="0"/>
              <a:t>A hyperplane is the </a:t>
            </a:r>
            <a:r>
              <a:rPr lang="en-US" sz="1600" b="1" dirty="0"/>
              <a:t>decision boundary</a:t>
            </a:r>
            <a:r>
              <a:rPr lang="en-US" sz="1600" dirty="0"/>
              <a:t> that separates different classes. </a:t>
            </a:r>
          </a:p>
          <a:p>
            <a:r>
              <a:rPr lang="en-US" sz="1600" dirty="0"/>
              <a:t>In </a:t>
            </a:r>
            <a:r>
              <a:rPr lang="en-US" sz="1600" b="1" dirty="0"/>
              <a:t>2D</a:t>
            </a:r>
            <a:r>
              <a:rPr lang="en-US" sz="1600" dirty="0"/>
              <a:t>, it is a </a:t>
            </a:r>
            <a:r>
              <a:rPr lang="en-US" sz="1600" b="1" dirty="0"/>
              <a:t>line</a:t>
            </a:r>
            <a:r>
              <a:rPr lang="en-US" sz="1600" dirty="0"/>
              <a:t>. </a:t>
            </a:r>
          </a:p>
          <a:p>
            <a:r>
              <a:rPr lang="en-US" sz="1600" dirty="0"/>
              <a:t>In </a:t>
            </a:r>
            <a:r>
              <a:rPr lang="en-US" sz="1600" b="1" dirty="0"/>
              <a:t>3D</a:t>
            </a:r>
            <a:r>
              <a:rPr lang="en-US" sz="1600" dirty="0"/>
              <a:t>, it is a </a:t>
            </a:r>
            <a:r>
              <a:rPr lang="en-US" sz="1600" b="1" dirty="0"/>
              <a:t>plane</a:t>
            </a:r>
            <a:r>
              <a:rPr lang="en-US" sz="1600" dirty="0"/>
              <a:t>. </a:t>
            </a:r>
          </a:p>
          <a:p>
            <a:r>
              <a:rPr lang="en-US" sz="1600" dirty="0"/>
              <a:t>In higher dimensions, it is called a </a:t>
            </a:r>
            <a:r>
              <a:rPr lang="en-US" sz="1600" b="1" dirty="0"/>
              <a:t>hyperplane</a:t>
            </a:r>
            <a:r>
              <a:rPr lang="en-US" sz="1600" dirty="0"/>
              <a:t>. </a:t>
            </a:r>
          </a:p>
          <a:p>
            <a:endParaRPr lang="en-US" sz="1600" dirty="0"/>
          </a:p>
          <a:p>
            <a:r>
              <a:rPr lang="en-US" b="1" dirty="0">
                <a:solidFill>
                  <a:srgbClr val="00B050"/>
                </a:solidFill>
                <a:effectLst>
                  <a:outerShdw blurRad="38100" dist="38100" dir="2700000" algn="tl">
                    <a:srgbClr val="000000">
                      <a:alpha val="43137"/>
                    </a:srgbClr>
                  </a:outerShdw>
                </a:effectLst>
              </a:rPr>
              <a:t>2. Margin</a:t>
            </a:r>
          </a:p>
          <a:p>
            <a:r>
              <a:rPr lang="en-US" sz="1600" dirty="0"/>
              <a:t>Margin is the </a:t>
            </a:r>
            <a:r>
              <a:rPr lang="en-US" sz="1600" b="1" dirty="0"/>
              <a:t>distance between the hyperplane and the nearest data points</a:t>
            </a:r>
            <a:r>
              <a:rPr lang="en-US" sz="1600" dirty="0"/>
              <a:t>. </a:t>
            </a:r>
          </a:p>
          <a:p>
            <a:r>
              <a:rPr lang="en-US" sz="1600" dirty="0"/>
              <a:t>SVM chooses the hyperplane with the </a:t>
            </a:r>
            <a:r>
              <a:rPr lang="en-US" sz="1600" b="1" dirty="0"/>
              <a:t>largest margin</a:t>
            </a:r>
            <a:r>
              <a:rPr lang="en-US" sz="1600" dirty="0"/>
              <a:t> because it improves generalization and reduces classification errors. </a:t>
            </a:r>
          </a:p>
        </p:txBody>
      </p:sp>
      <p:sp>
        <p:nvSpPr>
          <p:cNvPr id="8" name="TextBox 7">
            <a:extLst>
              <a:ext uri="{FF2B5EF4-FFF2-40B4-BE49-F238E27FC236}">
                <a16:creationId xmlns:a16="http://schemas.microsoft.com/office/drawing/2014/main" id="{D6320290-6EAE-4894-9F63-8C8F6D186EA4}"/>
              </a:ext>
            </a:extLst>
          </p:cNvPr>
          <p:cNvSpPr txBox="1"/>
          <p:nvPr/>
        </p:nvSpPr>
        <p:spPr>
          <a:xfrm>
            <a:off x="-66673" y="1267028"/>
            <a:ext cx="12192000" cy="615553"/>
          </a:xfrm>
          <a:prstGeom prst="rect">
            <a:avLst/>
          </a:prstGeom>
          <a:noFill/>
        </p:spPr>
        <p:txBody>
          <a:bodyPr wrap="square" rtlCol="0">
            <a:spAutoFit/>
          </a:bodyPr>
          <a:lstStyle/>
          <a:p>
            <a:r>
              <a:rPr lang="en-US" sz="1600" dirty="0"/>
              <a:t>Support Vector Machine (SVM) is a </a:t>
            </a:r>
            <a:r>
              <a:rPr lang="en-US" sz="1600" b="1" dirty="0"/>
              <a:t>supervised machine learning algorithm</a:t>
            </a:r>
            <a:r>
              <a:rPr lang="en-US" sz="1600" dirty="0"/>
              <a:t> used for </a:t>
            </a:r>
            <a:r>
              <a:rPr lang="en-US" sz="1600" b="1" dirty="0"/>
              <a:t>classification</a:t>
            </a:r>
            <a:r>
              <a:rPr lang="en-US" sz="1600" dirty="0"/>
              <a:t> and </a:t>
            </a:r>
            <a:r>
              <a:rPr lang="en-US" sz="1600" b="1" dirty="0"/>
              <a:t>regression</a:t>
            </a:r>
            <a:r>
              <a:rPr lang="en-US" sz="1600" dirty="0"/>
              <a:t>. Its main objective is to find the </a:t>
            </a:r>
            <a:r>
              <a:rPr lang="en-US" sz="1600" b="1" dirty="0"/>
              <a:t>best boundary (hyperplane)</a:t>
            </a:r>
            <a:r>
              <a:rPr lang="en-US" sz="1600" dirty="0"/>
              <a:t> that separates different classes with the </a:t>
            </a:r>
            <a:r>
              <a:rPr lang="en-US" sz="1600" b="1" dirty="0"/>
              <a:t>maximum margin</a:t>
            </a:r>
            <a:r>
              <a:rPr lang="en-US" dirty="0"/>
              <a:t>.</a:t>
            </a:r>
          </a:p>
        </p:txBody>
      </p:sp>
      <p:sp>
        <p:nvSpPr>
          <p:cNvPr id="9" name="TextBox 8">
            <a:extLst>
              <a:ext uri="{FF2B5EF4-FFF2-40B4-BE49-F238E27FC236}">
                <a16:creationId xmlns:a16="http://schemas.microsoft.com/office/drawing/2014/main" id="{22CC4ED7-2491-49C5-B7CF-D1A3233F9A9F}"/>
              </a:ext>
            </a:extLst>
          </p:cNvPr>
          <p:cNvSpPr txBox="1"/>
          <p:nvPr/>
        </p:nvSpPr>
        <p:spPr>
          <a:xfrm>
            <a:off x="5546624" y="2238742"/>
            <a:ext cx="6267450" cy="4093428"/>
          </a:xfrm>
          <a:prstGeom prst="rect">
            <a:avLst/>
          </a:prstGeom>
          <a:noFill/>
        </p:spPr>
        <p:txBody>
          <a:bodyPr wrap="square" rtlCol="0">
            <a:spAutoFit/>
          </a:bodyPr>
          <a:lstStyle/>
          <a:p>
            <a:r>
              <a:rPr lang="en-US" b="1" dirty="0">
                <a:solidFill>
                  <a:srgbClr val="00B050"/>
                </a:solidFill>
                <a:effectLst>
                  <a:outerShdw blurRad="38100" dist="38100" dir="2700000" algn="tl">
                    <a:srgbClr val="000000">
                      <a:alpha val="43137"/>
                    </a:srgbClr>
                  </a:outerShdw>
                </a:effectLst>
              </a:rPr>
              <a:t>3. Support Vectors</a:t>
            </a:r>
          </a:p>
          <a:p>
            <a:r>
              <a:rPr lang="en-US" sz="1600" dirty="0"/>
              <a:t>Support vectors are the </a:t>
            </a:r>
            <a:r>
              <a:rPr lang="en-US" sz="1600" b="1" dirty="0"/>
              <a:t>closest data points to the hyperplane</a:t>
            </a:r>
            <a:r>
              <a:rPr lang="en-US" sz="1600" dirty="0"/>
              <a:t>. </a:t>
            </a:r>
          </a:p>
          <a:p>
            <a:r>
              <a:rPr lang="en-US" sz="1600" dirty="0"/>
              <a:t>They determine the position and orientation of the hyperplane. </a:t>
            </a:r>
          </a:p>
          <a:p>
            <a:r>
              <a:rPr lang="en-US" sz="1600" dirty="0"/>
              <a:t>Removing other data points usually does not change the decision boundary, but changing support vectors does. </a:t>
            </a:r>
          </a:p>
          <a:p>
            <a:endParaRPr lang="en-US" sz="1600" dirty="0"/>
          </a:p>
          <a:p>
            <a:endParaRPr lang="en-US" sz="1600" dirty="0"/>
          </a:p>
          <a:p>
            <a:r>
              <a:rPr lang="en-US" b="1" dirty="0">
                <a:solidFill>
                  <a:srgbClr val="00B050"/>
                </a:solidFill>
                <a:effectLst>
                  <a:outerShdw blurRad="38100" dist="38100" dir="2700000" algn="tl">
                    <a:srgbClr val="000000">
                      <a:alpha val="43137"/>
                    </a:srgbClr>
                  </a:outerShdw>
                </a:effectLst>
              </a:rPr>
              <a:t>4. Kernel Trick</a:t>
            </a:r>
          </a:p>
          <a:p>
            <a:r>
              <a:rPr lang="en-US" sz="1600" dirty="0"/>
              <a:t>When the data is </a:t>
            </a:r>
            <a:r>
              <a:rPr lang="en-US" sz="1600" b="1" dirty="0"/>
              <a:t>not linearly separable</a:t>
            </a:r>
            <a:r>
              <a:rPr lang="en-US" sz="1600" dirty="0"/>
              <a:t>, SVM uses the </a:t>
            </a:r>
            <a:r>
              <a:rPr lang="en-US" sz="1600" b="1" dirty="0"/>
              <a:t>Kernel Trick</a:t>
            </a:r>
            <a:r>
              <a:rPr lang="en-US" sz="1600" dirty="0"/>
              <a:t> to transform the data into a higher-dimensional space where it can be separated.</a:t>
            </a:r>
          </a:p>
          <a:p>
            <a:r>
              <a:rPr lang="en-US" sz="1600" b="1" dirty="0"/>
              <a:t>Common Kernel Functions</a:t>
            </a:r>
          </a:p>
          <a:p>
            <a:r>
              <a:rPr lang="en-US" sz="1600" b="1" dirty="0"/>
              <a:t>Linear Kernel</a:t>
            </a:r>
            <a:r>
              <a:rPr lang="en-US" sz="1600" dirty="0"/>
              <a:t> – For linearly separable data. </a:t>
            </a:r>
          </a:p>
          <a:p>
            <a:r>
              <a:rPr lang="en-US" sz="1600" b="1" dirty="0"/>
              <a:t>Polynomial Kernel</a:t>
            </a:r>
            <a:r>
              <a:rPr lang="en-US" sz="1600" dirty="0"/>
              <a:t> – Creates curved decision boundaries. </a:t>
            </a:r>
          </a:p>
          <a:p>
            <a:r>
              <a:rPr lang="en-US" sz="1600" b="1" dirty="0"/>
              <a:t>RBF (Gaussian) Kernel</a:t>
            </a:r>
            <a:r>
              <a:rPr lang="en-US" sz="1600" dirty="0"/>
              <a:t> – Handles complex non-linear data. </a:t>
            </a:r>
          </a:p>
          <a:p>
            <a:r>
              <a:rPr lang="en-US" sz="1600" b="1" dirty="0"/>
              <a:t>Sigmoid Kernel</a:t>
            </a:r>
            <a:r>
              <a:rPr lang="en-US" sz="1600" dirty="0"/>
              <a:t> – Similar to neural network activation functions.</a:t>
            </a:r>
          </a:p>
        </p:txBody>
      </p:sp>
    </p:spTree>
    <p:extLst>
      <p:ext uri="{BB962C8B-B14F-4D97-AF65-F5344CB8AC3E}">
        <p14:creationId xmlns:p14="http://schemas.microsoft.com/office/powerpoint/2010/main" val="38167142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63D022-57A7-450F-A3DB-C8616DFFED06}"/>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0A7BC32C-6E61-4EE6-8192-488BD01656DD}"/>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4A023BF8-B27B-4A7F-9E55-4E819571E21A}"/>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5735BEC0-EE07-4DA0-AE57-C7A156EF1F40}"/>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622FAC16-512B-414F-8A6B-C55348E9EF22}"/>
              </a:ext>
            </a:extLst>
          </p:cNvPr>
          <p:cNvSpPr/>
          <p:nvPr/>
        </p:nvSpPr>
        <p:spPr>
          <a:xfrm>
            <a:off x="0" y="120228"/>
            <a:ext cx="11338560" cy="914400"/>
          </a:xfrm>
          <a:prstGeom prst="rect">
            <a:avLst/>
          </a:prstGeom>
          <a:noFill/>
          <a:ln/>
        </p:spPr>
        <p:txBody>
          <a:bodyPr wrap="square" rtlCol="0" anchor="ctr"/>
          <a:lstStyle/>
          <a:p>
            <a:r>
              <a:rPr lang="en-US" sz="2800" b="1" dirty="0">
                <a:solidFill>
                  <a:schemeClr val="accent1">
                    <a:lumMod val="75000"/>
                  </a:schemeClr>
                </a:solidFill>
                <a:effectLst>
                  <a:outerShdw blurRad="38100" dist="38100" dir="2700000" algn="tl">
                    <a:srgbClr val="000000">
                      <a:alpha val="43137"/>
                    </a:srgbClr>
                  </a:outerShdw>
                </a:effectLst>
              </a:rPr>
              <a:t>SVM &amp; K-NEAREST NEIGHBORS</a:t>
            </a:r>
          </a:p>
          <a:p>
            <a:endParaRPr lang="en-US" sz="2800" dirty="0">
              <a:solidFill>
                <a:srgbClr val="002060"/>
              </a:solidFill>
            </a:endParaRPr>
          </a:p>
        </p:txBody>
      </p:sp>
      <p:sp>
        <p:nvSpPr>
          <p:cNvPr id="7" name="TextBox 6">
            <a:extLst>
              <a:ext uri="{FF2B5EF4-FFF2-40B4-BE49-F238E27FC236}">
                <a16:creationId xmlns:a16="http://schemas.microsoft.com/office/drawing/2014/main" id="{D486FB9E-4B73-4905-988D-03449AE636F0}"/>
              </a:ext>
            </a:extLst>
          </p:cNvPr>
          <p:cNvSpPr txBox="1"/>
          <p:nvPr/>
        </p:nvSpPr>
        <p:spPr>
          <a:xfrm>
            <a:off x="0" y="912348"/>
            <a:ext cx="11906250" cy="2339102"/>
          </a:xfrm>
          <a:prstGeom prst="rect">
            <a:avLst/>
          </a:prstGeom>
          <a:noFill/>
        </p:spPr>
        <p:txBody>
          <a:bodyPr wrap="square" rtlCol="0">
            <a:spAutoFit/>
          </a:bodyPr>
          <a:lstStyle/>
          <a:p>
            <a:r>
              <a:rPr lang="en-US" b="1" dirty="0">
                <a:effectLst>
                  <a:outerShdw blurRad="38100" dist="38100" dir="2700000" algn="tl">
                    <a:srgbClr val="000000">
                      <a:alpha val="43137"/>
                    </a:srgbClr>
                  </a:outerShdw>
                </a:effectLst>
              </a:rPr>
              <a:t>What is KNN?</a:t>
            </a:r>
          </a:p>
          <a:p>
            <a:r>
              <a:rPr lang="en-US" sz="1600" dirty="0"/>
              <a:t>K-Nearest Neighbors (KNN) is a </a:t>
            </a:r>
            <a:r>
              <a:rPr lang="en-US" sz="1600" b="1" dirty="0"/>
              <a:t>supervised learning algorithm</a:t>
            </a:r>
            <a:r>
              <a:rPr lang="en-US" sz="1600" dirty="0"/>
              <a:t> used for classification and regression. It predicts the class of a new data point by looking at the </a:t>
            </a:r>
            <a:r>
              <a:rPr lang="en-US" sz="1600" b="1" dirty="0"/>
              <a:t>K nearest neighbors</a:t>
            </a:r>
            <a:r>
              <a:rPr lang="en-US" sz="1600" dirty="0"/>
              <a:t>.</a:t>
            </a:r>
          </a:p>
          <a:p>
            <a:r>
              <a:rPr lang="en-US" sz="1600" b="1" dirty="0">
                <a:solidFill>
                  <a:srgbClr val="00B050"/>
                </a:solidFill>
                <a:effectLst>
                  <a:outerShdw blurRad="38100" dist="38100" dir="2700000" algn="tl">
                    <a:srgbClr val="000000">
                      <a:alpha val="43137"/>
                    </a:srgbClr>
                  </a:outerShdw>
                </a:effectLst>
              </a:rPr>
              <a:t>Working of KNN</a:t>
            </a:r>
          </a:p>
          <a:p>
            <a:pPr marL="285750" indent="-285750">
              <a:buFont typeface="Wingdings" panose="05000000000000000000" pitchFamily="2" charset="2"/>
              <a:buChar char="§"/>
            </a:pPr>
            <a:r>
              <a:rPr lang="en-US" sz="1600" dirty="0"/>
              <a:t>Choose the value of </a:t>
            </a:r>
            <a:r>
              <a:rPr lang="en-US" sz="1600" b="1" dirty="0"/>
              <a:t>K</a:t>
            </a:r>
            <a:r>
              <a:rPr lang="en-US" sz="1600" dirty="0"/>
              <a:t>. </a:t>
            </a:r>
          </a:p>
          <a:p>
            <a:pPr marL="285750" indent="-285750">
              <a:buFont typeface="Wingdings" panose="05000000000000000000" pitchFamily="2" charset="2"/>
              <a:buChar char="§"/>
            </a:pPr>
            <a:r>
              <a:rPr lang="en-US" sz="1600" dirty="0"/>
              <a:t>Calculate the distance between the new point and all training points. </a:t>
            </a:r>
          </a:p>
          <a:p>
            <a:pPr marL="285750" indent="-285750">
              <a:buFont typeface="Wingdings" panose="05000000000000000000" pitchFamily="2" charset="2"/>
              <a:buChar char="§"/>
            </a:pPr>
            <a:r>
              <a:rPr lang="en-US" sz="1600" dirty="0"/>
              <a:t>Select the </a:t>
            </a:r>
            <a:r>
              <a:rPr lang="en-US" sz="1600" b="1" dirty="0"/>
              <a:t>K nearest neighbors</a:t>
            </a:r>
            <a:r>
              <a:rPr lang="en-US" sz="1600" dirty="0"/>
              <a:t>. </a:t>
            </a:r>
          </a:p>
          <a:p>
            <a:pPr marL="285750" indent="-285750">
              <a:buFont typeface="Wingdings" panose="05000000000000000000" pitchFamily="2" charset="2"/>
              <a:buChar char="§"/>
            </a:pPr>
            <a:r>
              <a:rPr lang="en-US" sz="1600" dirty="0"/>
              <a:t>Use </a:t>
            </a:r>
            <a:r>
              <a:rPr lang="en-US" sz="1600" b="1" dirty="0"/>
              <a:t>majority voting</a:t>
            </a:r>
            <a:r>
              <a:rPr lang="en-US" sz="1600" dirty="0"/>
              <a:t> (classification) or </a:t>
            </a:r>
            <a:r>
              <a:rPr lang="en-US" sz="1600" b="1" dirty="0"/>
              <a:t>average</a:t>
            </a:r>
            <a:r>
              <a:rPr lang="en-US" sz="1600" dirty="0"/>
              <a:t> (regression). </a:t>
            </a:r>
          </a:p>
          <a:p>
            <a:pPr marL="285750" indent="-285750">
              <a:buFont typeface="Wingdings" panose="05000000000000000000" pitchFamily="2" charset="2"/>
              <a:buChar char="§"/>
            </a:pPr>
            <a:r>
              <a:rPr lang="en-US" sz="1600" dirty="0"/>
              <a:t>Predict the output. </a:t>
            </a:r>
          </a:p>
        </p:txBody>
      </p:sp>
      <p:sp>
        <p:nvSpPr>
          <p:cNvPr id="8" name="TextBox 7">
            <a:extLst>
              <a:ext uri="{FF2B5EF4-FFF2-40B4-BE49-F238E27FC236}">
                <a16:creationId xmlns:a16="http://schemas.microsoft.com/office/drawing/2014/main" id="{016580C5-92C2-47B4-AAE1-9BE5898E57C9}"/>
              </a:ext>
            </a:extLst>
          </p:cNvPr>
          <p:cNvSpPr txBox="1"/>
          <p:nvPr/>
        </p:nvSpPr>
        <p:spPr>
          <a:xfrm>
            <a:off x="0" y="3251450"/>
            <a:ext cx="5572125" cy="3139321"/>
          </a:xfrm>
          <a:prstGeom prst="rect">
            <a:avLst/>
          </a:prstGeom>
          <a:noFill/>
        </p:spPr>
        <p:txBody>
          <a:bodyPr wrap="square" rtlCol="0">
            <a:spAutoFit/>
          </a:bodyPr>
          <a:lstStyle/>
          <a:p>
            <a:r>
              <a:rPr lang="en-IN" b="1" dirty="0">
                <a:solidFill>
                  <a:srgbClr val="00B050"/>
                </a:solidFill>
                <a:effectLst>
                  <a:outerShdw blurRad="38100" dist="38100" dir="2700000" algn="tl">
                    <a:srgbClr val="000000">
                      <a:alpha val="43137"/>
                    </a:srgbClr>
                  </a:outerShdw>
                </a:effectLst>
              </a:rPr>
              <a:t>Distance Metrics</a:t>
            </a:r>
          </a:p>
          <a:p>
            <a:r>
              <a:rPr lang="en-IN" b="1" dirty="0"/>
              <a:t>1. Euclidean Distance</a:t>
            </a:r>
          </a:p>
          <a:p>
            <a:r>
              <a:rPr lang="en-IN" dirty="0"/>
              <a:t>                                                          </a:t>
            </a:r>
          </a:p>
          <a:p>
            <a:r>
              <a:rPr lang="en-IN" dirty="0"/>
              <a:t> Most commonly used for continuous numerical data.</a:t>
            </a:r>
          </a:p>
          <a:p>
            <a:r>
              <a:rPr lang="en-IN" b="1" dirty="0"/>
              <a:t>2. Manhattan Distance</a:t>
            </a:r>
          </a:p>
          <a:p>
            <a:endParaRPr lang="en-IN" b="1" dirty="0"/>
          </a:p>
          <a:p>
            <a:r>
              <a:rPr lang="en-IN" dirty="0"/>
              <a:t>Useful when movement is restricted to horizontal and vertical directions.</a:t>
            </a:r>
          </a:p>
          <a:p>
            <a:r>
              <a:rPr lang="en-IN" b="1" dirty="0"/>
              <a:t>3. Minkowski Distance</a:t>
            </a:r>
          </a:p>
          <a:p>
            <a:r>
              <a:rPr lang="en-IN" dirty="0"/>
              <a:t>A generalized distance metric that includes Euclidean and Manhattan distances as special cases.</a:t>
            </a:r>
          </a:p>
        </p:txBody>
      </p:sp>
      <p:pic>
        <p:nvPicPr>
          <p:cNvPr id="9" name="Picture 8">
            <a:extLst>
              <a:ext uri="{FF2B5EF4-FFF2-40B4-BE49-F238E27FC236}">
                <a16:creationId xmlns:a16="http://schemas.microsoft.com/office/drawing/2014/main" id="{0638AF75-F90D-497D-BF01-F4C26FEAE265}"/>
              </a:ext>
            </a:extLst>
          </p:cNvPr>
          <p:cNvPicPr>
            <a:picLocks noChangeAspect="1"/>
          </p:cNvPicPr>
          <p:nvPr/>
        </p:nvPicPr>
        <p:blipFill>
          <a:blip r:embed="rId4"/>
          <a:stretch>
            <a:fillRect/>
          </a:stretch>
        </p:blipFill>
        <p:spPr>
          <a:xfrm>
            <a:off x="2552584" y="3676615"/>
            <a:ext cx="1657581" cy="495369"/>
          </a:xfrm>
          <a:prstGeom prst="rect">
            <a:avLst/>
          </a:prstGeom>
        </p:spPr>
      </p:pic>
      <p:pic>
        <p:nvPicPr>
          <p:cNvPr id="10" name="Picture 9">
            <a:extLst>
              <a:ext uri="{FF2B5EF4-FFF2-40B4-BE49-F238E27FC236}">
                <a16:creationId xmlns:a16="http://schemas.microsoft.com/office/drawing/2014/main" id="{F02F8995-F3CD-4027-BF97-7786E47609AB}"/>
              </a:ext>
            </a:extLst>
          </p:cNvPr>
          <p:cNvPicPr>
            <a:picLocks noChangeAspect="1"/>
          </p:cNvPicPr>
          <p:nvPr/>
        </p:nvPicPr>
        <p:blipFill>
          <a:blip r:embed="rId5"/>
          <a:stretch>
            <a:fillRect/>
          </a:stretch>
        </p:blipFill>
        <p:spPr>
          <a:xfrm>
            <a:off x="2552584" y="4461413"/>
            <a:ext cx="1400370" cy="476316"/>
          </a:xfrm>
          <a:prstGeom prst="rect">
            <a:avLst/>
          </a:prstGeom>
        </p:spPr>
      </p:pic>
      <p:sp>
        <p:nvSpPr>
          <p:cNvPr id="11" name="TextBox 10">
            <a:extLst>
              <a:ext uri="{FF2B5EF4-FFF2-40B4-BE49-F238E27FC236}">
                <a16:creationId xmlns:a16="http://schemas.microsoft.com/office/drawing/2014/main" id="{7819F3EF-A753-40BF-8778-A29972659198}"/>
              </a:ext>
            </a:extLst>
          </p:cNvPr>
          <p:cNvSpPr txBox="1"/>
          <p:nvPr/>
        </p:nvSpPr>
        <p:spPr>
          <a:xfrm>
            <a:off x="6720003" y="2463824"/>
            <a:ext cx="4773295" cy="3693319"/>
          </a:xfrm>
          <a:prstGeom prst="rect">
            <a:avLst/>
          </a:prstGeom>
          <a:solidFill>
            <a:schemeClr val="accent1">
              <a:lumMod val="20000"/>
              <a:lumOff val="80000"/>
            </a:schemeClr>
          </a:solidFill>
        </p:spPr>
        <p:txBody>
          <a:bodyPr wrap="square" rtlCol="0">
            <a:spAutoFit/>
          </a:bodyPr>
          <a:lstStyle/>
          <a:p>
            <a:r>
              <a:rPr lang="en-US" b="1" dirty="0">
                <a:solidFill>
                  <a:srgbClr val="00B050"/>
                </a:solidFill>
                <a:effectLst>
                  <a:outerShdw blurRad="38100" dist="38100" dir="2700000" algn="tl">
                    <a:srgbClr val="000000">
                      <a:alpha val="43137"/>
                    </a:srgbClr>
                  </a:outerShdw>
                </a:effectLst>
              </a:rPr>
              <a:t>Choosing the Value of K</a:t>
            </a:r>
          </a:p>
          <a:p>
            <a:r>
              <a:rPr lang="en-US" dirty="0"/>
              <a:t>Small </a:t>
            </a:r>
            <a:r>
              <a:rPr lang="en-US" b="1" dirty="0"/>
              <a:t>K (1–3)</a:t>
            </a:r>
            <a:r>
              <a:rPr lang="en-US" dirty="0"/>
              <a:t> </a:t>
            </a:r>
          </a:p>
          <a:p>
            <a:pPr lvl="1"/>
            <a:r>
              <a:rPr lang="en-US" dirty="0"/>
              <a:t>Sensitive to noise. </a:t>
            </a:r>
          </a:p>
          <a:p>
            <a:pPr lvl="1"/>
            <a:r>
              <a:rPr lang="en-US" dirty="0"/>
              <a:t>High variance. </a:t>
            </a:r>
          </a:p>
          <a:p>
            <a:pPr lvl="1"/>
            <a:r>
              <a:rPr lang="en-US" dirty="0"/>
              <a:t>May overfit. </a:t>
            </a:r>
          </a:p>
          <a:p>
            <a:r>
              <a:rPr lang="en-US" dirty="0"/>
              <a:t>Large </a:t>
            </a:r>
            <a:r>
              <a:rPr lang="en-US" b="1" dirty="0"/>
              <a:t>K (10–20)</a:t>
            </a:r>
            <a:r>
              <a:rPr lang="en-US" dirty="0"/>
              <a:t> </a:t>
            </a:r>
          </a:p>
          <a:p>
            <a:pPr lvl="1"/>
            <a:r>
              <a:rPr lang="en-US" dirty="0"/>
              <a:t>Smoother decision boundary. </a:t>
            </a:r>
          </a:p>
          <a:p>
            <a:pPr lvl="1"/>
            <a:r>
              <a:rPr lang="en-US" dirty="0"/>
              <a:t>Lower variance. </a:t>
            </a:r>
          </a:p>
          <a:p>
            <a:pPr lvl="1"/>
            <a:r>
              <a:rPr lang="en-US" dirty="0"/>
              <a:t>May underfit. </a:t>
            </a:r>
          </a:p>
          <a:p>
            <a:r>
              <a:rPr lang="en-US" b="1" dirty="0">
                <a:solidFill>
                  <a:srgbClr val="FF0000"/>
                </a:solidFill>
              </a:rPr>
              <a:t>Rule of Thumb: </a:t>
            </a:r>
          </a:p>
          <a:p>
            <a:r>
              <a:rPr lang="en-US" dirty="0"/>
              <a:t>​ </a:t>
            </a:r>
          </a:p>
          <a:p>
            <a:endParaRPr lang="en-US" dirty="0"/>
          </a:p>
          <a:p>
            <a:r>
              <a:rPr lang="en-US" dirty="0"/>
              <a:t>where </a:t>
            </a:r>
            <a:r>
              <a:rPr lang="en-US" b="1" dirty="0"/>
              <a:t>N</a:t>
            </a:r>
            <a:r>
              <a:rPr lang="en-US" dirty="0"/>
              <a:t> is the number of training samples.</a:t>
            </a:r>
          </a:p>
        </p:txBody>
      </p:sp>
      <p:pic>
        <p:nvPicPr>
          <p:cNvPr id="12" name="Picture 11">
            <a:extLst>
              <a:ext uri="{FF2B5EF4-FFF2-40B4-BE49-F238E27FC236}">
                <a16:creationId xmlns:a16="http://schemas.microsoft.com/office/drawing/2014/main" id="{9C98FD7C-62C5-40FE-B4B3-CF4D87ABE224}"/>
              </a:ext>
            </a:extLst>
          </p:cNvPr>
          <p:cNvPicPr>
            <a:picLocks noChangeAspect="1"/>
          </p:cNvPicPr>
          <p:nvPr/>
        </p:nvPicPr>
        <p:blipFill>
          <a:blip r:embed="rId6"/>
          <a:stretch>
            <a:fillRect/>
          </a:stretch>
        </p:blipFill>
        <p:spPr>
          <a:xfrm>
            <a:off x="8420035" y="5286353"/>
            <a:ext cx="933580" cy="304843"/>
          </a:xfrm>
          <a:prstGeom prst="rect">
            <a:avLst/>
          </a:prstGeom>
        </p:spPr>
      </p:pic>
    </p:spTree>
    <p:extLst>
      <p:ext uri="{BB962C8B-B14F-4D97-AF65-F5344CB8AC3E}">
        <p14:creationId xmlns:p14="http://schemas.microsoft.com/office/powerpoint/2010/main" val="15570047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0400D99-6051-491A-B101-27D645AEE9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04332"/>
            <a:ext cx="11658600" cy="6266598"/>
          </a:xfrm>
          <a:prstGeom prst="rect">
            <a:avLst/>
          </a:prstGeom>
        </p:spPr>
      </p:pic>
      <p:pic>
        <p:nvPicPr>
          <p:cNvPr id="2" name="Picture 1">
            <a:extLst>
              <a:ext uri="{FF2B5EF4-FFF2-40B4-BE49-F238E27FC236}">
                <a16:creationId xmlns:a16="http://schemas.microsoft.com/office/drawing/2014/main" id="{9863D022-57A7-450F-A3DB-C8616DFFED06}"/>
              </a:ext>
            </a:extLst>
          </p:cNvPr>
          <p:cNvPicPr>
            <a:picLocks noChangeAspect="1"/>
          </p:cNvPicPr>
          <p:nvPr/>
        </p:nvPicPr>
        <p:blipFill rotWithShape="1">
          <a:blip r:embed="rId3"/>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0A7BC32C-6E61-4EE6-8192-488BD01656DD}"/>
              </a:ext>
            </a:extLst>
          </p:cNvPr>
          <p:cNvSpPr/>
          <p:nvPr/>
        </p:nvSpPr>
        <p:spPr>
          <a:xfrm>
            <a:off x="0" y="751953"/>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4A023BF8-B27B-4A7F-9E55-4E819571E21A}"/>
              </a:ext>
            </a:extLst>
          </p:cNvPr>
          <p:cNvPicPr>
            <a:picLocks noChangeAspect="1"/>
          </p:cNvPicPr>
          <p:nvPr/>
        </p:nvPicPr>
        <p:blipFill>
          <a:blip r:embed="rId4"/>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5735BEC0-EE07-4DA0-AE57-C7A156EF1F40}"/>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622FAC16-512B-414F-8A6B-C55348E9EF22}"/>
              </a:ext>
            </a:extLst>
          </p:cNvPr>
          <p:cNvSpPr/>
          <p:nvPr/>
        </p:nvSpPr>
        <p:spPr>
          <a:xfrm>
            <a:off x="0" y="-109538"/>
            <a:ext cx="11338560" cy="914400"/>
          </a:xfrm>
          <a:prstGeom prst="rect">
            <a:avLst/>
          </a:prstGeom>
          <a:noFill/>
          <a:ln/>
        </p:spPr>
        <p:txBody>
          <a:bodyPr wrap="square" rtlCol="0" anchor="ctr"/>
          <a:lstStyle/>
          <a:p>
            <a:endParaRPr lang="en-US" sz="2800" b="1" dirty="0">
              <a:solidFill>
                <a:schemeClr val="accent1">
                  <a:lumMod val="75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0550440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63D022-57A7-450F-A3DB-C8616DFFED06}"/>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0A7BC32C-6E61-4EE6-8192-488BD01656DD}"/>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4A023BF8-B27B-4A7F-9E55-4E819571E21A}"/>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5735BEC0-EE07-4DA0-AE57-C7A156EF1F40}"/>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622FAC16-512B-414F-8A6B-C55348E9EF22}"/>
              </a:ext>
            </a:extLst>
          </p:cNvPr>
          <p:cNvSpPr/>
          <p:nvPr/>
        </p:nvSpPr>
        <p:spPr>
          <a:xfrm>
            <a:off x="0" y="-109429"/>
            <a:ext cx="11338560" cy="914400"/>
          </a:xfrm>
          <a:prstGeom prst="rect">
            <a:avLst/>
          </a:prstGeom>
          <a:noFill/>
          <a:ln/>
        </p:spPr>
        <p:txBody>
          <a:bodyPr wrap="square" rtlCol="0" anchor="ctr"/>
          <a:lstStyle/>
          <a:p>
            <a:r>
              <a:rPr lang="en-IN" sz="2800" b="1" dirty="0">
                <a:solidFill>
                  <a:schemeClr val="accent1">
                    <a:lumMod val="75000"/>
                  </a:schemeClr>
                </a:solidFill>
                <a:effectLst>
                  <a:outerShdw blurRad="38100" dist="38100" dir="2700000" algn="tl">
                    <a:srgbClr val="000000">
                      <a:alpha val="43137"/>
                    </a:srgbClr>
                  </a:outerShdw>
                </a:effectLst>
              </a:rPr>
              <a:t>CLUSTERING &amp; DIMENSIONALITY REDUCTION</a:t>
            </a:r>
            <a:endParaRPr lang="en-US" sz="2800" b="1" dirty="0">
              <a:solidFill>
                <a:schemeClr val="accent1">
                  <a:lumMod val="75000"/>
                </a:schemeClr>
              </a:solidFill>
              <a:effectLst>
                <a:outerShdw blurRad="38100" dist="38100" dir="2700000" algn="tl">
                  <a:srgbClr val="000000">
                    <a:alpha val="43137"/>
                  </a:srgbClr>
                </a:outerShdw>
              </a:effectLst>
            </a:endParaRPr>
          </a:p>
        </p:txBody>
      </p:sp>
      <p:sp>
        <p:nvSpPr>
          <p:cNvPr id="10" name="TextBox 9">
            <a:extLst>
              <a:ext uri="{FF2B5EF4-FFF2-40B4-BE49-F238E27FC236}">
                <a16:creationId xmlns:a16="http://schemas.microsoft.com/office/drawing/2014/main" id="{98937BC6-6041-4111-B222-3C83113B5325}"/>
              </a:ext>
            </a:extLst>
          </p:cNvPr>
          <p:cNvSpPr txBox="1"/>
          <p:nvPr/>
        </p:nvSpPr>
        <p:spPr>
          <a:xfrm>
            <a:off x="-28575" y="874799"/>
            <a:ext cx="5286375" cy="1323439"/>
          </a:xfrm>
          <a:prstGeom prst="rect">
            <a:avLst/>
          </a:prstGeom>
          <a:noFill/>
        </p:spPr>
        <p:txBody>
          <a:bodyPr wrap="square" rtlCol="0">
            <a:spAutoFit/>
          </a:bodyPr>
          <a:lstStyle/>
          <a:p>
            <a:r>
              <a:rPr lang="en-US" sz="1600" b="1" dirty="0">
                <a:effectLst>
                  <a:outerShdw blurRad="38100" dist="38100" dir="2700000" algn="tl">
                    <a:srgbClr val="000000">
                      <a:alpha val="43137"/>
                    </a:srgbClr>
                  </a:outerShdw>
                </a:effectLst>
              </a:rPr>
              <a:t>What is K-Means Clustering?</a:t>
            </a:r>
          </a:p>
          <a:p>
            <a:r>
              <a:rPr lang="en-US" sz="1600" dirty="0"/>
              <a:t>K-Means Clustering is an </a:t>
            </a:r>
            <a:r>
              <a:rPr lang="en-US" sz="1600" b="1" dirty="0"/>
              <a:t>unsupervised machine learning algorithm</a:t>
            </a:r>
            <a:r>
              <a:rPr lang="en-US" sz="1600" dirty="0"/>
              <a:t> that groups similar data points into </a:t>
            </a:r>
            <a:r>
              <a:rPr lang="en-US" sz="1600" b="1" dirty="0"/>
              <a:t>K clusters</a:t>
            </a:r>
            <a:r>
              <a:rPr lang="en-US" sz="1600" dirty="0"/>
              <a:t>. The algorithm minimizes the distance between data points and the center of their assigned cluster.</a:t>
            </a:r>
          </a:p>
        </p:txBody>
      </p:sp>
      <p:pic>
        <p:nvPicPr>
          <p:cNvPr id="12" name="Picture 11">
            <a:extLst>
              <a:ext uri="{FF2B5EF4-FFF2-40B4-BE49-F238E27FC236}">
                <a16:creationId xmlns:a16="http://schemas.microsoft.com/office/drawing/2014/main" id="{AF30D2A4-5137-4F32-ADCA-A9EA314891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69280" y="933544"/>
            <a:ext cx="5488357" cy="5438681"/>
          </a:xfrm>
          <a:prstGeom prst="rect">
            <a:avLst/>
          </a:prstGeom>
        </p:spPr>
      </p:pic>
      <p:sp>
        <p:nvSpPr>
          <p:cNvPr id="13" name="TextBox 12">
            <a:extLst>
              <a:ext uri="{FF2B5EF4-FFF2-40B4-BE49-F238E27FC236}">
                <a16:creationId xmlns:a16="http://schemas.microsoft.com/office/drawing/2014/main" id="{823093BA-E05F-4A9E-A8F3-BE7014A6BA80}"/>
              </a:ext>
            </a:extLst>
          </p:cNvPr>
          <p:cNvSpPr txBox="1"/>
          <p:nvPr/>
        </p:nvSpPr>
        <p:spPr>
          <a:xfrm>
            <a:off x="-28576" y="2198238"/>
            <a:ext cx="5895975" cy="2154436"/>
          </a:xfrm>
          <a:prstGeom prst="rect">
            <a:avLst/>
          </a:prstGeom>
          <a:solidFill>
            <a:schemeClr val="accent1">
              <a:lumMod val="20000"/>
              <a:lumOff val="80000"/>
            </a:schemeClr>
          </a:solidFill>
        </p:spPr>
        <p:txBody>
          <a:bodyPr wrap="square" rtlCol="0">
            <a:spAutoFit/>
          </a:bodyPr>
          <a:lstStyle/>
          <a:p>
            <a:r>
              <a:rPr lang="en-US" b="1" dirty="0">
                <a:solidFill>
                  <a:srgbClr val="00B050"/>
                </a:solidFill>
              </a:rPr>
              <a:t>Working of K-Means Algorithm</a:t>
            </a:r>
          </a:p>
          <a:p>
            <a:pPr marL="285750" indent="-285750">
              <a:buFont typeface="Wingdings" panose="05000000000000000000" pitchFamily="2" charset="2"/>
              <a:buChar char="v"/>
            </a:pPr>
            <a:r>
              <a:rPr lang="en-US" sz="1600" dirty="0"/>
              <a:t>Choose the number of clusters (K). </a:t>
            </a:r>
          </a:p>
          <a:p>
            <a:pPr marL="285750" indent="-285750">
              <a:buFont typeface="Wingdings" panose="05000000000000000000" pitchFamily="2" charset="2"/>
              <a:buChar char="v"/>
            </a:pPr>
            <a:r>
              <a:rPr lang="en-US" sz="1600" dirty="0"/>
              <a:t>Initialize K centroids randomly. </a:t>
            </a:r>
          </a:p>
          <a:p>
            <a:pPr marL="285750" indent="-285750">
              <a:buFont typeface="Wingdings" panose="05000000000000000000" pitchFamily="2" charset="2"/>
              <a:buChar char="v"/>
            </a:pPr>
            <a:r>
              <a:rPr lang="en-US" sz="1600" dirty="0"/>
              <a:t>Assign each data point to the nearest centroid. </a:t>
            </a:r>
          </a:p>
          <a:p>
            <a:pPr marL="285750" indent="-285750">
              <a:buFont typeface="Wingdings" panose="05000000000000000000" pitchFamily="2" charset="2"/>
              <a:buChar char="v"/>
            </a:pPr>
            <a:r>
              <a:rPr lang="en-US" sz="1600" dirty="0"/>
              <a:t>Recalculate the centroid by taking the mean of all points in each cluster. </a:t>
            </a:r>
          </a:p>
          <a:p>
            <a:pPr marL="285750" indent="-285750">
              <a:buFont typeface="Wingdings" panose="05000000000000000000" pitchFamily="2" charset="2"/>
              <a:buChar char="v"/>
            </a:pPr>
            <a:r>
              <a:rPr lang="en-US" sz="1600" dirty="0"/>
              <a:t>Repeat Steps 3 and 4 until the centroids stop changing (convergence).</a:t>
            </a:r>
          </a:p>
        </p:txBody>
      </p:sp>
      <p:sp>
        <p:nvSpPr>
          <p:cNvPr id="14" name="TextBox 13">
            <a:extLst>
              <a:ext uri="{FF2B5EF4-FFF2-40B4-BE49-F238E27FC236}">
                <a16:creationId xmlns:a16="http://schemas.microsoft.com/office/drawing/2014/main" id="{576CD2C7-0B2F-4797-B806-5C5CAAC0AB09}"/>
              </a:ext>
            </a:extLst>
          </p:cNvPr>
          <p:cNvSpPr txBox="1"/>
          <p:nvPr/>
        </p:nvSpPr>
        <p:spPr>
          <a:xfrm>
            <a:off x="-28576" y="4426565"/>
            <a:ext cx="5895975" cy="2431435"/>
          </a:xfrm>
          <a:prstGeom prst="rect">
            <a:avLst/>
          </a:prstGeom>
          <a:noFill/>
        </p:spPr>
        <p:txBody>
          <a:bodyPr wrap="square" rtlCol="0">
            <a:spAutoFit/>
          </a:bodyPr>
          <a:lstStyle/>
          <a:p>
            <a:pPr marL="285750" indent="-285750">
              <a:buFont typeface="Wingdings" panose="05000000000000000000" pitchFamily="2" charset="2"/>
              <a:buChar char="q"/>
            </a:pPr>
            <a:r>
              <a:rPr lang="en-US" sz="1600" b="1" dirty="0">
                <a:solidFill>
                  <a:srgbClr val="00B050"/>
                </a:solidFill>
              </a:rPr>
              <a:t>1. Centroids</a:t>
            </a:r>
          </a:p>
          <a:p>
            <a:pPr marL="285750" indent="-285750">
              <a:buFont typeface="Wingdings" panose="05000000000000000000" pitchFamily="2" charset="2"/>
              <a:buChar char="q"/>
            </a:pPr>
            <a:r>
              <a:rPr lang="en-US" sz="1600" dirty="0"/>
              <a:t>A </a:t>
            </a:r>
            <a:r>
              <a:rPr lang="en-US" sz="1600" b="1" dirty="0"/>
              <a:t>centroid</a:t>
            </a:r>
            <a:r>
              <a:rPr lang="en-US" sz="1600" dirty="0"/>
              <a:t> is the </a:t>
            </a:r>
            <a:r>
              <a:rPr lang="en-US" sz="1600" b="1" dirty="0"/>
              <a:t>center point</a:t>
            </a:r>
            <a:r>
              <a:rPr lang="en-US" sz="1600" dirty="0"/>
              <a:t> of a cluster. It is calculated as the </a:t>
            </a:r>
            <a:r>
              <a:rPr lang="en-US" sz="1600" b="1" dirty="0"/>
              <a:t>mean of all data points</a:t>
            </a:r>
            <a:r>
              <a:rPr lang="en-US" sz="1600" dirty="0"/>
              <a:t> in that cluster</a:t>
            </a:r>
            <a:r>
              <a:rPr lang="en-US" dirty="0"/>
              <a:t>.</a:t>
            </a:r>
          </a:p>
          <a:p>
            <a:pPr marL="285750" indent="-285750">
              <a:buFont typeface="Wingdings" panose="05000000000000000000" pitchFamily="2" charset="2"/>
              <a:buChar char="q"/>
            </a:pPr>
            <a:r>
              <a:rPr lang="en-US" sz="1600" b="1" dirty="0">
                <a:solidFill>
                  <a:srgbClr val="00B050"/>
                </a:solidFill>
              </a:rPr>
              <a:t>2. Inertia</a:t>
            </a:r>
          </a:p>
          <a:p>
            <a:pPr marL="285750" indent="-285750">
              <a:buFont typeface="Wingdings" panose="05000000000000000000" pitchFamily="2" charset="2"/>
              <a:buChar char="q"/>
            </a:pPr>
            <a:r>
              <a:rPr lang="en-US" sz="1600" dirty="0"/>
              <a:t>Inertia measures the </a:t>
            </a:r>
            <a:r>
              <a:rPr lang="en-US" sz="1600" b="1" dirty="0"/>
              <a:t>sum of squared distances</a:t>
            </a:r>
            <a:r>
              <a:rPr lang="en-US" sz="1600" dirty="0"/>
              <a:t> between each data point and its nearest centroid.</a:t>
            </a:r>
          </a:p>
          <a:p>
            <a:pPr marL="285750" indent="-285750">
              <a:buFont typeface="Wingdings" panose="05000000000000000000" pitchFamily="2" charset="2"/>
              <a:buChar char="q"/>
            </a:pPr>
            <a:r>
              <a:rPr lang="en-US" sz="1600" b="1" dirty="0">
                <a:solidFill>
                  <a:srgbClr val="00B050"/>
                </a:solidFill>
              </a:rPr>
              <a:t>3. Elbow Method</a:t>
            </a:r>
          </a:p>
          <a:p>
            <a:pPr marL="285750" indent="-285750">
              <a:buFont typeface="Wingdings" panose="05000000000000000000" pitchFamily="2" charset="2"/>
              <a:buChar char="q"/>
            </a:pPr>
            <a:r>
              <a:rPr lang="en-US" sz="1600" dirty="0"/>
              <a:t>The Elbow Method helps determine the </a:t>
            </a:r>
            <a:r>
              <a:rPr lang="en-US" sz="1600" b="1" dirty="0"/>
              <a:t>optimal value of K</a:t>
            </a:r>
            <a:r>
              <a:rPr lang="en-US" sz="1600" dirty="0"/>
              <a:t>.</a:t>
            </a:r>
          </a:p>
          <a:p>
            <a:endParaRPr lang="en-IN" dirty="0"/>
          </a:p>
        </p:txBody>
      </p:sp>
    </p:spTree>
    <p:extLst>
      <p:ext uri="{BB962C8B-B14F-4D97-AF65-F5344CB8AC3E}">
        <p14:creationId xmlns:p14="http://schemas.microsoft.com/office/powerpoint/2010/main" val="32662570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63D022-57A7-450F-A3DB-C8616DFFED06}"/>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0A7BC32C-6E61-4EE6-8192-488BD01656DD}"/>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4A023BF8-B27B-4A7F-9E55-4E819571E21A}"/>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5735BEC0-EE07-4DA0-AE57-C7A156EF1F40}"/>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622FAC16-512B-414F-8A6B-C55348E9EF22}"/>
              </a:ext>
            </a:extLst>
          </p:cNvPr>
          <p:cNvSpPr/>
          <p:nvPr/>
        </p:nvSpPr>
        <p:spPr>
          <a:xfrm>
            <a:off x="0" y="-131967"/>
            <a:ext cx="11338560" cy="914400"/>
          </a:xfrm>
          <a:prstGeom prst="rect">
            <a:avLst/>
          </a:prstGeom>
          <a:noFill/>
          <a:ln/>
        </p:spPr>
        <p:txBody>
          <a:bodyPr wrap="square" rtlCol="0" anchor="ctr"/>
          <a:lstStyle/>
          <a:p>
            <a:endParaRPr lang="en-US" sz="2800" b="1" dirty="0">
              <a:solidFill>
                <a:schemeClr val="accent1">
                  <a:lumMod val="75000"/>
                </a:schemeClr>
              </a:solidFill>
              <a:effectLst>
                <a:outerShdw blurRad="38100" dist="38100" dir="2700000" algn="tl">
                  <a:srgbClr val="000000">
                    <a:alpha val="43137"/>
                  </a:srgbClr>
                </a:outerShdw>
              </a:effectLst>
            </a:endParaRPr>
          </a:p>
        </p:txBody>
      </p:sp>
      <p:sp>
        <p:nvSpPr>
          <p:cNvPr id="8" name="TextBox 7">
            <a:extLst>
              <a:ext uri="{FF2B5EF4-FFF2-40B4-BE49-F238E27FC236}">
                <a16:creationId xmlns:a16="http://schemas.microsoft.com/office/drawing/2014/main" id="{C1FB9706-246F-448F-909A-E11E8D1537F1}"/>
              </a:ext>
            </a:extLst>
          </p:cNvPr>
          <p:cNvSpPr txBox="1"/>
          <p:nvPr/>
        </p:nvSpPr>
        <p:spPr>
          <a:xfrm>
            <a:off x="-542924" y="3730029"/>
            <a:ext cx="4071000" cy="372939"/>
          </a:xfrm>
          <a:prstGeom prst="rect">
            <a:avLst/>
          </a:prstGeom>
          <a:noFill/>
        </p:spPr>
        <p:txBody>
          <a:bodyPr wrap="square" rtlCol="0">
            <a:spAutoFit/>
          </a:bodyPr>
          <a:lstStyle/>
          <a:p>
            <a:endParaRPr lang="en-IN" dirty="0"/>
          </a:p>
        </p:txBody>
      </p:sp>
      <p:pic>
        <p:nvPicPr>
          <p:cNvPr id="12" name="Picture 11">
            <a:extLst>
              <a:ext uri="{FF2B5EF4-FFF2-40B4-BE49-F238E27FC236}">
                <a16:creationId xmlns:a16="http://schemas.microsoft.com/office/drawing/2014/main" id="{514E5B9F-C838-41CB-AA50-1B4CDF11D638}"/>
              </a:ext>
            </a:extLst>
          </p:cNvPr>
          <p:cNvPicPr>
            <a:picLocks noChangeAspect="1"/>
          </p:cNvPicPr>
          <p:nvPr/>
        </p:nvPicPr>
        <p:blipFill>
          <a:blip r:embed="rId4"/>
          <a:stretch>
            <a:fillRect/>
          </a:stretch>
        </p:blipFill>
        <p:spPr>
          <a:xfrm>
            <a:off x="6199939" y="1668284"/>
            <a:ext cx="5992061" cy="4496427"/>
          </a:xfrm>
          <a:prstGeom prst="rect">
            <a:avLst/>
          </a:prstGeom>
        </p:spPr>
      </p:pic>
      <p:sp>
        <p:nvSpPr>
          <p:cNvPr id="13" name="TextBox 12">
            <a:extLst>
              <a:ext uri="{FF2B5EF4-FFF2-40B4-BE49-F238E27FC236}">
                <a16:creationId xmlns:a16="http://schemas.microsoft.com/office/drawing/2014/main" id="{0AD663FC-D835-4DDE-B45E-DD436CFD5043}"/>
              </a:ext>
            </a:extLst>
          </p:cNvPr>
          <p:cNvSpPr txBox="1"/>
          <p:nvPr/>
        </p:nvSpPr>
        <p:spPr>
          <a:xfrm>
            <a:off x="0" y="852261"/>
            <a:ext cx="3543300" cy="461665"/>
          </a:xfrm>
          <a:prstGeom prst="rect">
            <a:avLst/>
          </a:prstGeom>
          <a:noFill/>
        </p:spPr>
        <p:txBody>
          <a:bodyPr wrap="square" rtlCol="0">
            <a:spAutoFit/>
          </a:bodyPr>
          <a:lstStyle/>
          <a:p>
            <a:r>
              <a:rPr lang="en-IN" sz="2400" b="1" dirty="0">
                <a:effectLst>
                  <a:outerShdw blurRad="38100" dist="38100" dir="2700000" algn="tl">
                    <a:srgbClr val="000000">
                      <a:alpha val="43137"/>
                    </a:srgbClr>
                  </a:outerShdw>
                </a:effectLst>
              </a:rPr>
              <a:t>DBSCAN overview</a:t>
            </a:r>
          </a:p>
        </p:txBody>
      </p:sp>
      <p:sp>
        <p:nvSpPr>
          <p:cNvPr id="14" name="Rectangle 4">
            <a:extLst>
              <a:ext uri="{FF2B5EF4-FFF2-40B4-BE49-F238E27FC236}">
                <a16:creationId xmlns:a16="http://schemas.microsoft.com/office/drawing/2014/main" id="{D13B8910-EA07-4314-96C7-74898A670F18}"/>
              </a:ext>
            </a:extLst>
          </p:cNvPr>
          <p:cNvSpPr>
            <a:spLocks noChangeArrowheads="1"/>
          </p:cNvSpPr>
          <p:nvPr/>
        </p:nvSpPr>
        <p:spPr bwMode="auto">
          <a:xfrm>
            <a:off x="0" y="1210543"/>
            <a:ext cx="5848350"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What is DBSCAN?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DBSCAN</a:t>
            </a:r>
            <a:r>
              <a:rPr kumimoji="0" lang="en-US" altLang="en-US" sz="1400" b="0" i="0" u="none" strike="noStrike" cap="none" normalizeH="0" baseline="0" dirty="0">
                <a:ln>
                  <a:noFill/>
                </a:ln>
                <a:solidFill>
                  <a:schemeClr val="tx1"/>
                </a:solidFill>
                <a:effectLst/>
                <a:latin typeface="Arial" panose="020B0604020202020204" pitchFamily="34" charset="0"/>
              </a:rPr>
              <a:t> is an </a:t>
            </a:r>
            <a:r>
              <a:rPr kumimoji="0" lang="en-US" altLang="en-US" sz="1400" b="1" i="0" u="none" strike="noStrike" cap="none" normalizeH="0" baseline="0" dirty="0">
                <a:ln>
                  <a:noFill/>
                </a:ln>
                <a:solidFill>
                  <a:schemeClr val="tx1"/>
                </a:solidFill>
                <a:effectLst/>
                <a:latin typeface="Arial" panose="020B0604020202020204" pitchFamily="34" charset="0"/>
              </a:rPr>
              <a:t>unsupervised machine learning clustering algorithm</a:t>
            </a:r>
            <a:r>
              <a:rPr kumimoji="0" lang="en-US" altLang="en-US" sz="1400" b="0" i="0" u="none" strike="noStrike" cap="none" normalizeH="0" baseline="0" dirty="0">
                <a:ln>
                  <a:noFill/>
                </a:ln>
                <a:solidFill>
                  <a:schemeClr val="tx1"/>
                </a:solidFill>
                <a:effectLst/>
                <a:latin typeface="Arial" panose="020B0604020202020204" pitchFamily="34" charset="0"/>
              </a:rPr>
              <a:t> that groups together data points that are </a:t>
            </a:r>
            <a:r>
              <a:rPr kumimoji="0" lang="en-US" altLang="en-US" sz="1400" b="1" i="0" u="none" strike="noStrike" cap="none" normalizeH="0" baseline="0" dirty="0">
                <a:ln>
                  <a:noFill/>
                </a:ln>
                <a:solidFill>
                  <a:schemeClr val="tx1"/>
                </a:solidFill>
                <a:effectLst/>
                <a:latin typeface="Arial" panose="020B0604020202020204" pitchFamily="34" charset="0"/>
              </a:rPr>
              <a:t>closely packed (high-density regions)</a:t>
            </a:r>
            <a:r>
              <a:rPr kumimoji="0" lang="en-US" altLang="en-US" sz="1400" b="0" i="0" u="none" strike="noStrike" cap="none" normalizeH="0" baseline="0" dirty="0">
                <a:ln>
                  <a:noFill/>
                </a:ln>
                <a:solidFill>
                  <a:schemeClr val="tx1"/>
                </a:solidFill>
                <a:effectLst/>
                <a:latin typeface="Arial" panose="020B0604020202020204" pitchFamily="34" charset="0"/>
              </a:rPr>
              <a:t> and identifies points in </a:t>
            </a:r>
            <a:r>
              <a:rPr kumimoji="0" lang="en-US" altLang="en-US" sz="1400" b="1" i="0" u="none" strike="noStrike" cap="none" normalizeH="0" baseline="0" dirty="0">
                <a:ln>
                  <a:noFill/>
                </a:ln>
                <a:solidFill>
                  <a:schemeClr val="tx1"/>
                </a:solidFill>
                <a:effectLst/>
                <a:latin typeface="Arial" panose="020B0604020202020204" pitchFamily="34" charset="0"/>
              </a:rPr>
              <a:t>low-density regions as outliers (noise)</a:t>
            </a:r>
            <a:r>
              <a:rPr kumimoji="0" lang="en-US" altLang="en-US" sz="1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Unlike </a:t>
            </a:r>
            <a:r>
              <a:rPr kumimoji="0" lang="en-US" altLang="en-US" sz="1400" b="1" i="0" u="none" strike="noStrike" cap="none" normalizeH="0" baseline="0" dirty="0">
                <a:ln>
                  <a:noFill/>
                </a:ln>
                <a:solidFill>
                  <a:schemeClr val="tx1"/>
                </a:solidFill>
                <a:effectLst/>
                <a:latin typeface="Arial" panose="020B0604020202020204" pitchFamily="34" charset="0"/>
              </a:rPr>
              <a:t>K-Means</a:t>
            </a:r>
            <a:r>
              <a:rPr kumimoji="0" lang="en-US" altLang="en-US" sz="1400" b="0" i="0" u="none" strike="noStrike" cap="none" normalizeH="0" baseline="0" dirty="0">
                <a:ln>
                  <a:noFill/>
                </a:ln>
                <a:solidFill>
                  <a:schemeClr val="tx1"/>
                </a:solidFill>
                <a:effectLst/>
                <a:latin typeface="Arial" panose="020B0604020202020204" pitchFamily="34" charset="0"/>
              </a:rPr>
              <a:t>, DBSCAN </a:t>
            </a:r>
            <a:r>
              <a:rPr kumimoji="0" lang="en-US" altLang="en-US" sz="1400" b="1" i="0" u="none" strike="noStrike" cap="none" normalizeH="0" baseline="0" dirty="0">
                <a:ln>
                  <a:noFill/>
                </a:ln>
                <a:solidFill>
                  <a:schemeClr val="tx1"/>
                </a:solidFill>
                <a:effectLst/>
                <a:latin typeface="Arial" panose="020B0604020202020204" pitchFamily="34" charset="0"/>
              </a:rPr>
              <a:t>does not require the number of clusters (K) to be specified in advance</a:t>
            </a:r>
            <a:r>
              <a:rPr kumimoji="0" lang="en-US" altLang="en-US" sz="1400" b="0" i="0" u="none" strike="noStrike" cap="none" normalizeH="0" baseline="0" dirty="0">
                <a:ln>
                  <a:noFill/>
                </a:ln>
                <a:solidFill>
                  <a:schemeClr val="tx1"/>
                </a:solidFill>
                <a:effectLst/>
                <a:latin typeface="Arial" panose="020B0604020202020204" pitchFamily="34" charset="0"/>
              </a:rPr>
              <a:t>.</a:t>
            </a:r>
          </a:p>
        </p:txBody>
      </p:sp>
      <p:sp>
        <p:nvSpPr>
          <p:cNvPr id="16" name="Rectangle 6">
            <a:extLst>
              <a:ext uri="{FF2B5EF4-FFF2-40B4-BE49-F238E27FC236}">
                <a16:creationId xmlns:a16="http://schemas.microsoft.com/office/drawing/2014/main" id="{9753C932-856C-46D5-9FF3-C936DF013C31}"/>
              </a:ext>
            </a:extLst>
          </p:cNvPr>
          <p:cNvSpPr>
            <a:spLocks noChangeArrowheads="1"/>
          </p:cNvSpPr>
          <p:nvPr/>
        </p:nvSpPr>
        <p:spPr bwMode="auto">
          <a:xfrm>
            <a:off x="0" y="2726361"/>
            <a:ext cx="6199939"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effectLst>
                  <a:outerShdw blurRad="38100" dist="38100" dir="2700000" algn="tl">
                    <a:srgbClr val="000000">
                      <a:alpha val="43137"/>
                    </a:srgbClr>
                  </a:outerShdw>
                </a:effectLst>
                <a:latin typeface="Arial" panose="020B0604020202020204" pitchFamily="34" charset="0"/>
              </a:rPr>
              <a:t>Key Concepts</a:t>
            </a:r>
          </a:p>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rgbClr val="00B050"/>
                </a:solidFill>
                <a:effectLst/>
                <a:latin typeface="Arial" panose="020B0604020202020204" pitchFamily="34" charset="0"/>
              </a:rPr>
              <a:t>1. Epsilon (ε)</a:t>
            </a:r>
          </a:p>
          <a:p>
            <a:pPr marL="0" marR="0" lvl="0" indent="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chemeClr val="tx1"/>
                </a:solidFill>
                <a:effectLst/>
                <a:latin typeface="Arial" panose="020B0604020202020204" pitchFamily="34" charset="0"/>
              </a:rPr>
              <a:t>The maximum distance between two data points to be considered neighbors. </a:t>
            </a:r>
          </a:p>
          <a:p>
            <a:pPr marL="0" marR="0" lvl="0" indent="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chemeClr val="tx1"/>
                </a:solidFill>
                <a:effectLst/>
                <a:latin typeface="Arial" panose="020B0604020202020204" pitchFamily="34" charset="0"/>
              </a:rPr>
              <a:t>Determines the size of the neighborhood around a point. </a:t>
            </a:r>
          </a:p>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rgbClr val="00B050"/>
                </a:solidFill>
                <a:effectLst/>
                <a:latin typeface="Arial" panose="020B0604020202020204" pitchFamily="34" charset="0"/>
              </a:rPr>
              <a:t>2. MinPts (Minimum Points)</a:t>
            </a:r>
          </a:p>
          <a:p>
            <a:pPr marL="0" marR="0" lvl="0" indent="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chemeClr val="tx1"/>
                </a:solidFill>
                <a:effectLst/>
                <a:latin typeface="Arial" panose="020B0604020202020204" pitchFamily="34" charset="0"/>
              </a:rPr>
              <a:t>The minimum number of neighboring points required to form a dense region (cluster). </a:t>
            </a:r>
          </a:p>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rgbClr val="00B050"/>
                </a:solidFill>
                <a:effectLst/>
                <a:latin typeface="Arial" panose="020B0604020202020204" pitchFamily="34" charset="0"/>
              </a:rPr>
              <a:t>3. Core Point</a:t>
            </a:r>
          </a:p>
          <a:p>
            <a:pPr marL="0" marR="0" lvl="0" indent="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chemeClr val="tx1"/>
                </a:solidFill>
                <a:effectLst/>
                <a:latin typeface="Arial" panose="020B0604020202020204" pitchFamily="34" charset="0"/>
              </a:rPr>
              <a:t>A point that has at least </a:t>
            </a:r>
            <a:r>
              <a:rPr kumimoji="0" lang="en-US" altLang="en-US" sz="1400" b="1" i="0" u="none" strike="noStrike" cap="none" normalizeH="0" baseline="0" dirty="0">
                <a:ln>
                  <a:noFill/>
                </a:ln>
                <a:solidFill>
                  <a:schemeClr val="tx1"/>
                </a:solidFill>
                <a:effectLst/>
                <a:latin typeface="Arial" panose="020B0604020202020204" pitchFamily="34" charset="0"/>
              </a:rPr>
              <a:t>MinPts</a:t>
            </a:r>
            <a:r>
              <a:rPr kumimoji="0" lang="en-US" altLang="en-US" sz="1400" b="0" i="0" u="none" strike="noStrike" cap="none" normalizeH="0" baseline="0" dirty="0">
                <a:ln>
                  <a:noFill/>
                </a:ln>
                <a:solidFill>
                  <a:schemeClr val="tx1"/>
                </a:solidFill>
                <a:effectLst/>
                <a:latin typeface="Arial" panose="020B0604020202020204" pitchFamily="34" charset="0"/>
              </a:rPr>
              <a:t> neighbors within the </a:t>
            </a:r>
            <a:r>
              <a:rPr kumimoji="0" lang="en-US" altLang="en-US" sz="1400" b="1" i="0" u="none" strike="noStrike" cap="none" normalizeH="0" baseline="0" dirty="0">
                <a:ln>
                  <a:noFill/>
                </a:ln>
                <a:solidFill>
                  <a:schemeClr val="tx1"/>
                </a:solidFill>
                <a:effectLst/>
                <a:latin typeface="Arial" panose="020B0604020202020204" pitchFamily="34" charset="0"/>
              </a:rPr>
              <a:t>ε radius</a:t>
            </a:r>
            <a:r>
              <a:rPr kumimoji="0" lang="en-US" altLang="en-US" sz="1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rgbClr val="00B050"/>
                </a:solidFill>
                <a:effectLst/>
                <a:latin typeface="Arial" panose="020B0604020202020204" pitchFamily="34" charset="0"/>
              </a:rPr>
              <a:t>4. Border Point</a:t>
            </a:r>
          </a:p>
          <a:p>
            <a:pPr marL="0" marR="0" lvl="0" indent="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chemeClr val="tx1"/>
                </a:solidFill>
                <a:effectLst/>
                <a:latin typeface="Arial" panose="020B0604020202020204" pitchFamily="34" charset="0"/>
              </a:rPr>
              <a:t>A point that is within the ε neighborhood of a core point but has fewer than MinPts neighbors. </a:t>
            </a:r>
          </a:p>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rgbClr val="00B050"/>
                </a:solidFill>
                <a:effectLst/>
                <a:latin typeface="Arial" panose="020B0604020202020204" pitchFamily="34" charset="0"/>
              </a:rPr>
              <a:t>5. Noise (Outlier)</a:t>
            </a:r>
          </a:p>
          <a:p>
            <a:pPr marL="0" marR="0" lvl="0" indent="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chemeClr val="tx1"/>
                </a:solidFill>
                <a:effectLst/>
                <a:latin typeface="Arial" panose="020B0604020202020204" pitchFamily="34" charset="0"/>
              </a:rPr>
              <a:t>A point that is neither a core point nor a border point. </a:t>
            </a:r>
          </a:p>
          <a:p>
            <a:pPr marL="0" marR="0" lvl="0" indent="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chemeClr val="tx1"/>
                </a:solidFill>
                <a:effectLst/>
                <a:latin typeface="Arial" panose="020B0604020202020204" pitchFamily="34" charset="0"/>
              </a:rPr>
              <a:t>It does not belong to any cluster.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7" name="TextBox 16">
            <a:extLst>
              <a:ext uri="{FF2B5EF4-FFF2-40B4-BE49-F238E27FC236}">
                <a16:creationId xmlns:a16="http://schemas.microsoft.com/office/drawing/2014/main" id="{2717ABC5-1E93-4036-9E27-0994C9F871D7}"/>
              </a:ext>
            </a:extLst>
          </p:cNvPr>
          <p:cNvSpPr txBox="1"/>
          <p:nvPr/>
        </p:nvSpPr>
        <p:spPr>
          <a:xfrm>
            <a:off x="0" y="106375"/>
            <a:ext cx="9141010" cy="523220"/>
          </a:xfrm>
          <a:prstGeom prst="rect">
            <a:avLst/>
          </a:prstGeom>
          <a:noFill/>
        </p:spPr>
        <p:txBody>
          <a:bodyPr wrap="square" rtlCol="0">
            <a:spAutoFit/>
          </a:bodyPr>
          <a:lstStyle/>
          <a:p>
            <a:r>
              <a:rPr lang="en-IN" sz="2800" b="1" dirty="0">
                <a:solidFill>
                  <a:schemeClr val="accent1">
                    <a:lumMod val="75000"/>
                  </a:schemeClr>
                </a:solidFill>
                <a:effectLst>
                  <a:outerShdw blurRad="38100" dist="38100" dir="2700000" algn="tl">
                    <a:srgbClr val="000000">
                      <a:alpha val="43137"/>
                    </a:srgbClr>
                  </a:outerShdw>
                </a:effectLst>
              </a:rPr>
              <a:t>CLUSTERING &amp; DIMENSIONALITY REDUCTION</a:t>
            </a:r>
            <a:endParaRPr lang="en-US" sz="2800" b="1" dirty="0">
              <a:solidFill>
                <a:schemeClr val="accent1">
                  <a:lumMod val="75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8834888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63D022-57A7-450F-A3DB-C8616DFFED06}"/>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0A7BC32C-6E61-4EE6-8192-488BD01656DD}"/>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4A023BF8-B27B-4A7F-9E55-4E819571E21A}"/>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5735BEC0-EE07-4DA0-AE57-C7A156EF1F40}"/>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622FAC16-512B-414F-8A6B-C55348E9EF22}"/>
              </a:ext>
            </a:extLst>
          </p:cNvPr>
          <p:cNvSpPr/>
          <p:nvPr/>
        </p:nvSpPr>
        <p:spPr>
          <a:xfrm>
            <a:off x="0" y="126156"/>
            <a:ext cx="11338560" cy="914400"/>
          </a:xfrm>
          <a:prstGeom prst="rect">
            <a:avLst/>
          </a:prstGeom>
          <a:noFill/>
          <a:ln/>
        </p:spPr>
        <p:txBody>
          <a:bodyPr wrap="square" rtlCol="0" anchor="ctr"/>
          <a:lstStyle/>
          <a:p>
            <a:r>
              <a:rPr lang="en-IN" sz="2800" b="1" dirty="0">
                <a:solidFill>
                  <a:schemeClr val="accent1">
                    <a:lumMod val="75000"/>
                  </a:schemeClr>
                </a:solidFill>
                <a:effectLst>
                  <a:outerShdw blurRad="38100" dist="38100" dir="2700000" algn="tl">
                    <a:srgbClr val="000000">
                      <a:alpha val="43137"/>
                    </a:srgbClr>
                  </a:outerShdw>
                </a:effectLst>
              </a:rPr>
              <a:t>CLUSTERING &amp; DIMENSIONALITY REDUCTION</a:t>
            </a:r>
            <a:endParaRPr lang="en-US" sz="2800" b="1" dirty="0">
              <a:solidFill>
                <a:schemeClr val="accent1">
                  <a:lumMod val="75000"/>
                </a:schemeClr>
              </a:solidFill>
              <a:effectLst>
                <a:outerShdw blurRad="38100" dist="38100" dir="2700000" algn="tl">
                  <a:srgbClr val="000000">
                    <a:alpha val="43137"/>
                  </a:srgbClr>
                </a:outerShdw>
              </a:effectLst>
            </a:endParaRPr>
          </a:p>
          <a:p>
            <a:endParaRPr lang="en-US" sz="2800" dirty="0">
              <a:solidFill>
                <a:srgbClr val="002060"/>
              </a:solidFill>
            </a:endParaRPr>
          </a:p>
        </p:txBody>
      </p:sp>
      <p:sp>
        <p:nvSpPr>
          <p:cNvPr id="7" name="TextBox 6">
            <a:extLst>
              <a:ext uri="{FF2B5EF4-FFF2-40B4-BE49-F238E27FC236}">
                <a16:creationId xmlns:a16="http://schemas.microsoft.com/office/drawing/2014/main" id="{8B1C2076-024A-48E2-8BAE-7CC9BE75575D}"/>
              </a:ext>
            </a:extLst>
          </p:cNvPr>
          <p:cNvSpPr txBox="1"/>
          <p:nvPr/>
        </p:nvSpPr>
        <p:spPr>
          <a:xfrm>
            <a:off x="0" y="857988"/>
            <a:ext cx="12115800" cy="1200329"/>
          </a:xfrm>
          <a:prstGeom prst="rect">
            <a:avLst/>
          </a:prstGeom>
          <a:noFill/>
        </p:spPr>
        <p:txBody>
          <a:bodyPr wrap="square" rtlCol="0">
            <a:spAutoFit/>
          </a:bodyPr>
          <a:lstStyle/>
          <a:p>
            <a:r>
              <a:rPr lang="en-US" b="1" dirty="0">
                <a:effectLst>
                  <a:outerShdw blurRad="38100" dist="38100" dir="2700000" algn="tl">
                    <a:srgbClr val="000000">
                      <a:alpha val="43137"/>
                    </a:srgbClr>
                  </a:outerShdw>
                </a:effectLst>
              </a:rPr>
              <a:t>What is PCA?</a:t>
            </a:r>
          </a:p>
          <a:p>
            <a:r>
              <a:rPr lang="en-US" b="1" dirty="0"/>
              <a:t>Principal Component Analysis (PCA)</a:t>
            </a:r>
            <a:r>
              <a:rPr lang="en-US" dirty="0"/>
              <a:t> is an </a:t>
            </a:r>
            <a:r>
              <a:rPr lang="en-US" b="1" dirty="0"/>
              <a:t>unsupervised dimensionality reduction technique</a:t>
            </a:r>
            <a:r>
              <a:rPr lang="en-US" dirty="0"/>
              <a:t> used to reduce the number of features in a dataset while preserving as much information (variance) as possible.</a:t>
            </a:r>
          </a:p>
          <a:p>
            <a:r>
              <a:rPr lang="en-US" dirty="0"/>
              <a:t>PCA transforms the original correlated variables into a new set of </a:t>
            </a:r>
            <a:r>
              <a:rPr lang="en-US" b="1" dirty="0"/>
              <a:t>uncorrelated variables</a:t>
            </a:r>
            <a:r>
              <a:rPr lang="en-US" dirty="0"/>
              <a:t> called </a:t>
            </a:r>
            <a:r>
              <a:rPr lang="en-US" b="1" dirty="0"/>
              <a:t>Principal Components (PCs)</a:t>
            </a:r>
            <a:r>
              <a:rPr lang="en-US" dirty="0"/>
              <a:t>.</a:t>
            </a:r>
          </a:p>
        </p:txBody>
      </p:sp>
      <p:pic>
        <p:nvPicPr>
          <p:cNvPr id="8" name="Picture 7">
            <a:extLst>
              <a:ext uri="{FF2B5EF4-FFF2-40B4-BE49-F238E27FC236}">
                <a16:creationId xmlns:a16="http://schemas.microsoft.com/office/drawing/2014/main" id="{E371F0D0-4DE3-461B-9892-FCC3838CC4E9}"/>
              </a:ext>
            </a:extLst>
          </p:cNvPr>
          <p:cNvPicPr>
            <a:picLocks noChangeAspect="1"/>
          </p:cNvPicPr>
          <p:nvPr/>
        </p:nvPicPr>
        <p:blipFill>
          <a:blip r:embed="rId4"/>
          <a:stretch>
            <a:fillRect/>
          </a:stretch>
        </p:blipFill>
        <p:spPr>
          <a:xfrm>
            <a:off x="0" y="2058316"/>
            <a:ext cx="5448300" cy="4371059"/>
          </a:xfrm>
          <a:prstGeom prst="rect">
            <a:avLst/>
          </a:prstGeom>
        </p:spPr>
      </p:pic>
      <p:sp>
        <p:nvSpPr>
          <p:cNvPr id="9" name="TextBox 8">
            <a:extLst>
              <a:ext uri="{FF2B5EF4-FFF2-40B4-BE49-F238E27FC236}">
                <a16:creationId xmlns:a16="http://schemas.microsoft.com/office/drawing/2014/main" id="{1AB740DD-5666-48D1-8E13-EF96960F9CB4}"/>
              </a:ext>
            </a:extLst>
          </p:cNvPr>
          <p:cNvSpPr txBox="1"/>
          <p:nvPr/>
        </p:nvSpPr>
        <p:spPr>
          <a:xfrm>
            <a:off x="5545455" y="4261353"/>
            <a:ext cx="6442247" cy="2062103"/>
          </a:xfrm>
          <a:prstGeom prst="rect">
            <a:avLst/>
          </a:prstGeom>
          <a:noFill/>
        </p:spPr>
        <p:txBody>
          <a:bodyPr wrap="square" rtlCol="0">
            <a:spAutoFit/>
          </a:bodyPr>
          <a:lstStyle/>
          <a:p>
            <a:r>
              <a:rPr lang="en-US" sz="1600" b="1" dirty="0">
                <a:solidFill>
                  <a:srgbClr val="00B050"/>
                </a:solidFill>
              </a:rPr>
              <a:t>Principal components</a:t>
            </a:r>
            <a:r>
              <a:rPr lang="en-US" sz="1600" dirty="0">
                <a:solidFill>
                  <a:srgbClr val="00B050"/>
                </a:solidFill>
              </a:rPr>
              <a:t> </a:t>
            </a:r>
            <a:r>
              <a:rPr lang="en-US" sz="1600" dirty="0"/>
              <a:t>are new axes that PCA constructs from the original features — each one a linear combination of all the original variables. PC1 is chosen to point in the direction of greatest variance in the data (the long axis of the cloud above); PC2 is then chosen orthogonal to PC1, capturing the largest remaining variance, and so on for as many components as there are original dimensions. Because the components are orthogonal, they're uncorrelated with each other even when the original features were highly correlated.</a:t>
            </a:r>
            <a:endParaRPr lang="en-IN" sz="1600" dirty="0"/>
          </a:p>
        </p:txBody>
      </p:sp>
      <p:sp>
        <p:nvSpPr>
          <p:cNvPr id="11" name="TextBox 10">
            <a:extLst>
              <a:ext uri="{FF2B5EF4-FFF2-40B4-BE49-F238E27FC236}">
                <a16:creationId xmlns:a16="http://schemas.microsoft.com/office/drawing/2014/main" id="{9DB3DFA0-7826-48CB-BE34-B8FFED9E6098}"/>
              </a:ext>
            </a:extLst>
          </p:cNvPr>
          <p:cNvSpPr txBox="1"/>
          <p:nvPr/>
        </p:nvSpPr>
        <p:spPr>
          <a:xfrm>
            <a:off x="5545455" y="1983657"/>
            <a:ext cx="7160895" cy="2308324"/>
          </a:xfrm>
          <a:prstGeom prst="rect">
            <a:avLst/>
          </a:prstGeom>
          <a:noFill/>
        </p:spPr>
        <p:txBody>
          <a:bodyPr wrap="square" rtlCol="0">
            <a:spAutoFit/>
          </a:bodyPr>
          <a:lstStyle/>
          <a:p>
            <a:r>
              <a:rPr lang="en-US" b="1" dirty="0">
                <a:solidFill>
                  <a:srgbClr val="00B050"/>
                </a:solidFill>
              </a:rPr>
              <a:t>Principal Components (PCs)</a:t>
            </a:r>
          </a:p>
          <a:p>
            <a:r>
              <a:rPr lang="en-US" sz="1400" dirty="0"/>
              <a:t>Principal Components are </a:t>
            </a:r>
            <a:r>
              <a:rPr lang="en-US" sz="1400" b="1" dirty="0"/>
              <a:t>new axes</a:t>
            </a:r>
            <a:r>
              <a:rPr lang="en-US" sz="1400" dirty="0"/>
              <a:t> formed by combining the original features.</a:t>
            </a:r>
          </a:p>
          <a:p>
            <a:r>
              <a:rPr lang="en-US" sz="1400" b="1" dirty="0"/>
              <a:t>PC1 (First Principal Component):</a:t>
            </a:r>
            <a:r>
              <a:rPr lang="en-US" sz="1400" dirty="0"/>
              <a:t> </a:t>
            </a:r>
          </a:p>
          <a:p>
            <a:pPr lvl="1"/>
            <a:r>
              <a:rPr lang="en-US" sz="1400" dirty="0"/>
              <a:t>Captures the </a:t>
            </a:r>
            <a:r>
              <a:rPr lang="en-US" sz="1400" b="1" dirty="0"/>
              <a:t>maximum variance</a:t>
            </a:r>
            <a:r>
              <a:rPr lang="en-US" sz="1400" dirty="0"/>
              <a:t> in the dataset. </a:t>
            </a:r>
          </a:p>
          <a:p>
            <a:pPr lvl="1"/>
            <a:r>
              <a:rPr lang="en-US" sz="1400" dirty="0"/>
              <a:t>Most informative component. </a:t>
            </a:r>
          </a:p>
          <a:p>
            <a:r>
              <a:rPr lang="en-US" sz="1400" b="1" dirty="0"/>
              <a:t>PC2 (Second Principal Component):</a:t>
            </a:r>
            <a:r>
              <a:rPr lang="en-US" sz="1400" dirty="0"/>
              <a:t> </a:t>
            </a:r>
          </a:p>
          <a:p>
            <a:pPr lvl="1"/>
            <a:r>
              <a:rPr lang="en-US" sz="1400" dirty="0"/>
              <a:t>Captures the next highest variance. </a:t>
            </a:r>
          </a:p>
          <a:p>
            <a:pPr lvl="1"/>
            <a:r>
              <a:rPr lang="en-US" sz="1400" dirty="0"/>
              <a:t>Perpendicular (orthogonal) to PC1. </a:t>
            </a:r>
          </a:p>
          <a:p>
            <a:r>
              <a:rPr lang="en-US" sz="1400" b="1" dirty="0"/>
              <a:t>PC3, PC4, ...</a:t>
            </a:r>
            <a:r>
              <a:rPr lang="en-US" sz="1400" dirty="0"/>
              <a:t> </a:t>
            </a:r>
          </a:p>
          <a:p>
            <a:pPr lvl="1"/>
            <a:r>
              <a:rPr lang="en-US" sz="1400" dirty="0"/>
              <a:t>Capture the remaining variance.</a:t>
            </a:r>
          </a:p>
        </p:txBody>
      </p:sp>
    </p:spTree>
    <p:extLst>
      <p:ext uri="{BB962C8B-B14F-4D97-AF65-F5344CB8AC3E}">
        <p14:creationId xmlns:p14="http://schemas.microsoft.com/office/powerpoint/2010/main" val="23796430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63D022-57A7-450F-A3DB-C8616DFFED06}"/>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0A7BC32C-6E61-4EE6-8192-488BD01656DD}"/>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4A023BF8-B27B-4A7F-9E55-4E819571E21A}"/>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5735BEC0-EE07-4DA0-AE57-C7A156EF1F40}"/>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622FAC16-512B-414F-8A6B-C55348E9EF22}"/>
              </a:ext>
            </a:extLst>
          </p:cNvPr>
          <p:cNvSpPr/>
          <p:nvPr/>
        </p:nvSpPr>
        <p:spPr>
          <a:xfrm>
            <a:off x="0" y="-156719"/>
            <a:ext cx="11338560" cy="914400"/>
          </a:xfrm>
          <a:prstGeom prst="rect">
            <a:avLst/>
          </a:prstGeom>
          <a:noFill/>
          <a:ln/>
        </p:spPr>
        <p:txBody>
          <a:bodyPr wrap="square" rtlCol="0" anchor="ctr"/>
          <a:lstStyle/>
          <a:p>
            <a:r>
              <a:rPr lang="en-IN" sz="2800" b="1" dirty="0">
                <a:solidFill>
                  <a:schemeClr val="accent1">
                    <a:lumMod val="75000"/>
                  </a:schemeClr>
                </a:solidFill>
                <a:effectLst>
                  <a:outerShdw blurRad="38100" dist="38100" dir="2700000" algn="tl">
                    <a:srgbClr val="000000">
                      <a:alpha val="43137"/>
                    </a:srgbClr>
                  </a:outerShdw>
                </a:effectLst>
              </a:rPr>
              <a:t>CLUSTERING &amp; DIMENSIONALITY REDUCTION</a:t>
            </a:r>
            <a:endParaRPr lang="en-US" sz="2800" b="1" dirty="0">
              <a:solidFill>
                <a:schemeClr val="accent1">
                  <a:lumMod val="75000"/>
                </a:schemeClr>
              </a:solidFill>
              <a:effectLst>
                <a:outerShdw blurRad="38100" dist="38100" dir="2700000" algn="tl">
                  <a:srgbClr val="000000">
                    <a:alpha val="43137"/>
                  </a:srgbClr>
                </a:outerShdw>
              </a:effectLst>
            </a:endParaRPr>
          </a:p>
        </p:txBody>
      </p:sp>
      <p:pic>
        <p:nvPicPr>
          <p:cNvPr id="10" name="Picture 9">
            <a:extLst>
              <a:ext uri="{FF2B5EF4-FFF2-40B4-BE49-F238E27FC236}">
                <a16:creationId xmlns:a16="http://schemas.microsoft.com/office/drawing/2014/main" id="{3E5B3177-9B69-44F5-80BC-B72F4E7DBF7B}"/>
              </a:ext>
            </a:extLst>
          </p:cNvPr>
          <p:cNvPicPr>
            <a:picLocks noChangeAspect="1"/>
          </p:cNvPicPr>
          <p:nvPr/>
        </p:nvPicPr>
        <p:blipFill>
          <a:blip r:embed="rId4"/>
          <a:stretch>
            <a:fillRect/>
          </a:stretch>
        </p:blipFill>
        <p:spPr>
          <a:xfrm>
            <a:off x="6199956" y="2809766"/>
            <a:ext cx="5858693" cy="3067478"/>
          </a:xfrm>
          <a:prstGeom prst="rect">
            <a:avLst/>
          </a:prstGeom>
        </p:spPr>
      </p:pic>
      <p:sp>
        <p:nvSpPr>
          <p:cNvPr id="15" name="TextBox 14">
            <a:extLst>
              <a:ext uri="{FF2B5EF4-FFF2-40B4-BE49-F238E27FC236}">
                <a16:creationId xmlns:a16="http://schemas.microsoft.com/office/drawing/2014/main" id="{67D69B18-963B-4FA3-955C-E3197DE49C8D}"/>
              </a:ext>
            </a:extLst>
          </p:cNvPr>
          <p:cNvSpPr txBox="1"/>
          <p:nvPr/>
        </p:nvSpPr>
        <p:spPr>
          <a:xfrm>
            <a:off x="0" y="2230360"/>
            <a:ext cx="5505449" cy="3970318"/>
          </a:xfrm>
          <a:prstGeom prst="rect">
            <a:avLst/>
          </a:prstGeom>
          <a:noFill/>
        </p:spPr>
        <p:txBody>
          <a:bodyPr wrap="square" rtlCol="0">
            <a:spAutoFit/>
          </a:bodyPr>
          <a:lstStyle/>
          <a:p>
            <a:r>
              <a:rPr lang="en-US" b="1" dirty="0">
                <a:solidFill>
                  <a:srgbClr val="00B050"/>
                </a:solidFill>
              </a:rPr>
              <a:t>Explained variance</a:t>
            </a:r>
            <a:r>
              <a:rPr lang="en-US" dirty="0">
                <a:solidFill>
                  <a:srgbClr val="00B050"/>
                </a:solidFill>
              </a:rPr>
              <a:t> </a:t>
            </a:r>
            <a:r>
              <a:rPr lang="en-US" dirty="0"/>
              <a:t>tells you how much of the original dataset's total variance each component accounts for. It's computed from the eigenvalues of the covariance matrix: the eigenvalue for a component, divided by the sum of all eigenvalues, gives that component's share. In the scree plot above, PC1 alone captures 50% of the variance, PC2 another 30%, and the remaining components trail off — a classic "elbow" shape. The cumulative line (in orange) shows that the first two or three components already explain the large majority of the variance, which is the basis for dimensionality reduction: keep enough components to retain, say, 90–95% of cumulative variance, and discard the rest with minimal information loss.</a:t>
            </a:r>
            <a:endParaRPr lang="en-IN" dirty="0"/>
          </a:p>
        </p:txBody>
      </p:sp>
      <p:sp>
        <p:nvSpPr>
          <p:cNvPr id="16" name="TextBox 15">
            <a:extLst>
              <a:ext uri="{FF2B5EF4-FFF2-40B4-BE49-F238E27FC236}">
                <a16:creationId xmlns:a16="http://schemas.microsoft.com/office/drawing/2014/main" id="{0CB4A414-398B-4B5D-AAA9-FAF2A245B3C0}"/>
              </a:ext>
            </a:extLst>
          </p:cNvPr>
          <p:cNvSpPr txBox="1"/>
          <p:nvPr/>
        </p:nvSpPr>
        <p:spPr>
          <a:xfrm>
            <a:off x="0" y="1027829"/>
            <a:ext cx="11502701" cy="923330"/>
          </a:xfrm>
          <a:prstGeom prst="rect">
            <a:avLst/>
          </a:prstGeom>
          <a:noFill/>
        </p:spPr>
        <p:txBody>
          <a:bodyPr wrap="none" rtlCol="0">
            <a:spAutoFit/>
          </a:bodyPr>
          <a:lstStyle/>
          <a:p>
            <a:r>
              <a:rPr lang="en-US" b="1" dirty="0">
                <a:effectLst>
                  <a:outerShdw blurRad="38100" dist="38100" dir="2700000" algn="tl">
                    <a:srgbClr val="000000">
                      <a:alpha val="43137"/>
                    </a:srgbClr>
                  </a:outerShdw>
                </a:effectLst>
              </a:rPr>
              <a:t>Explained Variance</a:t>
            </a:r>
          </a:p>
          <a:p>
            <a:r>
              <a:rPr lang="en-US" b="1" dirty="0"/>
              <a:t>Explained Variance</a:t>
            </a:r>
            <a:r>
              <a:rPr lang="en-US" dirty="0"/>
              <a:t> tells us how much information (variance) each principal component retains from the original dataset.</a:t>
            </a:r>
          </a:p>
          <a:p>
            <a:endParaRPr lang="en-IN" dirty="0"/>
          </a:p>
        </p:txBody>
      </p:sp>
    </p:spTree>
    <p:extLst>
      <p:ext uri="{BB962C8B-B14F-4D97-AF65-F5344CB8AC3E}">
        <p14:creationId xmlns:p14="http://schemas.microsoft.com/office/powerpoint/2010/main" val="342393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3EE2F61E-16FF-4250-8B16-1F5E2E1DC4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00" y="888467"/>
            <a:ext cx="10287000" cy="5623399"/>
          </a:xfrm>
          <a:prstGeom prst="rect">
            <a:avLst/>
          </a:prstGeom>
        </p:spPr>
      </p:pic>
      <p:pic>
        <p:nvPicPr>
          <p:cNvPr id="2" name="Picture 1">
            <a:extLst>
              <a:ext uri="{FF2B5EF4-FFF2-40B4-BE49-F238E27FC236}">
                <a16:creationId xmlns:a16="http://schemas.microsoft.com/office/drawing/2014/main" id="{9863D022-57A7-450F-A3DB-C8616DFFED06}"/>
              </a:ext>
            </a:extLst>
          </p:cNvPr>
          <p:cNvPicPr>
            <a:picLocks noChangeAspect="1"/>
          </p:cNvPicPr>
          <p:nvPr/>
        </p:nvPicPr>
        <p:blipFill rotWithShape="1">
          <a:blip r:embed="rId3"/>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0A7BC32C-6E61-4EE6-8192-488BD01656DD}"/>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4A023BF8-B27B-4A7F-9E55-4E819571E21A}"/>
              </a:ext>
            </a:extLst>
          </p:cNvPr>
          <p:cNvPicPr>
            <a:picLocks noChangeAspect="1"/>
          </p:cNvPicPr>
          <p:nvPr/>
        </p:nvPicPr>
        <p:blipFill>
          <a:blip r:embed="rId4"/>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5735BEC0-EE07-4DA0-AE57-C7A156EF1F40}"/>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622FAC16-512B-414F-8A6B-C55348E9EF22}"/>
              </a:ext>
            </a:extLst>
          </p:cNvPr>
          <p:cNvSpPr/>
          <p:nvPr/>
        </p:nvSpPr>
        <p:spPr>
          <a:xfrm>
            <a:off x="426720" y="10131"/>
            <a:ext cx="11338560" cy="914400"/>
          </a:xfrm>
          <a:prstGeom prst="rect">
            <a:avLst/>
          </a:prstGeom>
          <a:noFill/>
          <a:ln/>
        </p:spPr>
        <p:txBody>
          <a:bodyPr wrap="square" rtlCol="0" anchor="ctr"/>
          <a:lstStyle/>
          <a:p>
            <a:endParaRPr lang="en-US" sz="2800" dirty="0">
              <a:solidFill>
                <a:srgbClr val="002060"/>
              </a:solidFill>
            </a:endParaRPr>
          </a:p>
        </p:txBody>
      </p:sp>
      <p:sp>
        <p:nvSpPr>
          <p:cNvPr id="8" name="TextBox 7">
            <a:extLst>
              <a:ext uri="{FF2B5EF4-FFF2-40B4-BE49-F238E27FC236}">
                <a16:creationId xmlns:a16="http://schemas.microsoft.com/office/drawing/2014/main" id="{4029F001-32B5-499B-A8EC-657757FF312A}"/>
              </a:ext>
            </a:extLst>
          </p:cNvPr>
          <p:cNvSpPr txBox="1"/>
          <p:nvPr/>
        </p:nvSpPr>
        <p:spPr>
          <a:xfrm>
            <a:off x="0" y="196915"/>
            <a:ext cx="9248775" cy="523220"/>
          </a:xfrm>
          <a:prstGeom prst="rect">
            <a:avLst/>
          </a:prstGeom>
          <a:noFill/>
        </p:spPr>
        <p:txBody>
          <a:bodyPr wrap="square" rtlCol="0">
            <a:spAutoFit/>
          </a:bodyPr>
          <a:lstStyle/>
          <a:p>
            <a:r>
              <a:rPr lang="en-IN" sz="2800" b="1" dirty="0">
                <a:solidFill>
                  <a:schemeClr val="accent1">
                    <a:lumMod val="75000"/>
                  </a:schemeClr>
                </a:solidFill>
                <a:effectLst>
                  <a:outerShdw blurRad="38100" dist="38100" dir="2700000" algn="tl">
                    <a:srgbClr val="000000">
                      <a:alpha val="43137"/>
                    </a:srgbClr>
                  </a:outerShdw>
                </a:effectLst>
              </a:rPr>
              <a:t>CLUSTERING &amp; DIMENSIONALITY REDUCTION</a:t>
            </a:r>
            <a:endParaRPr lang="en-US" sz="2800" b="1" dirty="0">
              <a:solidFill>
                <a:schemeClr val="accent1">
                  <a:lumMod val="75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6400235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A2EDFFF-C07C-44B0-B6ED-18513E9F3D75}"/>
              </a:ext>
            </a:extLst>
          </p:cNvPr>
          <p:cNvPicPr>
            <a:picLocks noChangeAspect="1"/>
          </p:cNvPicPr>
          <p:nvPr/>
        </p:nvPicPr>
        <p:blipFill>
          <a:blip r:embed="rId2"/>
          <a:stretch>
            <a:fillRect/>
          </a:stretch>
        </p:blipFill>
        <p:spPr>
          <a:xfrm>
            <a:off x="3667124" y="994359"/>
            <a:ext cx="7711173" cy="5554747"/>
          </a:xfrm>
          <a:prstGeom prst="rect">
            <a:avLst/>
          </a:prstGeom>
        </p:spPr>
      </p:pic>
      <p:pic>
        <p:nvPicPr>
          <p:cNvPr id="2" name="Picture 1">
            <a:extLst>
              <a:ext uri="{FF2B5EF4-FFF2-40B4-BE49-F238E27FC236}">
                <a16:creationId xmlns:a16="http://schemas.microsoft.com/office/drawing/2014/main" id="{9863D022-57A7-450F-A3DB-C8616DFFED06}"/>
              </a:ext>
            </a:extLst>
          </p:cNvPr>
          <p:cNvPicPr>
            <a:picLocks noChangeAspect="1"/>
          </p:cNvPicPr>
          <p:nvPr/>
        </p:nvPicPr>
        <p:blipFill rotWithShape="1">
          <a:blip r:embed="rId3"/>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0A7BC32C-6E61-4EE6-8192-488BD01656DD}"/>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4A023BF8-B27B-4A7F-9E55-4E819571E21A}"/>
              </a:ext>
            </a:extLst>
          </p:cNvPr>
          <p:cNvPicPr>
            <a:picLocks noChangeAspect="1"/>
          </p:cNvPicPr>
          <p:nvPr/>
        </p:nvPicPr>
        <p:blipFill>
          <a:blip r:embed="rId4"/>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5735BEC0-EE07-4DA0-AE57-C7A156EF1F40}"/>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622FAC16-512B-414F-8A6B-C55348E9EF22}"/>
              </a:ext>
            </a:extLst>
          </p:cNvPr>
          <p:cNvSpPr/>
          <p:nvPr/>
        </p:nvSpPr>
        <p:spPr>
          <a:xfrm>
            <a:off x="426720" y="10131"/>
            <a:ext cx="11338560" cy="914400"/>
          </a:xfrm>
          <a:prstGeom prst="rect">
            <a:avLst/>
          </a:prstGeom>
          <a:noFill/>
          <a:ln/>
        </p:spPr>
        <p:txBody>
          <a:bodyPr wrap="square" rtlCol="0" anchor="ctr"/>
          <a:lstStyle/>
          <a:p>
            <a:endParaRPr lang="en-US" sz="2800" dirty="0">
              <a:solidFill>
                <a:srgbClr val="002060"/>
              </a:solidFill>
            </a:endParaRPr>
          </a:p>
        </p:txBody>
      </p:sp>
      <p:sp>
        <p:nvSpPr>
          <p:cNvPr id="7" name="TextBox 6">
            <a:extLst>
              <a:ext uri="{FF2B5EF4-FFF2-40B4-BE49-F238E27FC236}">
                <a16:creationId xmlns:a16="http://schemas.microsoft.com/office/drawing/2014/main" id="{139CB707-F580-46EB-AEF5-23A18ED1617D}"/>
              </a:ext>
            </a:extLst>
          </p:cNvPr>
          <p:cNvSpPr txBox="1"/>
          <p:nvPr/>
        </p:nvSpPr>
        <p:spPr>
          <a:xfrm>
            <a:off x="76200" y="234154"/>
            <a:ext cx="9801225" cy="523220"/>
          </a:xfrm>
          <a:prstGeom prst="rect">
            <a:avLst/>
          </a:prstGeom>
          <a:noFill/>
        </p:spPr>
        <p:txBody>
          <a:bodyPr wrap="square" rtlCol="0">
            <a:spAutoFit/>
          </a:bodyPr>
          <a:lstStyle/>
          <a:p>
            <a:r>
              <a:rPr lang="en-IN" sz="2800" b="1" dirty="0">
                <a:solidFill>
                  <a:schemeClr val="accent1">
                    <a:lumMod val="75000"/>
                  </a:schemeClr>
                </a:solidFill>
                <a:effectLst>
                  <a:outerShdw blurRad="38100" dist="38100" dir="2700000" algn="tl">
                    <a:srgbClr val="000000">
                      <a:alpha val="43137"/>
                    </a:srgbClr>
                  </a:outerShdw>
                </a:effectLst>
              </a:rPr>
              <a:t>MODEL EVALUATION &amp; HYPERPARAMETER TUNING</a:t>
            </a:r>
          </a:p>
        </p:txBody>
      </p:sp>
      <p:sp>
        <p:nvSpPr>
          <p:cNvPr id="11" name="TextBox 10">
            <a:extLst>
              <a:ext uri="{FF2B5EF4-FFF2-40B4-BE49-F238E27FC236}">
                <a16:creationId xmlns:a16="http://schemas.microsoft.com/office/drawing/2014/main" id="{BDB9B843-35F2-4728-B1B0-8D60A41F6826}"/>
              </a:ext>
            </a:extLst>
          </p:cNvPr>
          <p:cNvSpPr txBox="1"/>
          <p:nvPr/>
        </p:nvSpPr>
        <p:spPr>
          <a:xfrm>
            <a:off x="0" y="1055625"/>
            <a:ext cx="3857625" cy="461665"/>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rPr>
              <a:t>Classification metrics:</a:t>
            </a:r>
            <a:endParaRPr lang="en-IN" sz="2400" b="1" dirty="0">
              <a:effectLst>
                <a:outerShdw blurRad="38100" dist="38100" dir="2700000" algn="tl">
                  <a:srgbClr val="000000">
                    <a:alpha val="43137"/>
                  </a:srgbClr>
                </a:outerShdw>
              </a:effectLst>
            </a:endParaRPr>
          </a:p>
        </p:txBody>
      </p:sp>
      <p:sp>
        <p:nvSpPr>
          <p:cNvPr id="12" name="TextBox 11">
            <a:extLst>
              <a:ext uri="{FF2B5EF4-FFF2-40B4-BE49-F238E27FC236}">
                <a16:creationId xmlns:a16="http://schemas.microsoft.com/office/drawing/2014/main" id="{5F0B05EA-724A-4768-B60F-34F730B8D372}"/>
              </a:ext>
            </a:extLst>
          </p:cNvPr>
          <p:cNvSpPr txBox="1"/>
          <p:nvPr/>
        </p:nvSpPr>
        <p:spPr>
          <a:xfrm>
            <a:off x="-1" y="1517290"/>
            <a:ext cx="3971925" cy="4893647"/>
          </a:xfrm>
          <a:prstGeom prst="rect">
            <a:avLst/>
          </a:prstGeom>
          <a:solidFill>
            <a:schemeClr val="bg1"/>
          </a:solidFill>
        </p:spPr>
        <p:txBody>
          <a:bodyPr wrap="square" rtlCol="0">
            <a:spAutoFit/>
          </a:bodyPr>
          <a:lstStyle/>
          <a:p>
            <a:r>
              <a:rPr lang="en-US" b="1" dirty="0">
                <a:solidFill>
                  <a:schemeClr val="accent6">
                    <a:lumMod val="75000"/>
                  </a:schemeClr>
                </a:solidFill>
              </a:rPr>
              <a:t>What are Evaluation Metrics?</a:t>
            </a:r>
          </a:p>
          <a:p>
            <a:r>
              <a:rPr lang="en-US" dirty="0"/>
              <a:t>Evaluation metrics measure how well a machine learning model performs on unseen data.</a:t>
            </a:r>
          </a:p>
          <a:p>
            <a:r>
              <a:rPr lang="en-US" b="1" dirty="0">
                <a:solidFill>
                  <a:schemeClr val="accent6">
                    <a:lumMod val="75000"/>
                  </a:schemeClr>
                </a:solidFill>
              </a:rPr>
              <a:t>Why are they Important?</a:t>
            </a:r>
          </a:p>
          <a:p>
            <a:r>
              <a:rPr lang="en-US" dirty="0"/>
              <a:t>Measure prediction accuracy. </a:t>
            </a:r>
          </a:p>
          <a:p>
            <a:r>
              <a:rPr lang="en-US" dirty="0"/>
              <a:t>Compare different models. </a:t>
            </a:r>
          </a:p>
          <a:p>
            <a:r>
              <a:rPr lang="en-US" dirty="0"/>
              <a:t>Identify model strengths and weaknesses. </a:t>
            </a:r>
          </a:p>
          <a:p>
            <a:r>
              <a:rPr lang="en-US" dirty="0"/>
              <a:t>Help improve decision making. </a:t>
            </a:r>
          </a:p>
          <a:p>
            <a:r>
              <a:rPr lang="en-US" b="1" dirty="0">
                <a:solidFill>
                  <a:schemeClr val="accent6">
                    <a:lumMod val="75000"/>
                  </a:schemeClr>
                </a:solidFill>
              </a:rPr>
              <a:t>Common Metrics</a:t>
            </a:r>
          </a:p>
          <a:p>
            <a:pPr marL="342900" indent="-342900">
              <a:buFont typeface="Wingdings" panose="05000000000000000000" pitchFamily="2" charset="2"/>
              <a:buChar char="Ø"/>
            </a:pPr>
            <a:r>
              <a:rPr lang="en-US" dirty="0"/>
              <a:t>Precision </a:t>
            </a:r>
          </a:p>
          <a:p>
            <a:pPr marL="342900" indent="-342900">
              <a:buFont typeface="Wingdings" panose="05000000000000000000" pitchFamily="2" charset="2"/>
              <a:buChar char="Ø"/>
            </a:pPr>
            <a:r>
              <a:rPr lang="en-US" dirty="0"/>
              <a:t>Recall </a:t>
            </a:r>
          </a:p>
          <a:p>
            <a:pPr marL="342900" indent="-342900">
              <a:buFont typeface="Wingdings" panose="05000000000000000000" pitchFamily="2" charset="2"/>
              <a:buChar char="Ø"/>
            </a:pPr>
            <a:r>
              <a:rPr lang="en-US" dirty="0"/>
              <a:t>F1-Score </a:t>
            </a:r>
          </a:p>
          <a:p>
            <a:pPr marL="342900" indent="-342900">
              <a:buFont typeface="Wingdings" panose="05000000000000000000" pitchFamily="2" charset="2"/>
              <a:buChar char="Ø"/>
            </a:pPr>
            <a:r>
              <a:rPr lang="en-US" dirty="0"/>
              <a:t>ROC Curve </a:t>
            </a:r>
          </a:p>
          <a:p>
            <a:pPr marL="342900" indent="-342900">
              <a:buFont typeface="Wingdings" panose="05000000000000000000" pitchFamily="2" charset="2"/>
              <a:buChar char="Ø"/>
            </a:pPr>
            <a:r>
              <a:rPr lang="en-US" dirty="0"/>
              <a:t>AUC Score</a:t>
            </a:r>
          </a:p>
          <a:p>
            <a:pPr marL="285750" indent="-285750">
              <a:buFont typeface="Wingdings" panose="05000000000000000000" pitchFamily="2" charset="2"/>
              <a:buChar char="v"/>
            </a:pPr>
            <a:endParaRPr lang="en-IN" sz="2400" b="1" dirty="0">
              <a:solidFill>
                <a:schemeClr val="accent6">
                  <a:lumMod val="50000"/>
                </a:schemeClr>
              </a:solidFill>
            </a:endParaRPr>
          </a:p>
        </p:txBody>
      </p:sp>
    </p:spTree>
    <p:extLst>
      <p:ext uri="{BB962C8B-B14F-4D97-AF65-F5344CB8AC3E}">
        <p14:creationId xmlns:p14="http://schemas.microsoft.com/office/powerpoint/2010/main" val="7307101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A0CDF4A1-E866-4EA0-A5DF-83DE23E7CD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2800" y="1872972"/>
            <a:ext cx="8677275" cy="4419856"/>
          </a:xfrm>
          <a:prstGeom prst="rect">
            <a:avLst/>
          </a:prstGeom>
        </p:spPr>
      </p:pic>
      <p:pic>
        <p:nvPicPr>
          <p:cNvPr id="2" name="Picture 1">
            <a:extLst>
              <a:ext uri="{FF2B5EF4-FFF2-40B4-BE49-F238E27FC236}">
                <a16:creationId xmlns:a16="http://schemas.microsoft.com/office/drawing/2014/main" id="{9863D022-57A7-450F-A3DB-C8616DFFED06}"/>
              </a:ext>
            </a:extLst>
          </p:cNvPr>
          <p:cNvPicPr>
            <a:picLocks noChangeAspect="1"/>
          </p:cNvPicPr>
          <p:nvPr/>
        </p:nvPicPr>
        <p:blipFill rotWithShape="1">
          <a:blip r:embed="rId3"/>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0A7BC32C-6E61-4EE6-8192-488BD01656DD}"/>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4A023BF8-B27B-4A7F-9E55-4E819571E21A}"/>
              </a:ext>
            </a:extLst>
          </p:cNvPr>
          <p:cNvPicPr>
            <a:picLocks noChangeAspect="1"/>
          </p:cNvPicPr>
          <p:nvPr/>
        </p:nvPicPr>
        <p:blipFill>
          <a:blip r:embed="rId4"/>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5735BEC0-EE07-4DA0-AE57-C7A156EF1F40}"/>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622FAC16-512B-414F-8A6B-C55348E9EF22}"/>
              </a:ext>
            </a:extLst>
          </p:cNvPr>
          <p:cNvSpPr/>
          <p:nvPr/>
        </p:nvSpPr>
        <p:spPr>
          <a:xfrm>
            <a:off x="426720" y="10131"/>
            <a:ext cx="11338560" cy="914400"/>
          </a:xfrm>
          <a:prstGeom prst="rect">
            <a:avLst/>
          </a:prstGeom>
          <a:noFill/>
          <a:ln/>
        </p:spPr>
        <p:txBody>
          <a:bodyPr wrap="square" rtlCol="0" anchor="ctr"/>
          <a:lstStyle/>
          <a:p>
            <a:r>
              <a:rPr lang="en-IN" sz="2800" b="1">
                <a:solidFill>
                  <a:schemeClr val="accent1">
                    <a:lumMod val="75000"/>
                  </a:schemeClr>
                </a:solidFill>
                <a:effectLst>
                  <a:outerShdw blurRad="38100" dist="38100" dir="2700000" algn="tl">
                    <a:srgbClr val="000000">
                      <a:alpha val="43137"/>
                    </a:srgbClr>
                  </a:outerShdw>
                </a:effectLst>
              </a:rPr>
              <a:t>MODEL EVALUATION &amp; HYPERPARAMETER TUNING</a:t>
            </a:r>
            <a:endParaRPr lang="en-IN" sz="2800" b="1" dirty="0">
              <a:solidFill>
                <a:schemeClr val="accent1">
                  <a:lumMod val="75000"/>
                </a:schemeClr>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4D0506A3-4E91-4269-9AA2-3DD903E13FC9}"/>
              </a:ext>
            </a:extLst>
          </p:cNvPr>
          <p:cNvSpPr txBox="1"/>
          <p:nvPr/>
        </p:nvSpPr>
        <p:spPr>
          <a:xfrm>
            <a:off x="-1" y="958296"/>
            <a:ext cx="12277725" cy="923330"/>
          </a:xfrm>
          <a:prstGeom prst="rect">
            <a:avLst/>
          </a:prstGeom>
          <a:noFill/>
        </p:spPr>
        <p:txBody>
          <a:bodyPr wrap="square" rtlCol="0">
            <a:spAutoFit/>
          </a:bodyPr>
          <a:lstStyle/>
          <a:p>
            <a:r>
              <a:rPr lang="en-US" b="1" dirty="0">
                <a:solidFill>
                  <a:schemeClr val="accent5">
                    <a:lumMod val="75000"/>
                  </a:schemeClr>
                </a:solidFill>
                <a:effectLst>
                  <a:outerShdw blurRad="38100" dist="38100" dir="2700000" algn="tl">
                    <a:srgbClr val="000000">
                      <a:alpha val="43137"/>
                    </a:srgbClr>
                  </a:outerShdw>
                </a:effectLst>
              </a:rPr>
              <a:t>Cross-Validation Strategies</a:t>
            </a:r>
          </a:p>
          <a:p>
            <a:r>
              <a:rPr lang="en-US" b="1" dirty="0"/>
              <a:t>Cross-validation</a:t>
            </a:r>
            <a:r>
              <a:rPr lang="en-US" dirty="0"/>
              <a:t> is a model evaluation technique used to assess how well a machine learning model will perform on unseen data. It helps estimate the model's generalization ability and reduces the risk of overfitting.</a:t>
            </a:r>
          </a:p>
        </p:txBody>
      </p:sp>
      <p:sp>
        <p:nvSpPr>
          <p:cNvPr id="16" name="Rectangle 1">
            <a:extLst>
              <a:ext uri="{FF2B5EF4-FFF2-40B4-BE49-F238E27FC236}">
                <a16:creationId xmlns:a16="http://schemas.microsoft.com/office/drawing/2014/main" id="{F3E01179-2538-4D20-8433-338F9CCBE188}"/>
              </a:ext>
            </a:extLst>
          </p:cNvPr>
          <p:cNvSpPr>
            <a:spLocks noChangeArrowheads="1"/>
          </p:cNvSpPr>
          <p:nvPr/>
        </p:nvSpPr>
        <p:spPr bwMode="auto">
          <a:xfrm>
            <a:off x="-1" y="2508636"/>
            <a:ext cx="3248025" cy="2539157"/>
          </a:xfrm>
          <a:prstGeom prst="rect">
            <a:avLst/>
          </a:prstGeom>
          <a:solidFill>
            <a:schemeClr val="bg2">
              <a:lumMod val="90000"/>
            </a:schemeClr>
          </a:solidFill>
          <a:ln>
            <a:noFill/>
          </a:ln>
          <a:effec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accent6">
                    <a:lumMod val="75000"/>
                  </a:schemeClr>
                </a:solidFill>
                <a:effectLst>
                  <a:outerShdw blurRad="38100" dist="38100" dir="2700000" algn="tl">
                    <a:srgbClr val="000000">
                      <a:alpha val="43137"/>
                    </a:srgbClr>
                  </a:outerShdw>
                </a:effectLst>
                <a:latin typeface="Google Sans Text"/>
              </a:rPr>
              <a:t>K</a:t>
            </a:r>
            <a:r>
              <a:rPr kumimoji="0" lang="en-US" altLang="en-US" b="1" i="0" u="none" strike="noStrike" cap="none" normalizeH="0" baseline="0" dirty="0">
                <a:ln>
                  <a:noFill/>
                </a:ln>
                <a:solidFill>
                  <a:schemeClr val="accent6">
                    <a:lumMod val="75000"/>
                  </a:schemeClr>
                </a:solidFill>
                <a:effectLst>
                  <a:outerShdw blurRad="38100" dist="38100" dir="2700000" algn="tl">
                    <a:srgbClr val="000000">
                      <a:alpha val="43137"/>
                    </a:srgbClr>
                  </a:outerShdw>
                </a:effectLst>
                <a:latin typeface="Google Sans"/>
              </a:rPr>
              <a:t>-Fold Cross-Validation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Google Sans Text"/>
              </a:rPr>
              <a:t>The standard go-to strategy. The dataset is randomly split into K equal-sized folds. The model is trained K times, each time using K-1 folds for training and the remaining fold for testing. The final performance score is the average of the K runs.</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973583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63D022-57A7-450F-A3DB-C8616DFFED06}"/>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0A7BC32C-6E61-4EE6-8192-488BD01656DD}"/>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4A023BF8-B27B-4A7F-9E55-4E819571E21A}"/>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5735BEC0-EE07-4DA0-AE57-C7A156EF1F40}"/>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622FAC16-512B-414F-8A6B-C55348E9EF22}"/>
              </a:ext>
            </a:extLst>
          </p:cNvPr>
          <p:cNvSpPr/>
          <p:nvPr/>
        </p:nvSpPr>
        <p:spPr>
          <a:xfrm>
            <a:off x="426720" y="10131"/>
            <a:ext cx="11338560" cy="914400"/>
          </a:xfrm>
          <a:prstGeom prst="rect">
            <a:avLst/>
          </a:prstGeom>
          <a:noFill/>
          <a:ln/>
        </p:spPr>
        <p:txBody>
          <a:bodyPr wrap="square" rtlCol="0" anchor="ctr"/>
          <a:lstStyle/>
          <a:p>
            <a:r>
              <a:rPr lang="en-IN" sz="2800" b="1" dirty="0">
                <a:solidFill>
                  <a:schemeClr val="accent1">
                    <a:lumMod val="75000"/>
                  </a:schemeClr>
                </a:solidFill>
                <a:effectLst>
                  <a:outerShdw blurRad="38100" dist="38100" dir="2700000" algn="tl">
                    <a:srgbClr val="000000">
                      <a:alpha val="43137"/>
                    </a:srgbClr>
                  </a:outerShdw>
                </a:effectLst>
              </a:rPr>
              <a:t>MODEL EVALUATION &amp; HYPERPARAMETER TUNING</a:t>
            </a:r>
          </a:p>
          <a:p>
            <a:endParaRPr lang="en-US" sz="2800" dirty="0">
              <a:solidFill>
                <a:srgbClr val="002060"/>
              </a:solidFill>
            </a:endParaRPr>
          </a:p>
        </p:txBody>
      </p:sp>
      <p:sp>
        <p:nvSpPr>
          <p:cNvPr id="8" name="TextBox 7">
            <a:extLst>
              <a:ext uri="{FF2B5EF4-FFF2-40B4-BE49-F238E27FC236}">
                <a16:creationId xmlns:a16="http://schemas.microsoft.com/office/drawing/2014/main" id="{91C3CD51-A0BD-4907-9FFB-9040B4807433}"/>
              </a:ext>
            </a:extLst>
          </p:cNvPr>
          <p:cNvSpPr txBox="1"/>
          <p:nvPr/>
        </p:nvSpPr>
        <p:spPr>
          <a:xfrm>
            <a:off x="-76200" y="924531"/>
            <a:ext cx="12573000" cy="646331"/>
          </a:xfrm>
          <a:prstGeom prst="rect">
            <a:avLst/>
          </a:prstGeom>
          <a:noFill/>
        </p:spPr>
        <p:txBody>
          <a:bodyPr wrap="square" rtlCol="0">
            <a:spAutoFit/>
          </a:bodyPr>
          <a:lstStyle/>
          <a:p>
            <a:r>
              <a:rPr lang="en-US" dirty="0"/>
              <a:t>Both </a:t>
            </a:r>
            <a:r>
              <a:rPr lang="en-US" b="1" dirty="0">
                <a:solidFill>
                  <a:schemeClr val="accent6">
                    <a:lumMod val="75000"/>
                  </a:schemeClr>
                </a:solidFill>
              </a:rPr>
              <a:t>GridSearchCV</a:t>
            </a:r>
            <a:r>
              <a:rPr lang="en-US" dirty="0"/>
              <a:t> and </a:t>
            </a:r>
            <a:r>
              <a:rPr lang="en-US" b="1" dirty="0">
                <a:solidFill>
                  <a:schemeClr val="accent6">
                    <a:lumMod val="75000"/>
                  </a:schemeClr>
                </a:solidFill>
              </a:rPr>
              <a:t>RandomizedSearchCV</a:t>
            </a:r>
            <a:r>
              <a:rPr lang="en-US" dirty="0"/>
              <a:t> are hyperparameter tuning techniques used in machine learning to find the optimal combination of parameters for a given model.</a:t>
            </a:r>
            <a:endParaRPr lang="en-IN" dirty="0"/>
          </a:p>
        </p:txBody>
      </p:sp>
      <p:sp>
        <p:nvSpPr>
          <p:cNvPr id="9" name="TextBox 8">
            <a:extLst>
              <a:ext uri="{FF2B5EF4-FFF2-40B4-BE49-F238E27FC236}">
                <a16:creationId xmlns:a16="http://schemas.microsoft.com/office/drawing/2014/main" id="{77F3BF88-9A6B-4B89-A90C-A62120FB68C3}"/>
              </a:ext>
            </a:extLst>
          </p:cNvPr>
          <p:cNvSpPr txBox="1"/>
          <p:nvPr/>
        </p:nvSpPr>
        <p:spPr>
          <a:xfrm>
            <a:off x="200025" y="1924050"/>
            <a:ext cx="4905375" cy="369332"/>
          </a:xfrm>
          <a:prstGeom prst="rect">
            <a:avLst/>
          </a:prstGeom>
          <a:noFill/>
        </p:spPr>
        <p:txBody>
          <a:bodyPr wrap="square" rtlCol="0">
            <a:spAutoFit/>
          </a:bodyPr>
          <a:lstStyle/>
          <a:p>
            <a:endParaRPr lang="en-IN" dirty="0"/>
          </a:p>
        </p:txBody>
      </p:sp>
      <p:pic>
        <p:nvPicPr>
          <p:cNvPr id="10" name="Picture 9">
            <a:extLst>
              <a:ext uri="{FF2B5EF4-FFF2-40B4-BE49-F238E27FC236}">
                <a16:creationId xmlns:a16="http://schemas.microsoft.com/office/drawing/2014/main" id="{DB7D76A8-4251-4681-A01A-AF6EE3BDFF48}"/>
              </a:ext>
            </a:extLst>
          </p:cNvPr>
          <p:cNvPicPr>
            <a:picLocks noChangeAspect="1"/>
          </p:cNvPicPr>
          <p:nvPr/>
        </p:nvPicPr>
        <p:blipFill>
          <a:blip r:embed="rId4"/>
          <a:stretch>
            <a:fillRect/>
          </a:stretch>
        </p:blipFill>
        <p:spPr>
          <a:xfrm>
            <a:off x="0" y="1671850"/>
            <a:ext cx="5305425" cy="2181529"/>
          </a:xfrm>
          <a:prstGeom prst="rect">
            <a:avLst/>
          </a:prstGeom>
        </p:spPr>
      </p:pic>
      <p:pic>
        <p:nvPicPr>
          <p:cNvPr id="11" name="Picture 10">
            <a:extLst>
              <a:ext uri="{FF2B5EF4-FFF2-40B4-BE49-F238E27FC236}">
                <a16:creationId xmlns:a16="http://schemas.microsoft.com/office/drawing/2014/main" id="{7A236BCF-C988-44A1-A904-EB91775575B8}"/>
              </a:ext>
            </a:extLst>
          </p:cNvPr>
          <p:cNvPicPr>
            <a:picLocks noChangeAspect="1"/>
          </p:cNvPicPr>
          <p:nvPr/>
        </p:nvPicPr>
        <p:blipFill>
          <a:blip r:embed="rId5"/>
          <a:stretch>
            <a:fillRect/>
          </a:stretch>
        </p:blipFill>
        <p:spPr>
          <a:xfrm>
            <a:off x="0" y="4120079"/>
            <a:ext cx="5397297" cy="2095792"/>
          </a:xfrm>
          <a:prstGeom prst="rect">
            <a:avLst/>
          </a:prstGeom>
        </p:spPr>
      </p:pic>
      <p:pic>
        <p:nvPicPr>
          <p:cNvPr id="12" name="Picture 11">
            <a:extLst>
              <a:ext uri="{FF2B5EF4-FFF2-40B4-BE49-F238E27FC236}">
                <a16:creationId xmlns:a16="http://schemas.microsoft.com/office/drawing/2014/main" id="{CFF7EFC4-8980-41DB-A66A-A10E191F3DE8}"/>
              </a:ext>
            </a:extLst>
          </p:cNvPr>
          <p:cNvPicPr>
            <a:picLocks noChangeAspect="1"/>
          </p:cNvPicPr>
          <p:nvPr/>
        </p:nvPicPr>
        <p:blipFill>
          <a:blip r:embed="rId6"/>
          <a:stretch>
            <a:fillRect/>
          </a:stretch>
        </p:blipFill>
        <p:spPr>
          <a:xfrm>
            <a:off x="5505450" y="1981732"/>
            <a:ext cx="6582694" cy="4410691"/>
          </a:xfrm>
          <a:prstGeom prst="rect">
            <a:avLst/>
          </a:prstGeom>
          <a:solidFill>
            <a:schemeClr val="accent1">
              <a:lumMod val="75000"/>
            </a:schemeClr>
          </a:solidFill>
        </p:spPr>
      </p:pic>
      <p:sp>
        <p:nvSpPr>
          <p:cNvPr id="13" name="TextBox 12">
            <a:extLst>
              <a:ext uri="{FF2B5EF4-FFF2-40B4-BE49-F238E27FC236}">
                <a16:creationId xmlns:a16="http://schemas.microsoft.com/office/drawing/2014/main" id="{1A06CC5D-B8E7-430A-84F2-00690F36735A}"/>
              </a:ext>
            </a:extLst>
          </p:cNvPr>
          <p:cNvSpPr txBox="1"/>
          <p:nvPr/>
        </p:nvSpPr>
        <p:spPr>
          <a:xfrm>
            <a:off x="5413578" y="1532950"/>
            <a:ext cx="4572000" cy="461665"/>
          </a:xfrm>
          <a:prstGeom prst="rect">
            <a:avLst/>
          </a:prstGeom>
          <a:noFill/>
        </p:spPr>
        <p:txBody>
          <a:bodyPr wrap="square" rtlCol="0">
            <a:spAutoFit/>
          </a:bodyPr>
          <a:lstStyle/>
          <a:p>
            <a:r>
              <a:rPr lang="en-US" sz="2400" b="1" dirty="0">
                <a:solidFill>
                  <a:schemeClr val="accent6">
                    <a:lumMod val="75000"/>
                  </a:schemeClr>
                </a:solidFill>
                <a:effectLst>
                  <a:outerShdw blurRad="38100" dist="38100" dir="2700000" algn="tl">
                    <a:srgbClr val="000000">
                      <a:alpha val="43137"/>
                    </a:srgbClr>
                  </a:outerShdw>
                </a:effectLst>
              </a:rPr>
              <a:t>KEY DIFFERENCES</a:t>
            </a:r>
            <a:endParaRPr lang="en-IN" sz="2400" b="1" dirty="0">
              <a:solidFill>
                <a:schemeClr val="accent6">
                  <a:lumMod val="75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5877205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63D022-57A7-450F-A3DB-C8616DFFED06}"/>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0A7BC32C-6E61-4EE6-8192-488BD01656DD}"/>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4A023BF8-B27B-4A7F-9E55-4E819571E21A}"/>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5735BEC0-EE07-4DA0-AE57-C7A156EF1F40}"/>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9" name="TextBox 8">
            <a:extLst>
              <a:ext uri="{FF2B5EF4-FFF2-40B4-BE49-F238E27FC236}">
                <a16:creationId xmlns:a16="http://schemas.microsoft.com/office/drawing/2014/main" id="{BD9C865F-7ACE-4C4B-A629-B9515749D1B1}"/>
              </a:ext>
            </a:extLst>
          </p:cNvPr>
          <p:cNvSpPr txBox="1"/>
          <p:nvPr/>
        </p:nvSpPr>
        <p:spPr>
          <a:xfrm>
            <a:off x="85725" y="185256"/>
            <a:ext cx="10877550" cy="523220"/>
          </a:xfrm>
          <a:prstGeom prst="rect">
            <a:avLst/>
          </a:prstGeom>
          <a:noFill/>
        </p:spPr>
        <p:txBody>
          <a:bodyPr wrap="square" rtlCol="0">
            <a:spAutoFit/>
          </a:bodyPr>
          <a:lstStyle/>
          <a:p>
            <a:r>
              <a:rPr lang="en-IN" sz="2800" b="1" dirty="0">
                <a:solidFill>
                  <a:schemeClr val="accent1">
                    <a:lumMod val="75000"/>
                  </a:schemeClr>
                </a:solidFill>
                <a:effectLst>
                  <a:outerShdw blurRad="38100" dist="38100" dir="2700000" algn="tl">
                    <a:srgbClr val="000000">
                      <a:alpha val="43137"/>
                    </a:srgbClr>
                  </a:outerShdw>
                </a:effectLst>
              </a:rPr>
              <a:t>MODEL EVALUATION &amp; HYPERPARAMETER TUNING</a:t>
            </a:r>
          </a:p>
        </p:txBody>
      </p:sp>
      <p:sp>
        <p:nvSpPr>
          <p:cNvPr id="10" name="TextBox 9">
            <a:extLst>
              <a:ext uri="{FF2B5EF4-FFF2-40B4-BE49-F238E27FC236}">
                <a16:creationId xmlns:a16="http://schemas.microsoft.com/office/drawing/2014/main" id="{B93D525C-8729-431E-8787-89E3661F1D06}"/>
              </a:ext>
            </a:extLst>
          </p:cNvPr>
          <p:cNvSpPr txBox="1"/>
          <p:nvPr/>
        </p:nvSpPr>
        <p:spPr>
          <a:xfrm>
            <a:off x="0" y="927828"/>
            <a:ext cx="12011025" cy="646331"/>
          </a:xfrm>
          <a:prstGeom prst="rect">
            <a:avLst/>
          </a:prstGeom>
          <a:noFill/>
        </p:spPr>
        <p:txBody>
          <a:bodyPr wrap="square" rtlCol="0">
            <a:spAutoFit/>
          </a:bodyPr>
          <a:lstStyle/>
          <a:p>
            <a:r>
              <a:rPr lang="en-US" dirty="0"/>
              <a:t>The </a:t>
            </a:r>
            <a:r>
              <a:rPr lang="en-US" b="1" dirty="0">
                <a:solidFill>
                  <a:srgbClr val="FF0000"/>
                </a:solidFill>
                <a:effectLst>
                  <a:outerShdw blurRad="38100" dist="38100" dir="2700000" algn="tl">
                    <a:srgbClr val="000000">
                      <a:alpha val="43137"/>
                    </a:srgbClr>
                  </a:outerShdw>
                </a:effectLst>
              </a:rPr>
              <a:t>bias–variance tradeoff</a:t>
            </a:r>
            <a:r>
              <a:rPr lang="en-US" dirty="0">
                <a:solidFill>
                  <a:srgbClr val="FF0000"/>
                </a:solidFill>
                <a:effectLst>
                  <a:outerShdw blurRad="38100" dist="38100" dir="2700000" algn="tl">
                    <a:srgbClr val="000000">
                      <a:alpha val="43137"/>
                    </a:srgbClr>
                  </a:outerShdw>
                </a:effectLst>
              </a:rPr>
              <a:t> </a:t>
            </a:r>
            <a:r>
              <a:rPr lang="en-US" dirty="0"/>
              <a:t>is a fundamental concept in machine learning that describes the balance between two sources of prediction error:</a:t>
            </a:r>
            <a:endParaRPr lang="en-IN" dirty="0"/>
          </a:p>
        </p:txBody>
      </p:sp>
      <p:sp>
        <p:nvSpPr>
          <p:cNvPr id="12" name="TextBox 11">
            <a:extLst>
              <a:ext uri="{FF2B5EF4-FFF2-40B4-BE49-F238E27FC236}">
                <a16:creationId xmlns:a16="http://schemas.microsoft.com/office/drawing/2014/main" id="{3F055185-D51E-4484-94B1-D5609EEDF41E}"/>
              </a:ext>
            </a:extLst>
          </p:cNvPr>
          <p:cNvSpPr txBox="1"/>
          <p:nvPr/>
        </p:nvSpPr>
        <p:spPr>
          <a:xfrm>
            <a:off x="85725" y="1712658"/>
            <a:ext cx="4943475" cy="2585323"/>
          </a:xfrm>
          <a:prstGeom prst="rect">
            <a:avLst/>
          </a:prstGeom>
          <a:solidFill>
            <a:schemeClr val="accent1">
              <a:lumMod val="20000"/>
              <a:lumOff val="80000"/>
            </a:schemeClr>
          </a:solidFill>
        </p:spPr>
        <p:txBody>
          <a:bodyPr wrap="square" rtlCol="0">
            <a:spAutoFit/>
          </a:bodyPr>
          <a:lstStyle/>
          <a:p>
            <a:r>
              <a:rPr lang="en-US" b="1" dirty="0">
                <a:solidFill>
                  <a:schemeClr val="accent6">
                    <a:lumMod val="75000"/>
                  </a:schemeClr>
                </a:solidFill>
                <a:effectLst>
                  <a:outerShdw blurRad="38100" dist="38100" dir="2700000" algn="tl">
                    <a:srgbClr val="000000">
                      <a:alpha val="43137"/>
                    </a:srgbClr>
                  </a:outerShdw>
                </a:effectLst>
              </a:rPr>
              <a:t>1. Bias</a:t>
            </a:r>
          </a:p>
          <a:p>
            <a:r>
              <a:rPr lang="en-US" dirty="0"/>
              <a:t>Bias is the error caused by overly simplistic assumptions in the model.</a:t>
            </a:r>
          </a:p>
          <a:p>
            <a:r>
              <a:rPr lang="en-US" b="1" dirty="0"/>
              <a:t>High bias</a:t>
            </a:r>
            <a:r>
              <a:rPr lang="en-US" dirty="0"/>
              <a:t> → model is too simple. </a:t>
            </a:r>
          </a:p>
          <a:p>
            <a:r>
              <a:rPr lang="en-US" dirty="0"/>
              <a:t>It fails to capture the true patterns in the data. </a:t>
            </a:r>
          </a:p>
          <a:p>
            <a:r>
              <a:rPr lang="en-US" dirty="0"/>
              <a:t>Leads to </a:t>
            </a:r>
            <a:r>
              <a:rPr lang="en-US" b="1" dirty="0"/>
              <a:t>underfitting</a:t>
            </a:r>
            <a:r>
              <a:rPr lang="en-US" dirty="0"/>
              <a:t>. </a:t>
            </a:r>
          </a:p>
          <a:p>
            <a:r>
              <a:rPr lang="en-US" b="1" dirty="0">
                <a:solidFill>
                  <a:srgbClr val="C00000"/>
                </a:solidFill>
                <a:effectLst>
                  <a:outerShdw blurRad="38100" dist="38100" dir="2700000" algn="tl">
                    <a:srgbClr val="000000">
                      <a:alpha val="43137"/>
                    </a:srgbClr>
                  </a:outerShdw>
                </a:effectLst>
              </a:rPr>
              <a:t>Example:</a:t>
            </a:r>
          </a:p>
          <a:p>
            <a:r>
              <a:rPr lang="en-US" dirty="0"/>
              <a:t>Using a straight line to model a highly curved relationship.</a:t>
            </a:r>
          </a:p>
        </p:txBody>
      </p:sp>
      <p:sp>
        <p:nvSpPr>
          <p:cNvPr id="13" name="TextBox 12">
            <a:extLst>
              <a:ext uri="{FF2B5EF4-FFF2-40B4-BE49-F238E27FC236}">
                <a16:creationId xmlns:a16="http://schemas.microsoft.com/office/drawing/2014/main" id="{3972A9A5-5CE9-4FE6-9347-400B9F53A2BD}"/>
              </a:ext>
            </a:extLst>
          </p:cNvPr>
          <p:cNvSpPr txBox="1"/>
          <p:nvPr/>
        </p:nvSpPr>
        <p:spPr>
          <a:xfrm>
            <a:off x="5638800" y="1574159"/>
            <a:ext cx="5019675" cy="2862322"/>
          </a:xfrm>
          <a:prstGeom prst="rect">
            <a:avLst/>
          </a:prstGeom>
          <a:solidFill>
            <a:schemeClr val="accent1">
              <a:lumMod val="20000"/>
              <a:lumOff val="80000"/>
            </a:schemeClr>
          </a:solidFill>
        </p:spPr>
        <p:txBody>
          <a:bodyPr wrap="square" rtlCol="0">
            <a:spAutoFit/>
          </a:bodyPr>
          <a:lstStyle/>
          <a:p>
            <a:r>
              <a:rPr lang="en-US" b="1" dirty="0">
                <a:solidFill>
                  <a:schemeClr val="accent6">
                    <a:lumMod val="75000"/>
                  </a:schemeClr>
                </a:solidFill>
                <a:effectLst>
                  <a:outerShdw blurRad="38100" dist="38100" dir="2700000" algn="tl">
                    <a:srgbClr val="000000">
                      <a:alpha val="43137"/>
                    </a:srgbClr>
                  </a:outerShdw>
                </a:effectLst>
              </a:rPr>
              <a:t>2. Variance</a:t>
            </a:r>
          </a:p>
          <a:p>
            <a:r>
              <a:rPr lang="en-US" dirty="0"/>
              <a:t>Variance is the error caused by the model being too sensitive to the training data.</a:t>
            </a:r>
          </a:p>
          <a:p>
            <a:r>
              <a:rPr lang="en-US" b="1" dirty="0"/>
              <a:t>High variance</a:t>
            </a:r>
            <a:r>
              <a:rPr lang="en-US" dirty="0"/>
              <a:t> → model is too complex. </a:t>
            </a:r>
          </a:p>
          <a:p>
            <a:r>
              <a:rPr lang="en-US" dirty="0"/>
              <a:t>It learns noise and random fluctuations in the training set. </a:t>
            </a:r>
          </a:p>
          <a:p>
            <a:r>
              <a:rPr lang="en-US" dirty="0"/>
              <a:t>Leads to </a:t>
            </a:r>
            <a:r>
              <a:rPr lang="en-US" b="1" dirty="0"/>
              <a:t>overfitting</a:t>
            </a:r>
            <a:r>
              <a:rPr lang="en-US" dirty="0"/>
              <a:t>. </a:t>
            </a:r>
          </a:p>
          <a:p>
            <a:r>
              <a:rPr lang="en-US" dirty="0">
                <a:solidFill>
                  <a:srgbClr val="C00000"/>
                </a:solidFill>
                <a:effectLst>
                  <a:outerShdw blurRad="38100" dist="38100" dir="2700000" algn="tl">
                    <a:srgbClr val="000000">
                      <a:alpha val="43137"/>
                    </a:srgbClr>
                  </a:outerShdw>
                </a:effectLst>
              </a:rPr>
              <a:t>Example:</a:t>
            </a:r>
          </a:p>
          <a:p>
            <a:r>
              <a:rPr lang="en-US" dirty="0"/>
              <a:t>A very deep decision tree that memorizes training examples.</a:t>
            </a:r>
          </a:p>
        </p:txBody>
      </p:sp>
      <p:sp>
        <p:nvSpPr>
          <p:cNvPr id="14" name="TextBox 13">
            <a:extLst>
              <a:ext uri="{FF2B5EF4-FFF2-40B4-BE49-F238E27FC236}">
                <a16:creationId xmlns:a16="http://schemas.microsoft.com/office/drawing/2014/main" id="{7AFFB11B-804B-4BA2-9364-E3AABFDDA89E}"/>
              </a:ext>
            </a:extLst>
          </p:cNvPr>
          <p:cNvSpPr txBox="1"/>
          <p:nvPr/>
        </p:nvSpPr>
        <p:spPr>
          <a:xfrm>
            <a:off x="52387" y="4493513"/>
            <a:ext cx="12087225" cy="2031325"/>
          </a:xfrm>
          <a:prstGeom prst="rect">
            <a:avLst/>
          </a:prstGeom>
          <a:solidFill>
            <a:schemeClr val="accent1">
              <a:lumMod val="20000"/>
              <a:lumOff val="80000"/>
            </a:schemeClr>
          </a:solidFill>
        </p:spPr>
        <p:txBody>
          <a:bodyPr wrap="square" rtlCol="0">
            <a:spAutoFit/>
          </a:bodyPr>
          <a:lstStyle/>
          <a:p>
            <a:r>
              <a:rPr lang="en-IN" b="1" dirty="0"/>
              <a:t>Error Decomposition</a:t>
            </a:r>
          </a:p>
          <a:p>
            <a:r>
              <a:rPr lang="en-IN" dirty="0"/>
              <a:t>For many learning problems:</a:t>
            </a:r>
          </a:p>
          <a:p>
            <a:endParaRPr lang="en-IN" dirty="0"/>
          </a:p>
          <a:p>
            <a:r>
              <a:rPr lang="en-US" b="1" dirty="0"/>
              <a:t>Where:</a:t>
            </a:r>
            <a:endParaRPr lang="en-IN" b="1" dirty="0"/>
          </a:p>
          <a:p>
            <a:r>
              <a:rPr lang="en-IN" b="1" dirty="0"/>
              <a:t>                   Bias²</a:t>
            </a:r>
            <a:r>
              <a:rPr lang="en-IN" dirty="0"/>
              <a:t>: error from wrong assumptions. </a:t>
            </a:r>
          </a:p>
          <a:p>
            <a:r>
              <a:rPr lang="en-IN" b="1" dirty="0"/>
              <a:t>                   Variance</a:t>
            </a:r>
            <a:r>
              <a:rPr lang="en-IN" dirty="0"/>
              <a:t>: error from sensitivity to data fluctuations. </a:t>
            </a:r>
          </a:p>
          <a:p>
            <a:r>
              <a:rPr lang="en-IN" b="1" dirty="0"/>
              <a:t>                   Irreducible error</a:t>
            </a:r>
            <a:r>
              <a:rPr lang="en-IN" dirty="0"/>
              <a:t>: noise inherent in the data.</a:t>
            </a:r>
          </a:p>
        </p:txBody>
      </p:sp>
      <p:pic>
        <p:nvPicPr>
          <p:cNvPr id="15" name="Picture 14">
            <a:extLst>
              <a:ext uri="{FF2B5EF4-FFF2-40B4-BE49-F238E27FC236}">
                <a16:creationId xmlns:a16="http://schemas.microsoft.com/office/drawing/2014/main" id="{8D125FC7-AB1B-4FB5-AB14-BF01F64E9133}"/>
              </a:ext>
            </a:extLst>
          </p:cNvPr>
          <p:cNvPicPr>
            <a:picLocks noChangeAspect="1"/>
          </p:cNvPicPr>
          <p:nvPr/>
        </p:nvPicPr>
        <p:blipFill>
          <a:blip r:embed="rId4"/>
          <a:stretch>
            <a:fillRect/>
          </a:stretch>
        </p:blipFill>
        <p:spPr>
          <a:xfrm>
            <a:off x="3238207" y="5232231"/>
            <a:ext cx="4191585" cy="323895"/>
          </a:xfrm>
          <a:prstGeom prst="rect">
            <a:avLst/>
          </a:prstGeom>
        </p:spPr>
      </p:pic>
    </p:spTree>
    <p:extLst>
      <p:ext uri="{BB962C8B-B14F-4D97-AF65-F5344CB8AC3E}">
        <p14:creationId xmlns:p14="http://schemas.microsoft.com/office/powerpoint/2010/main" val="4692596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63D022-57A7-450F-A3DB-C8616DFFED06}"/>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0A7BC32C-6E61-4EE6-8192-488BD01656DD}"/>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4A023BF8-B27B-4A7F-9E55-4E819571E21A}"/>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5735BEC0-EE07-4DA0-AE57-C7A156EF1F40}"/>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7" name="TextBox 6">
            <a:extLst>
              <a:ext uri="{FF2B5EF4-FFF2-40B4-BE49-F238E27FC236}">
                <a16:creationId xmlns:a16="http://schemas.microsoft.com/office/drawing/2014/main" id="{C4597CEB-A260-4874-BEB6-1D1A7A37575A}"/>
              </a:ext>
            </a:extLst>
          </p:cNvPr>
          <p:cNvSpPr txBox="1"/>
          <p:nvPr/>
        </p:nvSpPr>
        <p:spPr>
          <a:xfrm>
            <a:off x="0" y="120228"/>
            <a:ext cx="7791450" cy="523220"/>
          </a:xfrm>
          <a:prstGeom prst="rect">
            <a:avLst/>
          </a:prstGeom>
          <a:noFill/>
        </p:spPr>
        <p:txBody>
          <a:bodyPr wrap="square" rtlCol="0">
            <a:spAutoFit/>
          </a:bodyPr>
          <a:lstStyle/>
          <a:p>
            <a:r>
              <a:rPr lang="en-IN" sz="2800" b="1" dirty="0">
                <a:solidFill>
                  <a:schemeClr val="accent1">
                    <a:lumMod val="75000"/>
                  </a:schemeClr>
                </a:solidFill>
                <a:effectLst>
                  <a:outerShdw blurRad="38100" dist="38100" dir="2700000" algn="tl">
                    <a:srgbClr val="000000">
                      <a:alpha val="43137"/>
                    </a:srgbClr>
                  </a:outerShdw>
                </a:effectLst>
              </a:rPr>
              <a:t>FEATURE ENGINEERING &amp; PIPELINES</a:t>
            </a:r>
          </a:p>
        </p:txBody>
      </p:sp>
      <p:sp>
        <p:nvSpPr>
          <p:cNvPr id="8" name="TextBox 7">
            <a:extLst>
              <a:ext uri="{FF2B5EF4-FFF2-40B4-BE49-F238E27FC236}">
                <a16:creationId xmlns:a16="http://schemas.microsoft.com/office/drawing/2014/main" id="{BB4E6B8D-2678-4541-BC51-19728DA92CB8}"/>
              </a:ext>
            </a:extLst>
          </p:cNvPr>
          <p:cNvSpPr txBox="1"/>
          <p:nvPr/>
        </p:nvSpPr>
        <p:spPr>
          <a:xfrm>
            <a:off x="-1" y="933544"/>
            <a:ext cx="12192000" cy="1107996"/>
          </a:xfrm>
          <a:prstGeom prst="rect">
            <a:avLst/>
          </a:prstGeom>
          <a:noFill/>
        </p:spPr>
        <p:txBody>
          <a:bodyPr wrap="square" rtlCol="0">
            <a:spAutoFit/>
          </a:bodyPr>
          <a:lstStyle/>
          <a:p>
            <a:r>
              <a:rPr lang="en-IN" sz="2400" b="1" dirty="0">
                <a:effectLst>
                  <a:outerShdw blurRad="38100" dist="38100" dir="2700000" algn="tl">
                    <a:srgbClr val="000000">
                      <a:alpha val="43137"/>
                    </a:srgbClr>
                  </a:outerShdw>
                </a:effectLst>
              </a:rPr>
              <a:t>Feature Selection: </a:t>
            </a:r>
            <a:r>
              <a:rPr lang="en-US" dirty="0"/>
              <a:t>Feature selection is the process of choosing the most relevant input features (variables) for building a machine learning model. It improves model performance, reduces overfitting, and decreases training time.</a:t>
            </a:r>
          </a:p>
          <a:p>
            <a:endParaRPr lang="en-IN" sz="2400" b="1" dirty="0">
              <a:effectLst>
                <a:outerShdw blurRad="38100" dist="38100" dir="2700000" algn="tl">
                  <a:srgbClr val="000000">
                    <a:alpha val="43137"/>
                  </a:srgbClr>
                </a:outerShdw>
              </a:effectLst>
            </a:endParaRPr>
          </a:p>
        </p:txBody>
      </p:sp>
      <p:sp>
        <p:nvSpPr>
          <p:cNvPr id="9" name="TextBox 8">
            <a:extLst>
              <a:ext uri="{FF2B5EF4-FFF2-40B4-BE49-F238E27FC236}">
                <a16:creationId xmlns:a16="http://schemas.microsoft.com/office/drawing/2014/main" id="{C8BCFDC9-EFBD-428C-BD1B-330E3956E72D}"/>
              </a:ext>
            </a:extLst>
          </p:cNvPr>
          <p:cNvSpPr txBox="1"/>
          <p:nvPr/>
        </p:nvSpPr>
        <p:spPr>
          <a:xfrm>
            <a:off x="85725" y="1744770"/>
            <a:ext cx="3448050" cy="3570208"/>
          </a:xfrm>
          <a:prstGeom prst="rect">
            <a:avLst/>
          </a:prstGeom>
          <a:solidFill>
            <a:schemeClr val="accent1">
              <a:lumMod val="20000"/>
              <a:lumOff val="80000"/>
            </a:schemeClr>
          </a:solidFill>
        </p:spPr>
        <p:txBody>
          <a:bodyPr wrap="square" rtlCol="0">
            <a:spAutoFit/>
          </a:bodyPr>
          <a:lstStyle/>
          <a:p>
            <a:r>
              <a:rPr lang="en-US" sz="2400" b="1" dirty="0">
                <a:solidFill>
                  <a:srgbClr val="C00000"/>
                </a:solidFill>
                <a:effectLst>
                  <a:outerShdw blurRad="38100" dist="38100" dir="2700000" algn="tl">
                    <a:srgbClr val="000000">
                      <a:alpha val="43137"/>
                    </a:srgbClr>
                  </a:outerShdw>
                </a:effectLst>
              </a:rPr>
              <a:t>SelectKBest</a:t>
            </a:r>
          </a:p>
          <a:p>
            <a:r>
              <a:rPr lang="en-US" b="1" dirty="0">
                <a:solidFill>
                  <a:schemeClr val="accent6">
                    <a:lumMod val="75000"/>
                  </a:schemeClr>
                </a:solidFill>
              </a:rPr>
              <a:t>Definition</a:t>
            </a:r>
            <a:r>
              <a:rPr lang="en-US" b="1" dirty="0"/>
              <a:t>:</a:t>
            </a:r>
            <a:br>
              <a:rPr lang="en-US" dirty="0"/>
            </a:br>
            <a:r>
              <a:rPr lang="en-US" dirty="0"/>
              <a:t>SelectKBest selects the </a:t>
            </a:r>
            <a:r>
              <a:rPr lang="en-US" b="1" dirty="0"/>
              <a:t>top K features</a:t>
            </a:r>
            <a:r>
              <a:rPr lang="en-US" dirty="0"/>
              <a:t> based on a statistical test.</a:t>
            </a:r>
          </a:p>
          <a:p>
            <a:r>
              <a:rPr lang="en-US" b="1" dirty="0">
                <a:solidFill>
                  <a:schemeClr val="accent6">
                    <a:lumMod val="75000"/>
                  </a:schemeClr>
                </a:solidFill>
              </a:rPr>
              <a:t>How it Works</a:t>
            </a:r>
          </a:p>
          <a:p>
            <a:pPr marL="342900" indent="-342900">
              <a:buFont typeface="Wingdings" panose="05000000000000000000" pitchFamily="2" charset="2"/>
              <a:buChar char="Ø"/>
            </a:pPr>
            <a:r>
              <a:rPr lang="en-US" dirty="0"/>
              <a:t>Calculate a score for every feature. </a:t>
            </a:r>
          </a:p>
          <a:p>
            <a:pPr marL="342900" indent="-342900">
              <a:buFont typeface="Wingdings" panose="05000000000000000000" pitchFamily="2" charset="2"/>
              <a:buChar char="Ø"/>
            </a:pPr>
            <a:r>
              <a:rPr lang="en-US" dirty="0"/>
              <a:t>Rank the features. </a:t>
            </a:r>
          </a:p>
          <a:p>
            <a:pPr marL="342900" indent="-342900">
              <a:buFont typeface="Wingdings" panose="05000000000000000000" pitchFamily="2" charset="2"/>
              <a:buChar char="Ø"/>
            </a:pPr>
            <a:r>
              <a:rPr lang="en-US" dirty="0"/>
              <a:t>Select the top K highest-scoring features. </a:t>
            </a:r>
          </a:p>
          <a:p>
            <a:pPr marL="342900" indent="-342900">
              <a:buFont typeface="Wingdings" panose="05000000000000000000" pitchFamily="2" charset="2"/>
              <a:buChar char="Ø"/>
            </a:pPr>
            <a:r>
              <a:rPr lang="en-US" dirty="0"/>
              <a:t>Train the model using only these selected features.</a:t>
            </a:r>
          </a:p>
        </p:txBody>
      </p:sp>
      <p:sp>
        <p:nvSpPr>
          <p:cNvPr id="10" name="TextBox 9">
            <a:extLst>
              <a:ext uri="{FF2B5EF4-FFF2-40B4-BE49-F238E27FC236}">
                <a16:creationId xmlns:a16="http://schemas.microsoft.com/office/drawing/2014/main" id="{82FABD01-D2CC-4DED-9247-909B0DE92E51}"/>
              </a:ext>
            </a:extLst>
          </p:cNvPr>
          <p:cNvSpPr txBox="1"/>
          <p:nvPr/>
        </p:nvSpPr>
        <p:spPr>
          <a:xfrm>
            <a:off x="3771900" y="1775546"/>
            <a:ext cx="4429125" cy="3416320"/>
          </a:xfrm>
          <a:prstGeom prst="rect">
            <a:avLst/>
          </a:prstGeom>
          <a:solidFill>
            <a:schemeClr val="accent1">
              <a:lumMod val="20000"/>
              <a:lumOff val="80000"/>
            </a:schemeClr>
          </a:solidFill>
        </p:spPr>
        <p:txBody>
          <a:bodyPr wrap="square" rtlCol="0">
            <a:spAutoFit/>
          </a:bodyPr>
          <a:lstStyle/>
          <a:p>
            <a:r>
              <a:rPr lang="en-US" sz="2000" b="1" dirty="0">
                <a:solidFill>
                  <a:srgbClr val="C00000"/>
                </a:solidFill>
                <a:effectLst>
                  <a:outerShdw blurRad="38100" dist="38100" dir="2700000" algn="tl">
                    <a:srgbClr val="000000">
                      <a:alpha val="43137"/>
                    </a:srgbClr>
                  </a:outerShdw>
                </a:effectLst>
              </a:rPr>
              <a:t>Recursive Feature Elimination (RFE)</a:t>
            </a:r>
          </a:p>
          <a:p>
            <a:r>
              <a:rPr lang="en-US" b="1" dirty="0">
                <a:solidFill>
                  <a:schemeClr val="accent6">
                    <a:lumMod val="75000"/>
                  </a:schemeClr>
                </a:solidFill>
              </a:rPr>
              <a:t>Definition:</a:t>
            </a:r>
            <a:br>
              <a:rPr lang="en-US" dirty="0"/>
            </a:br>
            <a:r>
              <a:rPr lang="en-US" dirty="0"/>
              <a:t>RFE recursively removes the least important features until the desired number of features remains.</a:t>
            </a:r>
          </a:p>
          <a:p>
            <a:r>
              <a:rPr lang="en-US" b="1" dirty="0">
                <a:solidFill>
                  <a:schemeClr val="accent6">
                    <a:lumMod val="75000"/>
                  </a:schemeClr>
                </a:solidFill>
              </a:rPr>
              <a:t>How it Works</a:t>
            </a:r>
          </a:p>
          <a:p>
            <a:pPr marL="285750" indent="-285750">
              <a:buFont typeface="Wingdings" panose="05000000000000000000" pitchFamily="2" charset="2"/>
              <a:buChar char="Ø"/>
            </a:pPr>
            <a:r>
              <a:rPr lang="en-US" dirty="0"/>
              <a:t>Train a model. </a:t>
            </a:r>
          </a:p>
          <a:p>
            <a:pPr marL="285750" indent="-285750">
              <a:buFont typeface="Wingdings" panose="05000000000000000000" pitchFamily="2" charset="2"/>
              <a:buChar char="Ø"/>
            </a:pPr>
            <a:r>
              <a:rPr lang="en-US" dirty="0"/>
              <a:t>Calculate feature importance. </a:t>
            </a:r>
          </a:p>
          <a:p>
            <a:pPr marL="285750" indent="-285750">
              <a:buFont typeface="Wingdings" panose="05000000000000000000" pitchFamily="2" charset="2"/>
              <a:buChar char="Ø"/>
            </a:pPr>
            <a:r>
              <a:rPr lang="en-US" dirty="0"/>
              <a:t>Remove the least important feature. </a:t>
            </a:r>
          </a:p>
          <a:p>
            <a:pPr marL="285750" indent="-285750">
              <a:buFont typeface="Wingdings" panose="05000000000000000000" pitchFamily="2" charset="2"/>
              <a:buChar char="Ø"/>
            </a:pPr>
            <a:r>
              <a:rPr lang="en-US" dirty="0"/>
              <a:t>Retrain the model. </a:t>
            </a:r>
          </a:p>
          <a:p>
            <a:pPr marL="285750" indent="-285750">
              <a:buFont typeface="Wingdings" panose="05000000000000000000" pitchFamily="2" charset="2"/>
              <a:buChar char="Ø"/>
            </a:pPr>
            <a:r>
              <a:rPr lang="en-US" dirty="0"/>
              <a:t>Repeat until the required number of features remains.</a:t>
            </a:r>
          </a:p>
        </p:txBody>
      </p:sp>
      <p:graphicFrame>
        <p:nvGraphicFramePr>
          <p:cNvPr id="12" name="Table 11">
            <a:extLst>
              <a:ext uri="{FF2B5EF4-FFF2-40B4-BE49-F238E27FC236}">
                <a16:creationId xmlns:a16="http://schemas.microsoft.com/office/drawing/2014/main" id="{3B3DF9B4-9FE2-44BD-8D02-BFBE6776F89A}"/>
              </a:ext>
            </a:extLst>
          </p:cNvPr>
          <p:cNvGraphicFramePr>
            <a:graphicFrameLocks noGrp="1"/>
          </p:cNvGraphicFramePr>
          <p:nvPr>
            <p:extLst>
              <p:ext uri="{D42A27DB-BD31-4B8C-83A1-F6EECF244321}">
                <p14:modId xmlns:p14="http://schemas.microsoft.com/office/powerpoint/2010/main" val="3939822117"/>
              </p:ext>
            </p:extLst>
          </p:nvPr>
        </p:nvGraphicFramePr>
        <p:xfrm>
          <a:off x="8439150" y="1847504"/>
          <a:ext cx="3224256" cy="3292252"/>
        </p:xfrm>
        <a:graphic>
          <a:graphicData uri="http://schemas.openxmlformats.org/drawingml/2006/table">
            <a:tbl>
              <a:tblPr/>
              <a:tblGrid>
                <a:gridCol w="1612128">
                  <a:extLst>
                    <a:ext uri="{9D8B030D-6E8A-4147-A177-3AD203B41FA5}">
                      <a16:colId xmlns:a16="http://schemas.microsoft.com/office/drawing/2014/main" val="3992560401"/>
                    </a:ext>
                  </a:extLst>
                </a:gridCol>
                <a:gridCol w="1612128">
                  <a:extLst>
                    <a:ext uri="{9D8B030D-6E8A-4147-A177-3AD203B41FA5}">
                      <a16:colId xmlns:a16="http://schemas.microsoft.com/office/drawing/2014/main" val="233148099"/>
                    </a:ext>
                  </a:extLst>
                </a:gridCol>
              </a:tblGrid>
              <a:tr h="598591">
                <a:tc>
                  <a:txBody>
                    <a:bodyPr/>
                    <a:lstStyle/>
                    <a:p>
                      <a:endParaRPr lang="en-IN" dirty="0"/>
                    </a:p>
                  </a:txBody>
                  <a:tcPr anchor="ctr">
                    <a:lnL>
                      <a:noFill/>
                    </a:lnL>
                    <a:lnR>
                      <a:noFill/>
                    </a:lnR>
                    <a:lnT>
                      <a:noFill/>
                    </a:lnT>
                    <a:lnB>
                      <a:noFill/>
                    </a:lnB>
                  </a:tcPr>
                </a:tc>
                <a:tc>
                  <a:txBody>
                    <a:bodyPr/>
                    <a:lstStyle/>
                    <a:p>
                      <a:endParaRPr lang="en-IN" dirty="0"/>
                    </a:p>
                  </a:txBody>
                  <a:tcPr anchor="ctr">
                    <a:lnL>
                      <a:noFill/>
                    </a:lnL>
                    <a:lnR>
                      <a:noFill/>
                    </a:lnR>
                    <a:lnT>
                      <a:noFill/>
                    </a:lnT>
                    <a:lnB>
                      <a:noFill/>
                    </a:lnB>
                  </a:tcPr>
                </a:tc>
                <a:extLst>
                  <a:ext uri="{0D108BD9-81ED-4DB2-BD59-A6C34878D82A}">
                    <a16:rowId xmlns:a16="http://schemas.microsoft.com/office/drawing/2014/main" val="366025741"/>
                  </a:ext>
                </a:extLst>
              </a:tr>
              <a:tr h="1047535">
                <a:tc>
                  <a:txBody>
                    <a:bodyPr/>
                    <a:lstStyle/>
                    <a:p>
                      <a:r>
                        <a:rPr lang="en-IN"/>
                        <a:t>+1</a:t>
                      </a:r>
                    </a:p>
                  </a:txBody>
                  <a:tcPr anchor="ctr">
                    <a:lnL>
                      <a:noFill/>
                    </a:lnL>
                    <a:lnR>
                      <a:noFill/>
                    </a:lnR>
                    <a:lnT>
                      <a:noFill/>
                    </a:lnT>
                    <a:lnB>
                      <a:noFill/>
                    </a:lnB>
                  </a:tcPr>
                </a:tc>
                <a:tc>
                  <a:txBody>
                    <a:bodyPr/>
                    <a:lstStyle/>
                    <a:p>
                      <a:r>
                        <a:rPr lang="en-IN"/>
                        <a:t>Perfect positive correlation</a:t>
                      </a:r>
                    </a:p>
                  </a:txBody>
                  <a:tcPr anchor="ctr">
                    <a:lnL>
                      <a:noFill/>
                    </a:lnL>
                    <a:lnR>
                      <a:noFill/>
                    </a:lnR>
                    <a:lnT>
                      <a:noFill/>
                    </a:lnT>
                    <a:lnB>
                      <a:noFill/>
                    </a:lnB>
                  </a:tcPr>
                </a:tc>
                <a:extLst>
                  <a:ext uri="{0D108BD9-81ED-4DB2-BD59-A6C34878D82A}">
                    <a16:rowId xmlns:a16="http://schemas.microsoft.com/office/drawing/2014/main" val="3827749870"/>
                  </a:ext>
                </a:extLst>
              </a:tr>
              <a:tr h="598591">
                <a:tc>
                  <a:txBody>
                    <a:bodyPr/>
                    <a:lstStyle/>
                    <a:p>
                      <a:r>
                        <a:rPr lang="en-IN"/>
                        <a:t>0</a:t>
                      </a:r>
                    </a:p>
                  </a:txBody>
                  <a:tcPr anchor="ctr">
                    <a:lnL>
                      <a:noFill/>
                    </a:lnL>
                    <a:lnR>
                      <a:noFill/>
                    </a:lnR>
                    <a:lnT>
                      <a:noFill/>
                    </a:lnT>
                    <a:lnB>
                      <a:noFill/>
                    </a:lnB>
                  </a:tcPr>
                </a:tc>
                <a:tc>
                  <a:txBody>
                    <a:bodyPr/>
                    <a:lstStyle/>
                    <a:p>
                      <a:r>
                        <a:rPr lang="en-IN"/>
                        <a:t>No correlation</a:t>
                      </a:r>
                    </a:p>
                  </a:txBody>
                  <a:tcPr anchor="ctr">
                    <a:lnL>
                      <a:noFill/>
                    </a:lnL>
                    <a:lnR>
                      <a:noFill/>
                    </a:lnR>
                    <a:lnT>
                      <a:noFill/>
                    </a:lnT>
                    <a:lnB>
                      <a:noFill/>
                    </a:lnB>
                  </a:tcPr>
                </a:tc>
                <a:extLst>
                  <a:ext uri="{0D108BD9-81ED-4DB2-BD59-A6C34878D82A}">
                    <a16:rowId xmlns:a16="http://schemas.microsoft.com/office/drawing/2014/main" val="30613514"/>
                  </a:ext>
                </a:extLst>
              </a:tr>
              <a:tr h="1047535">
                <a:tc>
                  <a:txBody>
                    <a:bodyPr/>
                    <a:lstStyle/>
                    <a:p>
                      <a:endParaRPr lang="en-IN" dirty="0"/>
                    </a:p>
                  </a:txBody>
                  <a:tcPr anchor="ctr">
                    <a:lnL>
                      <a:noFill/>
                    </a:lnL>
                    <a:lnR>
                      <a:noFill/>
                    </a:lnR>
                    <a:lnT>
                      <a:noFill/>
                    </a:lnT>
                    <a:lnB>
                      <a:noFill/>
                    </a:lnB>
                  </a:tcPr>
                </a:tc>
                <a:tc>
                  <a:txBody>
                    <a:bodyPr/>
                    <a:lstStyle/>
                    <a:p>
                      <a:endParaRPr lang="en-IN" dirty="0"/>
                    </a:p>
                  </a:txBody>
                  <a:tcPr anchor="ctr">
                    <a:lnL>
                      <a:noFill/>
                    </a:lnL>
                    <a:lnR>
                      <a:noFill/>
                    </a:lnR>
                    <a:lnT>
                      <a:noFill/>
                    </a:lnT>
                    <a:lnB>
                      <a:noFill/>
                    </a:lnB>
                  </a:tcPr>
                </a:tc>
                <a:extLst>
                  <a:ext uri="{0D108BD9-81ED-4DB2-BD59-A6C34878D82A}">
                    <a16:rowId xmlns:a16="http://schemas.microsoft.com/office/drawing/2014/main" val="435761550"/>
                  </a:ext>
                </a:extLst>
              </a:tr>
            </a:tbl>
          </a:graphicData>
        </a:graphic>
      </p:graphicFrame>
      <p:sp>
        <p:nvSpPr>
          <p:cNvPr id="13" name="Rectangle 1">
            <a:extLst>
              <a:ext uri="{FF2B5EF4-FFF2-40B4-BE49-F238E27FC236}">
                <a16:creationId xmlns:a16="http://schemas.microsoft.com/office/drawing/2014/main" id="{5AFD9240-C5A1-47BB-B966-C5AFAA84E85E}"/>
              </a:ext>
            </a:extLst>
          </p:cNvPr>
          <p:cNvSpPr>
            <a:spLocks noChangeArrowheads="1"/>
          </p:cNvSpPr>
          <p:nvPr/>
        </p:nvSpPr>
        <p:spPr bwMode="auto">
          <a:xfrm>
            <a:off x="8327379" y="1802428"/>
            <a:ext cx="3738266" cy="2646878"/>
          </a:xfrm>
          <a:prstGeom prst="rect">
            <a:avLst/>
          </a:prstGeom>
          <a:solidFill>
            <a:schemeClr val="accent1">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strike="noStrike" cap="none" normalizeH="0" baseline="0" dirty="0">
                <a:ln>
                  <a:noFill/>
                </a:ln>
                <a:solidFill>
                  <a:srgbClr val="C00000"/>
                </a:solidFill>
                <a:effectLst>
                  <a:outerShdw blurRad="38100" dist="38100" dir="2700000" algn="tl">
                    <a:srgbClr val="000000">
                      <a:alpha val="43137"/>
                    </a:srgbClr>
                  </a:outerShdw>
                </a:effectLst>
                <a:latin typeface="Arial" panose="020B0604020202020204" pitchFamily="34" charset="0"/>
              </a:rPr>
              <a:t>Correlation-Based Feature Selection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accent6">
                    <a:lumMod val="75000"/>
                  </a:schemeClr>
                </a:solidFill>
                <a:effectLst/>
                <a:latin typeface="Arial" panose="020B0604020202020204" pitchFamily="34" charset="0"/>
              </a:rPr>
              <a:t>Definition:</a:t>
            </a:r>
            <a:br>
              <a:rPr kumimoji="0" lang="en-US" altLang="en-US" sz="1600" b="0" i="0" u="none" strike="noStrike" cap="none" normalizeH="0" baseline="0" dirty="0">
                <a:ln>
                  <a:noFill/>
                </a:ln>
                <a:solidFill>
                  <a:schemeClr val="tx1"/>
                </a:solidFill>
                <a:effectLst/>
                <a:latin typeface="Arial" panose="020B0604020202020204" pitchFamily="34" charset="0"/>
              </a:rPr>
            </a:br>
            <a:r>
              <a:rPr kumimoji="0" lang="en-US" altLang="en-US" sz="1600" b="0" i="0" u="none" strike="noStrike" cap="none" normalizeH="0" baseline="0" dirty="0">
                <a:ln>
                  <a:noFill/>
                </a:ln>
                <a:solidFill>
                  <a:schemeClr val="tx1"/>
                </a:solidFill>
                <a:effectLst/>
                <a:latin typeface="Arial" panose="020B0604020202020204" pitchFamily="34" charset="0"/>
              </a:rPr>
              <a:t>Correlation measures how strongly two variables are related.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Highly correlated features contain similar information. One of them can often be removed.</a:t>
            </a: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Correlation Values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994074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63D022-57A7-450F-A3DB-C8616DFFED06}"/>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0A7BC32C-6E61-4EE6-8192-488BD01656DD}"/>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4A023BF8-B27B-4A7F-9E55-4E819571E21A}"/>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5735BEC0-EE07-4DA0-AE57-C7A156EF1F40}"/>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7" name="TextBox 6">
            <a:extLst>
              <a:ext uri="{FF2B5EF4-FFF2-40B4-BE49-F238E27FC236}">
                <a16:creationId xmlns:a16="http://schemas.microsoft.com/office/drawing/2014/main" id="{C4597CEB-A260-4874-BEB6-1D1A7A37575A}"/>
              </a:ext>
            </a:extLst>
          </p:cNvPr>
          <p:cNvSpPr txBox="1"/>
          <p:nvPr/>
        </p:nvSpPr>
        <p:spPr>
          <a:xfrm>
            <a:off x="0" y="120228"/>
            <a:ext cx="7791450" cy="523220"/>
          </a:xfrm>
          <a:prstGeom prst="rect">
            <a:avLst/>
          </a:prstGeom>
          <a:noFill/>
        </p:spPr>
        <p:txBody>
          <a:bodyPr wrap="square" rtlCol="0">
            <a:spAutoFit/>
          </a:bodyPr>
          <a:lstStyle/>
          <a:p>
            <a:r>
              <a:rPr lang="en-IN" sz="2800" b="1" dirty="0">
                <a:solidFill>
                  <a:schemeClr val="accent1">
                    <a:lumMod val="75000"/>
                  </a:schemeClr>
                </a:solidFill>
                <a:effectLst>
                  <a:outerShdw blurRad="38100" dist="38100" dir="2700000" algn="tl">
                    <a:srgbClr val="000000">
                      <a:alpha val="43137"/>
                    </a:srgbClr>
                  </a:outerShdw>
                </a:effectLst>
              </a:rPr>
              <a:t>FEATURE ENGINEERING &amp; PIPELINES</a:t>
            </a:r>
          </a:p>
        </p:txBody>
      </p:sp>
      <p:sp>
        <p:nvSpPr>
          <p:cNvPr id="6" name="TextBox 5">
            <a:extLst>
              <a:ext uri="{FF2B5EF4-FFF2-40B4-BE49-F238E27FC236}">
                <a16:creationId xmlns:a16="http://schemas.microsoft.com/office/drawing/2014/main" id="{DA5D09D2-F1FA-4CEF-8DB0-69113ECE71F6}"/>
              </a:ext>
            </a:extLst>
          </p:cNvPr>
          <p:cNvSpPr txBox="1"/>
          <p:nvPr/>
        </p:nvSpPr>
        <p:spPr>
          <a:xfrm>
            <a:off x="-66676" y="888468"/>
            <a:ext cx="12534901" cy="923330"/>
          </a:xfrm>
          <a:prstGeom prst="rect">
            <a:avLst/>
          </a:prstGeom>
          <a:noFill/>
        </p:spPr>
        <p:txBody>
          <a:bodyPr wrap="square" rtlCol="0">
            <a:spAutoFit/>
          </a:bodyPr>
          <a:lstStyle/>
          <a:p>
            <a:r>
              <a:rPr lang="en-US" b="1" dirty="0">
                <a:effectLst>
                  <a:outerShdw blurRad="38100" dist="38100" dir="2700000" algn="tl">
                    <a:srgbClr val="000000">
                      <a:alpha val="43137"/>
                    </a:srgbClr>
                  </a:outerShdw>
                </a:effectLst>
              </a:rPr>
              <a:t>Creating New Features (Polynomial and Interaction Features)</a:t>
            </a:r>
          </a:p>
          <a:p>
            <a:r>
              <a:rPr lang="en-US" sz="1600" b="1" dirty="0"/>
              <a:t>Feature engineering</a:t>
            </a:r>
            <a:r>
              <a:rPr lang="en-US" sz="1600" dirty="0"/>
              <a:t> is the process of creating new features (variables) from existing data to improve the performance of a machine learning model. Well-designed features help models capture patterns that may not be apparent from the original data</a:t>
            </a:r>
            <a:r>
              <a:rPr lang="en-US" dirty="0"/>
              <a:t>.</a:t>
            </a:r>
          </a:p>
        </p:txBody>
      </p:sp>
      <p:sp>
        <p:nvSpPr>
          <p:cNvPr id="8" name="TextBox 7">
            <a:extLst>
              <a:ext uri="{FF2B5EF4-FFF2-40B4-BE49-F238E27FC236}">
                <a16:creationId xmlns:a16="http://schemas.microsoft.com/office/drawing/2014/main" id="{E835DFC0-CA3B-451C-AD04-C152BEC2BDE9}"/>
              </a:ext>
            </a:extLst>
          </p:cNvPr>
          <p:cNvSpPr txBox="1"/>
          <p:nvPr/>
        </p:nvSpPr>
        <p:spPr>
          <a:xfrm>
            <a:off x="0" y="2133600"/>
            <a:ext cx="4686300" cy="369332"/>
          </a:xfrm>
          <a:prstGeom prst="rect">
            <a:avLst/>
          </a:prstGeom>
          <a:noFill/>
        </p:spPr>
        <p:txBody>
          <a:bodyPr wrap="square" rtlCol="0">
            <a:spAutoFit/>
          </a:bodyPr>
          <a:lstStyle/>
          <a:p>
            <a:endParaRPr lang="en-IN" dirty="0"/>
          </a:p>
        </p:txBody>
      </p:sp>
      <p:pic>
        <p:nvPicPr>
          <p:cNvPr id="9" name="Picture 8">
            <a:extLst>
              <a:ext uri="{FF2B5EF4-FFF2-40B4-BE49-F238E27FC236}">
                <a16:creationId xmlns:a16="http://schemas.microsoft.com/office/drawing/2014/main" id="{8890CFA6-6B01-432D-9401-8D6CCB29C873}"/>
              </a:ext>
            </a:extLst>
          </p:cNvPr>
          <p:cNvPicPr>
            <a:picLocks noChangeAspect="1"/>
          </p:cNvPicPr>
          <p:nvPr/>
        </p:nvPicPr>
        <p:blipFill>
          <a:blip r:embed="rId4"/>
          <a:stretch>
            <a:fillRect/>
          </a:stretch>
        </p:blipFill>
        <p:spPr>
          <a:xfrm>
            <a:off x="723180" y="1695451"/>
            <a:ext cx="9097096" cy="4914922"/>
          </a:xfrm>
          <a:prstGeom prst="rect">
            <a:avLst/>
          </a:prstGeom>
        </p:spPr>
      </p:pic>
    </p:spTree>
    <p:extLst>
      <p:ext uri="{BB962C8B-B14F-4D97-AF65-F5344CB8AC3E}">
        <p14:creationId xmlns:p14="http://schemas.microsoft.com/office/powerpoint/2010/main" val="38220609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63D022-57A7-450F-A3DB-C8616DFFED06}"/>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0A7BC32C-6E61-4EE6-8192-488BD01656DD}"/>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4A023BF8-B27B-4A7F-9E55-4E819571E21A}"/>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5735BEC0-EE07-4DA0-AE57-C7A156EF1F40}"/>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7" name="TextBox 6">
            <a:extLst>
              <a:ext uri="{FF2B5EF4-FFF2-40B4-BE49-F238E27FC236}">
                <a16:creationId xmlns:a16="http://schemas.microsoft.com/office/drawing/2014/main" id="{C4597CEB-A260-4874-BEB6-1D1A7A37575A}"/>
              </a:ext>
            </a:extLst>
          </p:cNvPr>
          <p:cNvSpPr txBox="1"/>
          <p:nvPr/>
        </p:nvSpPr>
        <p:spPr>
          <a:xfrm>
            <a:off x="0" y="120228"/>
            <a:ext cx="7791450" cy="523220"/>
          </a:xfrm>
          <a:prstGeom prst="rect">
            <a:avLst/>
          </a:prstGeom>
          <a:noFill/>
        </p:spPr>
        <p:txBody>
          <a:bodyPr wrap="square" rtlCol="0">
            <a:spAutoFit/>
          </a:bodyPr>
          <a:lstStyle/>
          <a:p>
            <a:r>
              <a:rPr lang="en-IN" sz="2800" b="1" dirty="0">
                <a:solidFill>
                  <a:schemeClr val="accent1">
                    <a:lumMod val="75000"/>
                  </a:schemeClr>
                </a:solidFill>
                <a:effectLst>
                  <a:outerShdw blurRad="38100" dist="38100" dir="2700000" algn="tl">
                    <a:srgbClr val="000000">
                      <a:alpha val="43137"/>
                    </a:srgbClr>
                  </a:outerShdw>
                </a:effectLst>
              </a:rPr>
              <a:t>FEATURE ENGINEERING &amp; PIPELINES</a:t>
            </a:r>
          </a:p>
        </p:txBody>
      </p:sp>
      <p:sp>
        <p:nvSpPr>
          <p:cNvPr id="6" name="TextBox 5">
            <a:extLst>
              <a:ext uri="{FF2B5EF4-FFF2-40B4-BE49-F238E27FC236}">
                <a16:creationId xmlns:a16="http://schemas.microsoft.com/office/drawing/2014/main" id="{70B934FD-339F-42D1-BBED-F90264874B5F}"/>
              </a:ext>
            </a:extLst>
          </p:cNvPr>
          <p:cNvSpPr txBox="1"/>
          <p:nvPr/>
        </p:nvSpPr>
        <p:spPr>
          <a:xfrm>
            <a:off x="-66675" y="933544"/>
            <a:ext cx="12049125" cy="1169551"/>
          </a:xfrm>
          <a:prstGeom prst="rect">
            <a:avLst/>
          </a:prstGeom>
          <a:noFill/>
        </p:spPr>
        <p:txBody>
          <a:bodyPr wrap="square" rtlCol="0">
            <a:spAutoFit/>
          </a:bodyPr>
          <a:lstStyle/>
          <a:p>
            <a:r>
              <a:rPr lang="en-US" sz="2000" b="1" dirty="0">
                <a:solidFill>
                  <a:schemeClr val="accent1">
                    <a:lumMod val="75000"/>
                  </a:schemeClr>
                </a:solidFill>
                <a:effectLst>
                  <a:outerShdw blurRad="38100" dist="38100" dir="2700000" algn="tl">
                    <a:srgbClr val="000000">
                      <a:alpha val="43137"/>
                    </a:srgbClr>
                  </a:outerShdw>
                </a:effectLst>
              </a:rPr>
              <a:t>Scikit-learn Pipeline to Chain Steps </a:t>
            </a:r>
          </a:p>
          <a:p>
            <a:r>
              <a:rPr lang="en-US" b="1" dirty="0"/>
              <a:t>What is a Scikit-learn Pipeline?</a:t>
            </a:r>
          </a:p>
          <a:p>
            <a:r>
              <a:rPr lang="en-US" sz="1600" dirty="0"/>
              <a:t>A </a:t>
            </a:r>
            <a:r>
              <a:rPr lang="en-US" sz="1600" b="1" dirty="0"/>
              <a:t>Pipeline</a:t>
            </a:r>
            <a:r>
              <a:rPr lang="en-US" sz="1600" dirty="0"/>
              <a:t> in </a:t>
            </a:r>
            <a:r>
              <a:rPr lang="en-US" sz="1600" b="1" dirty="0"/>
              <a:t>scikit-learn</a:t>
            </a:r>
            <a:r>
              <a:rPr lang="en-US" sz="1600" dirty="0"/>
              <a:t> is a utility that allows you to </a:t>
            </a:r>
            <a:r>
              <a:rPr lang="en-US" sz="1600" b="1" dirty="0"/>
              <a:t>combine multiple preprocessing steps and a machine learning model into a single object</a:t>
            </a:r>
            <a:r>
              <a:rPr lang="en-US" sz="1600" dirty="0"/>
              <a:t>. Each step is executed sequentially, ensuring that the exact same preprocessing is applied during both training and testing.</a:t>
            </a:r>
          </a:p>
        </p:txBody>
      </p:sp>
      <p:pic>
        <p:nvPicPr>
          <p:cNvPr id="8" name="Picture 7">
            <a:extLst>
              <a:ext uri="{FF2B5EF4-FFF2-40B4-BE49-F238E27FC236}">
                <a16:creationId xmlns:a16="http://schemas.microsoft.com/office/drawing/2014/main" id="{CB43B047-58EC-40E5-B665-1CC7F411D9B3}"/>
              </a:ext>
            </a:extLst>
          </p:cNvPr>
          <p:cNvPicPr>
            <a:picLocks noChangeAspect="1"/>
          </p:cNvPicPr>
          <p:nvPr/>
        </p:nvPicPr>
        <p:blipFill>
          <a:blip r:embed="rId4"/>
          <a:stretch>
            <a:fillRect/>
          </a:stretch>
        </p:blipFill>
        <p:spPr>
          <a:xfrm>
            <a:off x="0" y="2393191"/>
            <a:ext cx="6611273" cy="1552792"/>
          </a:xfrm>
          <a:prstGeom prst="rect">
            <a:avLst/>
          </a:prstGeom>
        </p:spPr>
      </p:pic>
      <p:sp>
        <p:nvSpPr>
          <p:cNvPr id="9" name="TextBox 8">
            <a:extLst>
              <a:ext uri="{FF2B5EF4-FFF2-40B4-BE49-F238E27FC236}">
                <a16:creationId xmlns:a16="http://schemas.microsoft.com/office/drawing/2014/main" id="{521CA313-5876-4455-8A2E-6BADE1F22568}"/>
              </a:ext>
            </a:extLst>
          </p:cNvPr>
          <p:cNvSpPr txBox="1"/>
          <p:nvPr/>
        </p:nvSpPr>
        <p:spPr>
          <a:xfrm>
            <a:off x="-66675" y="4072510"/>
            <a:ext cx="3895725" cy="523220"/>
          </a:xfrm>
          <a:prstGeom prst="rect">
            <a:avLst/>
          </a:prstGeom>
          <a:noFill/>
        </p:spPr>
        <p:txBody>
          <a:bodyPr wrap="square" rtlCol="0">
            <a:spAutoFit/>
          </a:bodyPr>
          <a:lstStyle/>
          <a:p>
            <a:r>
              <a:rPr lang="en-US" sz="2800" b="1" dirty="0">
                <a:effectLst>
                  <a:outerShdw blurRad="38100" dist="38100" dir="2700000" algn="tl">
                    <a:srgbClr val="000000">
                      <a:alpha val="43137"/>
                    </a:srgbClr>
                  </a:outerShdw>
                </a:effectLst>
              </a:rPr>
              <a:t>Syntax:</a:t>
            </a:r>
            <a:endParaRPr lang="en-IN" sz="2800" b="1" dirty="0">
              <a:effectLst>
                <a:outerShdw blurRad="38100" dist="38100" dir="2700000" algn="tl">
                  <a:srgbClr val="000000">
                    <a:alpha val="43137"/>
                  </a:srgbClr>
                </a:outerShdw>
              </a:effectLst>
            </a:endParaRPr>
          </a:p>
        </p:txBody>
      </p:sp>
      <p:pic>
        <p:nvPicPr>
          <p:cNvPr id="10" name="Picture 9">
            <a:extLst>
              <a:ext uri="{FF2B5EF4-FFF2-40B4-BE49-F238E27FC236}">
                <a16:creationId xmlns:a16="http://schemas.microsoft.com/office/drawing/2014/main" id="{BEBC7701-E250-40AA-B418-6ABD7BC29537}"/>
              </a:ext>
            </a:extLst>
          </p:cNvPr>
          <p:cNvPicPr>
            <a:picLocks noChangeAspect="1"/>
          </p:cNvPicPr>
          <p:nvPr/>
        </p:nvPicPr>
        <p:blipFill>
          <a:blip r:embed="rId5"/>
          <a:stretch>
            <a:fillRect/>
          </a:stretch>
        </p:blipFill>
        <p:spPr>
          <a:xfrm>
            <a:off x="76248" y="4793967"/>
            <a:ext cx="2962688" cy="1343212"/>
          </a:xfrm>
          <a:prstGeom prst="rect">
            <a:avLst/>
          </a:prstGeom>
        </p:spPr>
      </p:pic>
    </p:spTree>
    <p:extLst>
      <p:ext uri="{BB962C8B-B14F-4D97-AF65-F5344CB8AC3E}">
        <p14:creationId xmlns:p14="http://schemas.microsoft.com/office/powerpoint/2010/main" val="34668857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63D022-57A7-450F-A3DB-C8616DFFED06}"/>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0A7BC32C-6E61-4EE6-8192-488BD01656DD}"/>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4A023BF8-B27B-4A7F-9E55-4E819571E21A}"/>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5735BEC0-EE07-4DA0-AE57-C7A156EF1F40}"/>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7" name="TextBox 6">
            <a:extLst>
              <a:ext uri="{FF2B5EF4-FFF2-40B4-BE49-F238E27FC236}">
                <a16:creationId xmlns:a16="http://schemas.microsoft.com/office/drawing/2014/main" id="{C4597CEB-A260-4874-BEB6-1D1A7A37575A}"/>
              </a:ext>
            </a:extLst>
          </p:cNvPr>
          <p:cNvSpPr txBox="1"/>
          <p:nvPr/>
        </p:nvSpPr>
        <p:spPr>
          <a:xfrm>
            <a:off x="0" y="120228"/>
            <a:ext cx="7791450" cy="523220"/>
          </a:xfrm>
          <a:prstGeom prst="rect">
            <a:avLst/>
          </a:prstGeom>
          <a:noFill/>
        </p:spPr>
        <p:txBody>
          <a:bodyPr wrap="square" rtlCol="0">
            <a:spAutoFit/>
          </a:bodyPr>
          <a:lstStyle/>
          <a:p>
            <a:r>
              <a:rPr lang="en-IN" sz="2800" b="1" dirty="0">
                <a:solidFill>
                  <a:schemeClr val="accent1">
                    <a:lumMod val="75000"/>
                  </a:schemeClr>
                </a:solidFill>
                <a:effectLst>
                  <a:outerShdw blurRad="38100" dist="38100" dir="2700000" algn="tl">
                    <a:srgbClr val="000000">
                      <a:alpha val="43137"/>
                    </a:srgbClr>
                  </a:outerShdw>
                </a:effectLst>
              </a:rPr>
              <a:t>FEATURE ENGINEERING &amp; PIPELINES</a:t>
            </a:r>
          </a:p>
        </p:txBody>
      </p:sp>
      <p:sp>
        <p:nvSpPr>
          <p:cNvPr id="8" name="Rectangle 1">
            <a:extLst>
              <a:ext uri="{FF2B5EF4-FFF2-40B4-BE49-F238E27FC236}">
                <a16:creationId xmlns:a16="http://schemas.microsoft.com/office/drawing/2014/main" id="{C8276812-C229-4F03-9213-A34E679F033B}"/>
              </a:ext>
            </a:extLst>
          </p:cNvPr>
          <p:cNvSpPr>
            <a:spLocks noChangeArrowheads="1"/>
          </p:cNvSpPr>
          <p:nvPr/>
        </p:nvSpPr>
        <p:spPr bwMode="auto">
          <a:xfrm>
            <a:off x="-76200" y="877531"/>
            <a:ext cx="12125325"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Column Transformer for Mixed Data Types (Scikit-learn)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accent1">
                    <a:lumMod val="75000"/>
                  </a:schemeClr>
                </a:solidFill>
                <a:effectLst>
                  <a:outerShdw blurRad="38100" dist="38100" dir="2700000" algn="tl">
                    <a:srgbClr val="000000">
                      <a:alpha val="43137"/>
                    </a:srgbClr>
                  </a:outerShdw>
                </a:effectLst>
                <a:latin typeface="Arial" panose="020B0604020202020204" pitchFamily="34" charset="0"/>
              </a:rPr>
              <a:t>What is ColumnTransformer?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A </a:t>
            </a:r>
            <a:r>
              <a:rPr kumimoji="0" lang="en-US" altLang="en-US" sz="1600" b="1" i="0" u="none" strike="noStrike" cap="none" normalizeH="0" baseline="0" dirty="0">
                <a:ln>
                  <a:noFill/>
                </a:ln>
                <a:solidFill>
                  <a:schemeClr val="tx1"/>
                </a:solidFill>
                <a:effectLst/>
                <a:latin typeface="Arial" panose="020B0604020202020204" pitchFamily="34" charset="0"/>
              </a:rPr>
              <a:t>ColumnTransformer</a:t>
            </a:r>
            <a:r>
              <a:rPr kumimoji="0" lang="en-US" altLang="en-US" sz="1600" b="0" i="0" u="none" strike="noStrike" cap="none" normalizeH="0" baseline="0" dirty="0">
                <a:ln>
                  <a:noFill/>
                </a:ln>
                <a:solidFill>
                  <a:schemeClr val="tx1"/>
                </a:solidFill>
                <a:effectLst/>
                <a:latin typeface="Arial" panose="020B0604020202020204" pitchFamily="34" charset="0"/>
              </a:rPr>
              <a:t> in </a:t>
            </a:r>
            <a:r>
              <a:rPr kumimoji="0" lang="en-US" altLang="en-US" sz="1600" b="1" i="0" u="none" strike="noStrike" cap="none" normalizeH="0" baseline="0" dirty="0">
                <a:ln>
                  <a:noFill/>
                </a:ln>
                <a:solidFill>
                  <a:schemeClr val="tx1"/>
                </a:solidFill>
                <a:effectLst/>
                <a:latin typeface="Arial" panose="020B0604020202020204" pitchFamily="34" charset="0"/>
              </a:rPr>
              <a:t>scikit-learn</a:t>
            </a:r>
            <a:r>
              <a:rPr kumimoji="0" lang="en-US" altLang="en-US" sz="1600" b="0" i="0" u="none" strike="noStrike" cap="none" normalizeH="0" baseline="0" dirty="0">
                <a:ln>
                  <a:noFill/>
                </a:ln>
                <a:solidFill>
                  <a:schemeClr val="tx1"/>
                </a:solidFill>
                <a:effectLst/>
                <a:latin typeface="Arial" panose="020B0604020202020204" pitchFamily="34" charset="0"/>
              </a:rPr>
              <a:t> is a preprocessing tool that allows you to </a:t>
            </a:r>
            <a:r>
              <a:rPr kumimoji="0" lang="en-US" altLang="en-US" sz="1600" b="1" i="0" u="none" strike="noStrike" cap="none" normalizeH="0" baseline="0" dirty="0">
                <a:ln>
                  <a:noFill/>
                </a:ln>
                <a:solidFill>
                  <a:schemeClr val="tx1"/>
                </a:solidFill>
                <a:effectLst/>
                <a:latin typeface="Arial" panose="020B0604020202020204" pitchFamily="34" charset="0"/>
              </a:rPr>
              <a:t>apply different transformations to different columns of a dataset</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It is especially useful when your dataset contains </a:t>
            </a:r>
            <a:r>
              <a:rPr kumimoji="0" lang="en-US" altLang="en-US" sz="1600" b="1" i="0" u="none" strike="noStrike" cap="none" normalizeH="0" baseline="0" dirty="0">
                <a:ln>
                  <a:noFill/>
                </a:ln>
                <a:solidFill>
                  <a:schemeClr val="tx1"/>
                </a:solidFill>
                <a:effectLst/>
                <a:latin typeface="Arial" panose="020B0604020202020204" pitchFamily="34" charset="0"/>
              </a:rPr>
              <a:t>mixed data types</a:t>
            </a:r>
            <a:r>
              <a:rPr kumimoji="0" lang="en-US" altLang="en-US" sz="1600" b="0" i="0" u="none" strike="noStrike" cap="none" normalizeH="0" baseline="0" dirty="0">
                <a:ln>
                  <a:noFill/>
                </a:ln>
                <a:solidFill>
                  <a:schemeClr val="tx1"/>
                </a:solidFill>
                <a:effectLst/>
                <a:latin typeface="Arial" panose="020B0604020202020204" pitchFamily="34" charset="0"/>
              </a:rPr>
              <a:t>, such as: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a:ln>
                  <a:noFill/>
                </a:ln>
                <a:solidFill>
                  <a:schemeClr val="tx1"/>
                </a:solidFill>
                <a:effectLst/>
                <a:latin typeface="Arial" panose="020B0604020202020204" pitchFamily="34" charset="0"/>
              </a:rPr>
              <a:t>Numerical features (Age, Salary)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a:ln>
                  <a:noFill/>
                </a:ln>
                <a:solidFill>
                  <a:schemeClr val="tx1"/>
                </a:solidFill>
                <a:effectLst/>
                <a:latin typeface="Arial" panose="020B0604020202020204" pitchFamily="34" charset="0"/>
              </a:rPr>
              <a:t>Categorical features (Gender, City)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a:ln>
                  <a:noFill/>
                </a:ln>
                <a:solidFill>
                  <a:schemeClr val="tx1"/>
                </a:solidFill>
                <a:effectLst/>
                <a:latin typeface="Arial" panose="020B0604020202020204" pitchFamily="34" charset="0"/>
              </a:rPr>
              <a:t>Text features (Reviews)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a:ln>
                  <a:noFill/>
                </a:ln>
                <a:solidFill>
                  <a:schemeClr val="tx1"/>
                </a:solidFill>
                <a:effectLst/>
                <a:latin typeface="Arial" panose="020B0604020202020204" pitchFamily="34" charset="0"/>
              </a:rPr>
              <a:t>Date/Time features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Instead of applying the same preprocessing to every column, </a:t>
            </a:r>
            <a:r>
              <a:rPr kumimoji="0" lang="en-US" altLang="en-US" sz="1600" b="0" i="0" u="none" strike="noStrike" cap="none" normalizeH="0" baseline="0" dirty="0">
                <a:ln>
                  <a:noFill/>
                </a:ln>
                <a:solidFill>
                  <a:schemeClr val="tx1"/>
                </a:solidFill>
                <a:effectLst/>
                <a:latin typeface="Arial Unicode MS"/>
              </a:rPr>
              <a:t>ColumnTransformer</a:t>
            </a:r>
            <a:r>
              <a:rPr kumimoji="0" lang="en-US" altLang="en-US" sz="1600" b="0" i="0" u="none" strike="noStrike" cap="none" normalizeH="0" baseline="0" dirty="0">
                <a:ln>
                  <a:noFill/>
                </a:ln>
                <a:solidFill>
                  <a:schemeClr val="tx1"/>
                </a:solidFill>
                <a:effectLst/>
              </a:rPr>
              <a:t> applies the appropriate preprocessing to each type.</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pic>
        <p:nvPicPr>
          <p:cNvPr id="9" name="Picture 8">
            <a:extLst>
              <a:ext uri="{FF2B5EF4-FFF2-40B4-BE49-F238E27FC236}">
                <a16:creationId xmlns:a16="http://schemas.microsoft.com/office/drawing/2014/main" id="{EC9ABAE3-10C8-47FA-A216-D5FE587A3DB3}"/>
              </a:ext>
            </a:extLst>
          </p:cNvPr>
          <p:cNvPicPr>
            <a:picLocks noChangeAspect="1"/>
          </p:cNvPicPr>
          <p:nvPr/>
        </p:nvPicPr>
        <p:blipFill>
          <a:blip r:embed="rId4"/>
          <a:stretch>
            <a:fillRect/>
          </a:stretch>
        </p:blipFill>
        <p:spPr>
          <a:xfrm>
            <a:off x="0" y="3865684"/>
            <a:ext cx="7600950" cy="2744687"/>
          </a:xfrm>
          <a:prstGeom prst="rect">
            <a:avLst/>
          </a:prstGeom>
        </p:spPr>
      </p:pic>
    </p:spTree>
    <p:extLst>
      <p:ext uri="{BB962C8B-B14F-4D97-AF65-F5344CB8AC3E}">
        <p14:creationId xmlns:p14="http://schemas.microsoft.com/office/powerpoint/2010/main" val="17222667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63D022-57A7-450F-A3DB-C8616DFFED06}"/>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0A7BC32C-6E61-4EE6-8192-488BD01656DD}"/>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4A023BF8-B27B-4A7F-9E55-4E819571E21A}"/>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5735BEC0-EE07-4DA0-AE57-C7A156EF1F40}"/>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7" name="TextBox 6">
            <a:extLst>
              <a:ext uri="{FF2B5EF4-FFF2-40B4-BE49-F238E27FC236}">
                <a16:creationId xmlns:a16="http://schemas.microsoft.com/office/drawing/2014/main" id="{C4597CEB-A260-4874-BEB6-1D1A7A37575A}"/>
              </a:ext>
            </a:extLst>
          </p:cNvPr>
          <p:cNvSpPr txBox="1"/>
          <p:nvPr/>
        </p:nvSpPr>
        <p:spPr>
          <a:xfrm>
            <a:off x="0" y="120228"/>
            <a:ext cx="7791450" cy="954107"/>
          </a:xfrm>
          <a:prstGeom prst="rect">
            <a:avLst/>
          </a:prstGeom>
          <a:noFill/>
        </p:spPr>
        <p:txBody>
          <a:bodyPr wrap="square" rtlCol="0">
            <a:spAutoFit/>
          </a:bodyPr>
          <a:lstStyle/>
          <a:p>
            <a:r>
              <a:rPr lang="en-IN" sz="2800" b="1" dirty="0">
                <a:solidFill>
                  <a:schemeClr val="accent1">
                    <a:lumMod val="75000"/>
                  </a:schemeClr>
                </a:solidFill>
                <a:effectLst>
                  <a:outerShdw blurRad="38100" dist="38100" dir="2700000" algn="tl">
                    <a:srgbClr val="000000">
                      <a:alpha val="43137"/>
                    </a:srgbClr>
                  </a:outerShdw>
                </a:effectLst>
              </a:rPr>
              <a:t>Introduction to NLP</a:t>
            </a:r>
          </a:p>
          <a:p>
            <a:endParaRPr lang="en-IN" sz="2800" b="1" dirty="0">
              <a:solidFill>
                <a:schemeClr val="accent1">
                  <a:lumMod val="75000"/>
                </a:schemeClr>
              </a:solidFill>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FF2CD735-49BB-4195-B628-63C62BBAB5BF}"/>
              </a:ext>
            </a:extLst>
          </p:cNvPr>
          <p:cNvSpPr txBox="1"/>
          <p:nvPr/>
        </p:nvSpPr>
        <p:spPr>
          <a:xfrm>
            <a:off x="0" y="1067941"/>
            <a:ext cx="11658600" cy="1200329"/>
          </a:xfrm>
          <a:prstGeom prst="rect">
            <a:avLst/>
          </a:prstGeom>
          <a:noFill/>
        </p:spPr>
        <p:txBody>
          <a:bodyPr wrap="square" rtlCol="0">
            <a:spAutoFit/>
          </a:bodyPr>
          <a:lstStyle/>
          <a:p>
            <a:r>
              <a:rPr lang="en-US" b="1" dirty="0">
                <a:solidFill>
                  <a:schemeClr val="accent1">
                    <a:lumMod val="50000"/>
                  </a:schemeClr>
                </a:solidFill>
                <a:effectLst>
                  <a:outerShdw blurRad="38100" dist="38100" dir="2700000" algn="tl">
                    <a:srgbClr val="000000">
                      <a:alpha val="43137"/>
                    </a:srgbClr>
                  </a:outerShdw>
                </a:effectLst>
              </a:rPr>
              <a:t>Natural Language Processing (NLP) </a:t>
            </a:r>
            <a:r>
              <a:rPr lang="en-US" dirty="0"/>
              <a:t>is a branch of Artificial Intelligence that enables computers to understand, interpret, process, and generate human language in both </a:t>
            </a:r>
            <a:r>
              <a:rPr lang="en-US" b="1" dirty="0"/>
              <a:t>text</a:t>
            </a:r>
            <a:r>
              <a:rPr lang="en-US" dirty="0"/>
              <a:t> and </a:t>
            </a:r>
            <a:r>
              <a:rPr lang="en-US" b="1" dirty="0"/>
              <a:t>speech</a:t>
            </a:r>
            <a:r>
              <a:rPr lang="en-US" dirty="0"/>
              <a:t> forms.</a:t>
            </a:r>
          </a:p>
          <a:p>
            <a:r>
              <a:rPr lang="en-US" dirty="0"/>
              <a:t>In simple words, </a:t>
            </a:r>
            <a:r>
              <a:rPr lang="en-US" b="1" dirty="0"/>
              <a:t>NLP helps computers communicate with humans using natural language</a:t>
            </a:r>
            <a:r>
              <a:rPr lang="en-US" dirty="0"/>
              <a:t>, such as English, Hindi, or any other language.</a:t>
            </a:r>
          </a:p>
        </p:txBody>
      </p:sp>
      <p:sp>
        <p:nvSpPr>
          <p:cNvPr id="9" name="TextBox 8">
            <a:extLst>
              <a:ext uri="{FF2B5EF4-FFF2-40B4-BE49-F238E27FC236}">
                <a16:creationId xmlns:a16="http://schemas.microsoft.com/office/drawing/2014/main" id="{EE488B14-62C2-4D50-8832-CE7FD2CF5E7F}"/>
              </a:ext>
            </a:extLst>
          </p:cNvPr>
          <p:cNvSpPr txBox="1"/>
          <p:nvPr/>
        </p:nvSpPr>
        <p:spPr>
          <a:xfrm>
            <a:off x="0" y="2847875"/>
            <a:ext cx="5819775" cy="2031325"/>
          </a:xfrm>
          <a:prstGeom prst="rect">
            <a:avLst/>
          </a:prstGeom>
          <a:solidFill>
            <a:schemeClr val="accent1">
              <a:lumMod val="20000"/>
              <a:lumOff val="80000"/>
            </a:schemeClr>
          </a:solidFill>
        </p:spPr>
        <p:txBody>
          <a:bodyPr wrap="square" rtlCol="0">
            <a:spAutoFit/>
          </a:bodyPr>
          <a:lstStyle/>
          <a:p>
            <a:r>
              <a:rPr lang="en-US" b="1" dirty="0"/>
              <a:t>Key Points</a:t>
            </a:r>
          </a:p>
          <a:p>
            <a:pPr marL="285750" indent="-285750">
              <a:buFont typeface="Wingdings" panose="05000000000000000000" pitchFamily="2" charset="2"/>
              <a:buChar char="Ø"/>
            </a:pPr>
            <a:r>
              <a:rPr lang="en-US" dirty="0"/>
              <a:t>Converts human language into a format that computers can understand. </a:t>
            </a:r>
          </a:p>
          <a:p>
            <a:pPr marL="285750" indent="-285750">
              <a:buFont typeface="Wingdings" panose="05000000000000000000" pitchFamily="2" charset="2"/>
              <a:buChar char="Ø"/>
            </a:pPr>
            <a:r>
              <a:rPr lang="en-US" dirty="0"/>
              <a:t>Combines </a:t>
            </a:r>
            <a:r>
              <a:rPr lang="en-US" b="1" dirty="0"/>
              <a:t>Artificial Intelligence</a:t>
            </a:r>
            <a:r>
              <a:rPr lang="en-US" dirty="0"/>
              <a:t>, </a:t>
            </a:r>
            <a:r>
              <a:rPr lang="en-US" b="1" dirty="0"/>
              <a:t>Machine Learning</a:t>
            </a:r>
            <a:r>
              <a:rPr lang="en-US" dirty="0"/>
              <a:t>, and </a:t>
            </a:r>
            <a:r>
              <a:rPr lang="en-US" b="1" dirty="0"/>
              <a:t>Linguistics</a:t>
            </a:r>
            <a:r>
              <a:rPr lang="en-US" dirty="0"/>
              <a:t>. </a:t>
            </a:r>
          </a:p>
          <a:p>
            <a:pPr marL="285750" indent="-285750">
              <a:buFont typeface="Wingdings" panose="05000000000000000000" pitchFamily="2" charset="2"/>
              <a:buChar char="Ø"/>
            </a:pPr>
            <a:r>
              <a:rPr lang="en-US" dirty="0"/>
              <a:t>Used for analyzing, understanding, translating, and generating text or speech. </a:t>
            </a:r>
          </a:p>
        </p:txBody>
      </p:sp>
      <p:sp>
        <p:nvSpPr>
          <p:cNvPr id="10" name="TextBox 9">
            <a:extLst>
              <a:ext uri="{FF2B5EF4-FFF2-40B4-BE49-F238E27FC236}">
                <a16:creationId xmlns:a16="http://schemas.microsoft.com/office/drawing/2014/main" id="{5F0056B4-9FCA-4141-8473-25B27DF478D7}"/>
              </a:ext>
            </a:extLst>
          </p:cNvPr>
          <p:cNvSpPr txBox="1"/>
          <p:nvPr/>
        </p:nvSpPr>
        <p:spPr>
          <a:xfrm>
            <a:off x="6654901" y="2843567"/>
            <a:ext cx="5324475" cy="2308324"/>
          </a:xfrm>
          <a:prstGeom prst="rect">
            <a:avLst/>
          </a:prstGeom>
          <a:solidFill>
            <a:schemeClr val="accent1">
              <a:lumMod val="20000"/>
              <a:lumOff val="80000"/>
            </a:schemeClr>
          </a:solidFill>
        </p:spPr>
        <p:txBody>
          <a:bodyPr wrap="square" rtlCol="0">
            <a:spAutoFit/>
          </a:bodyPr>
          <a:lstStyle/>
          <a:p>
            <a:r>
              <a:rPr lang="en-US" b="1" dirty="0"/>
              <a:t>Examples of NLP Applications</a:t>
            </a:r>
          </a:p>
          <a:p>
            <a:pPr marL="285750" indent="-285750">
              <a:buFont typeface="Wingdings" panose="05000000000000000000" pitchFamily="2" charset="2"/>
              <a:buChar char="§"/>
            </a:pPr>
            <a:r>
              <a:rPr lang="en-US" dirty="0"/>
              <a:t>Chatbots and virtual assistants </a:t>
            </a:r>
          </a:p>
          <a:p>
            <a:pPr marL="285750" indent="-285750">
              <a:buFont typeface="Wingdings" panose="05000000000000000000" pitchFamily="2" charset="2"/>
              <a:buChar char="§"/>
            </a:pPr>
            <a:r>
              <a:rPr lang="en-US" dirty="0"/>
              <a:t>Language translation </a:t>
            </a:r>
          </a:p>
          <a:p>
            <a:pPr marL="285750" indent="-285750">
              <a:buFont typeface="Wingdings" panose="05000000000000000000" pitchFamily="2" charset="2"/>
              <a:buChar char="§"/>
            </a:pPr>
            <a:r>
              <a:rPr lang="en-US" dirty="0"/>
              <a:t>Sentiment analysis </a:t>
            </a:r>
          </a:p>
          <a:p>
            <a:pPr marL="285750" indent="-285750">
              <a:buFont typeface="Wingdings" panose="05000000000000000000" pitchFamily="2" charset="2"/>
              <a:buChar char="§"/>
            </a:pPr>
            <a:r>
              <a:rPr lang="en-US" dirty="0"/>
              <a:t>Spam email detection </a:t>
            </a:r>
          </a:p>
          <a:p>
            <a:pPr marL="285750" indent="-285750">
              <a:buFont typeface="Wingdings" panose="05000000000000000000" pitchFamily="2" charset="2"/>
              <a:buChar char="§"/>
            </a:pPr>
            <a:r>
              <a:rPr lang="en-US" dirty="0"/>
              <a:t>Text summarization </a:t>
            </a:r>
          </a:p>
          <a:p>
            <a:pPr marL="285750" indent="-285750">
              <a:buFont typeface="Wingdings" panose="05000000000000000000" pitchFamily="2" charset="2"/>
              <a:buChar char="§"/>
            </a:pPr>
            <a:r>
              <a:rPr lang="en-US" dirty="0"/>
              <a:t>Speech recognition </a:t>
            </a:r>
          </a:p>
          <a:p>
            <a:pPr marL="285750" indent="-285750">
              <a:buFont typeface="Wingdings" panose="05000000000000000000" pitchFamily="2" charset="2"/>
              <a:buChar char="§"/>
            </a:pPr>
            <a:r>
              <a:rPr lang="en-US" dirty="0"/>
              <a:t>Question answering systems</a:t>
            </a:r>
          </a:p>
        </p:txBody>
      </p:sp>
    </p:spTree>
    <p:extLst>
      <p:ext uri="{BB962C8B-B14F-4D97-AF65-F5344CB8AC3E}">
        <p14:creationId xmlns:p14="http://schemas.microsoft.com/office/powerpoint/2010/main" val="16530047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63D022-57A7-450F-A3DB-C8616DFFED06}"/>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0A7BC32C-6E61-4EE6-8192-488BD01656DD}"/>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4A023BF8-B27B-4A7F-9E55-4E819571E21A}"/>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5735BEC0-EE07-4DA0-AE57-C7A156EF1F40}"/>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Box 5">
            <a:extLst>
              <a:ext uri="{FF2B5EF4-FFF2-40B4-BE49-F238E27FC236}">
                <a16:creationId xmlns:a16="http://schemas.microsoft.com/office/drawing/2014/main" id="{9184CBC9-E440-4C89-9C76-6DBCE4ED0609}"/>
              </a:ext>
            </a:extLst>
          </p:cNvPr>
          <p:cNvSpPr txBox="1"/>
          <p:nvPr/>
        </p:nvSpPr>
        <p:spPr>
          <a:xfrm>
            <a:off x="0" y="888468"/>
            <a:ext cx="11620500" cy="861774"/>
          </a:xfrm>
          <a:prstGeom prst="rect">
            <a:avLst/>
          </a:prstGeom>
          <a:noFill/>
        </p:spPr>
        <p:txBody>
          <a:bodyPr wrap="square" rtlCol="0">
            <a:spAutoFit/>
          </a:bodyPr>
          <a:lstStyle/>
          <a:p>
            <a:r>
              <a:rPr lang="en-US" b="1" dirty="0">
                <a:solidFill>
                  <a:schemeClr val="accent6">
                    <a:lumMod val="75000"/>
                  </a:schemeClr>
                </a:solidFill>
              </a:rPr>
              <a:t>Text Preprocessing</a:t>
            </a:r>
          </a:p>
          <a:p>
            <a:r>
              <a:rPr lang="en-US" sz="1600" b="1" dirty="0"/>
              <a:t>Definition:</a:t>
            </a:r>
            <a:br>
              <a:rPr lang="en-US" sz="1600" dirty="0"/>
            </a:br>
            <a:r>
              <a:rPr lang="en-US" sz="1600" dirty="0"/>
              <a:t>Text preprocessing is the process of cleaning and transforming raw text into a format suitable for machine learning models.</a:t>
            </a:r>
          </a:p>
        </p:txBody>
      </p:sp>
      <p:sp>
        <p:nvSpPr>
          <p:cNvPr id="9" name="TextBox 8">
            <a:extLst>
              <a:ext uri="{FF2B5EF4-FFF2-40B4-BE49-F238E27FC236}">
                <a16:creationId xmlns:a16="http://schemas.microsoft.com/office/drawing/2014/main" id="{925B95CC-BE61-4EEA-88B3-A7DE1D7368F2}"/>
              </a:ext>
            </a:extLst>
          </p:cNvPr>
          <p:cNvSpPr txBox="1"/>
          <p:nvPr/>
        </p:nvSpPr>
        <p:spPr>
          <a:xfrm>
            <a:off x="66675" y="120228"/>
            <a:ext cx="6029325" cy="523220"/>
          </a:xfrm>
          <a:prstGeom prst="rect">
            <a:avLst/>
          </a:prstGeom>
          <a:noFill/>
        </p:spPr>
        <p:txBody>
          <a:bodyPr wrap="square" rtlCol="0">
            <a:spAutoFit/>
          </a:bodyPr>
          <a:lstStyle/>
          <a:p>
            <a:r>
              <a:rPr lang="en-IN" sz="2800" b="1" dirty="0">
                <a:solidFill>
                  <a:schemeClr val="accent1">
                    <a:lumMod val="75000"/>
                  </a:schemeClr>
                </a:solidFill>
                <a:effectLst>
                  <a:outerShdw blurRad="38100" dist="38100" dir="2700000" algn="tl">
                    <a:srgbClr val="000000">
                      <a:alpha val="43137"/>
                    </a:srgbClr>
                  </a:outerShdw>
                </a:effectLst>
              </a:rPr>
              <a:t>INTRODUCTION TO NLP</a:t>
            </a:r>
          </a:p>
        </p:txBody>
      </p:sp>
      <p:sp>
        <p:nvSpPr>
          <p:cNvPr id="10" name="TextBox 9">
            <a:extLst>
              <a:ext uri="{FF2B5EF4-FFF2-40B4-BE49-F238E27FC236}">
                <a16:creationId xmlns:a16="http://schemas.microsoft.com/office/drawing/2014/main" id="{7DD6E780-FDB9-4475-B4BE-8EAB19202E07}"/>
              </a:ext>
            </a:extLst>
          </p:cNvPr>
          <p:cNvSpPr txBox="1"/>
          <p:nvPr/>
        </p:nvSpPr>
        <p:spPr>
          <a:xfrm>
            <a:off x="66675" y="2590374"/>
            <a:ext cx="3343275" cy="2862322"/>
          </a:xfrm>
          <a:prstGeom prst="rect">
            <a:avLst/>
          </a:prstGeom>
          <a:solidFill>
            <a:schemeClr val="accent1">
              <a:lumMod val="20000"/>
              <a:lumOff val="80000"/>
            </a:schemeClr>
          </a:solidFill>
        </p:spPr>
        <p:txBody>
          <a:bodyPr wrap="square" rtlCol="0">
            <a:spAutoFit/>
          </a:bodyPr>
          <a:lstStyle/>
          <a:p>
            <a:r>
              <a:rPr lang="en-US" b="1" dirty="0">
                <a:solidFill>
                  <a:srgbClr val="00B050"/>
                </a:solidFill>
              </a:rPr>
              <a:t>A. Tokenization</a:t>
            </a:r>
          </a:p>
          <a:p>
            <a:r>
              <a:rPr lang="en-US" b="1" dirty="0"/>
              <a:t>Definition:</a:t>
            </a:r>
            <a:r>
              <a:rPr lang="en-US" dirty="0"/>
              <a:t> Breaking text into smaller units called </a:t>
            </a:r>
            <a:r>
              <a:rPr lang="en-US" b="1" dirty="0"/>
              <a:t>tokens</a:t>
            </a:r>
            <a:r>
              <a:rPr lang="en-US" dirty="0"/>
              <a:t> (words or sentences).</a:t>
            </a:r>
          </a:p>
          <a:p>
            <a:r>
              <a:rPr lang="en-US" b="1" dirty="0"/>
              <a:t>Example: </a:t>
            </a:r>
          </a:p>
          <a:p>
            <a:r>
              <a:rPr lang="en-US" dirty="0"/>
              <a:t>Sentence: "I love Machine Learning!"</a:t>
            </a:r>
          </a:p>
          <a:p>
            <a:r>
              <a:rPr lang="en-US" dirty="0"/>
              <a:t>Tokens:</a:t>
            </a:r>
          </a:p>
          <a:p>
            <a:r>
              <a:rPr lang="en-US" dirty="0"/>
              <a:t>["I", "love", "Machine", "Learning"]</a:t>
            </a:r>
          </a:p>
        </p:txBody>
      </p:sp>
      <p:sp>
        <p:nvSpPr>
          <p:cNvPr id="12" name="Rectangle 1">
            <a:extLst>
              <a:ext uri="{FF2B5EF4-FFF2-40B4-BE49-F238E27FC236}">
                <a16:creationId xmlns:a16="http://schemas.microsoft.com/office/drawing/2014/main" id="{8BB4CBEA-2AB1-4C51-B864-1EEC1DDE465C}"/>
              </a:ext>
            </a:extLst>
          </p:cNvPr>
          <p:cNvSpPr>
            <a:spLocks noChangeArrowheads="1"/>
          </p:cNvSpPr>
          <p:nvPr/>
        </p:nvSpPr>
        <p:spPr bwMode="auto">
          <a:xfrm>
            <a:off x="3781425" y="2597868"/>
            <a:ext cx="3343275" cy="2800767"/>
          </a:xfrm>
          <a:prstGeom prst="rect">
            <a:avLst/>
          </a:prstGeom>
          <a:solidFill>
            <a:schemeClr val="accent1">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B050"/>
                </a:solidFill>
                <a:effectLst/>
                <a:latin typeface="Arial" panose="020B0604020202020204" pitchFamily="34" charset="0"/>
              </a:rPr>
              <a:t>B. Stopwords Removal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Definition:</a:t>
            </a:r>
            <a:r>
              <a:rPr kumimoji="0" lang="en-US" altLang="en-US" sz="1600" b="0" i="0" u="none" strike="noStrike" cap="none" normalizeH="0" baseline="0" dirty="0">
                <a:ln>
                  <a:noFill/>
                </a:ln>
                <a:solidFill>
                  <a:schemeClr val="tx1"/>
                </a:solidFill>
                <a:effectLst/>
                <a:latin typeface="Arial" panose="020B0604020202020204" pitchFamily="34" charset="0"/>
              </a:rPr>
              <a:t> Stopwords are commonly used words that usually do not add much meaning.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Examples:</a:t>
            </a:r>
            <a:endParaRPr kumimoji="0" lang="en-US" altLang="en-US" sz="1600" b="1"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Unicode MS"/>
              </a:rPr>
              <a:t>is, am, are, the, a, an, in, on, of, to</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rPr>
              <a:t>Example:</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Original:</a:t>
            </a:r>
            <a:endParaRPr kumimoji="0" lang="en-US" altLang="en-US" sz="16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Unicode MS"/>
              </a:rPr>
              <a:t>The cat is sleeping on the mat.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rPr>
              <a:t>After removing stopwords:</a:t>
            </a:r>
            <a:endParaRPr kumimoji="0" lang="en-US" altLang="en-US" sz="16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Unicode MS"/>
              </a:rPr>
              <a:t>cat sleeping mat</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13" name="TextBox 12">
            <a:extLst>
              <a:ext uri="{FF2B5EF4-FFF2-40B4-BE49-F238E27FC236}">
                <a16:creationId xmlns:a16="http://schemas.microsoft.com/office/drawing/2014/main" id="{3AAF2A1E-87BA-4A6F-8559-D720B7355BE7}"/>
              </a:ext>
            </a:extLst>
          </p:cNvPr>
          <p:cNvSpPr txBox="1"/>
          <p:nvPr/>
        </p:nvSpPr>
        <p:spPr>
          <a:xfrm>
            <a:off x="-33339" y="1906995"/>
            <a:ext cx="7038975" cy="369332"/>
          </a:xfrm>
          <a:prstGeom prst="rect">
            <a:avLst/>
          </a:prstGeom>
          <a:noFill/>
        </p:spPr>
        <p:txBody>
          <a:bodyPr wrap="square" rtlCol="0">
            <a:spAutoFit/>
          </a:bodyPr>
          <a:lstStyle/>
          <a:p>
            <a:r>
              <a:rPr lang="en-IN" b="1" dirty="0">
                <a:solidFill>
                  <a:schemeClr val="accent1">
                    <a:lumMod val="50000"/>
                  </a:schemeClr>
                </a:solidFill>
                <a:effectLst>
                  <a:outerShdw blurRad="38100" dist="38100" dir="2700000" algn="tl">
                    <a:srgbClr val="000000">
                      <a:alpha val="43137"/>
                    </a:srgbClr>
                  </a:outerShdw>
                </a:effectLst>
              </a:rPr>
              <a:t>Steps in Text Preprocessing</a:t>
            </a:r>
          </a:p>
        </p:txBody>
      </p:sp>
      <p:graphicFrame>
        <p:nvGraphicFramePr>
          <p:cNvPr id="15" name="Table 14">
            <a:extLst>
              <a:ext uri="{FF2B5EF4-FFF2-40B4-BE49-F238E27FC236}">
                <a16:creationId xmlns:a16="http://schemas.microsoft.com/office/drawing/2014/main" id="{859F954A-E823-4AD9-95F1-348C86B84246}"/>
              </a:ext>
            </a:extLst>
          </p:cNvPr>
          <p:cNvGraphicFramePr>
            <a:graphicFrameLocks noGrp="1"/>
          </p:cNvGraphicFramePr>
          <p:nvPr>
            <p:extLst>
              <p:ext uri="{D42A27DB-BD31-4B8C-83A1-F6EECF244321}">
                <p14:modId xmlns:p14="http://schemas.microsoft.com/office/powerpoint/2010/main" val="2470326073"/>
              </p:ext>
            </p:extLst>
          </p:nvPr>
        </p:nvGraphicFramePr>
        <p:xfrm>
          <a:off x="7391399" y="3592590"/>
          <a:ext cx="3695286" cy="2194560"/>
        </p:xfrm>
        <a:graphic>
          <a:graphicData uri="http://schemas.openxmlformats.org/drawingml/2006/table">
            <a:tbl>
              <a:tblPr/>
              <a:tblGrid>
                <a:gridCol w="1847643">
                  <a:extLst>
                    <a:ext uri="{9D8B030D-6E8A-4147-A177-3AD203B41FA5}">
                      <a16:colId xmlns:a16="http://schemas.microsoft.com/office/drawing/2014/main" val="1168989236"/>
                    </a:ext>
                  </a:extLst>
                </a:gridCol>
                <a:gridCol w="1847643">
                  <a:extLst>
                    <a:ext uri="{9D8B030D-6E8A-4147-A177-3AD203B41FA5}">
                      <a16:colId xmlns:a16="http://schemas.microsoft.com/office/drawing/2014/main" val="39392554"/>
                    </a:ext>
                  </a:extLst>
                </a:gridCol>
              </a:tblGrid>
              <a:tr h="0">
                <a:tc>
                  <a:txBody>
                    <a:bodyPr/>
                    <a:lstStyle/>
                    <a:p>
                      <a:r>
                        <a:rPr lang="en-IN" dirty="0"/>
                        <a:t>Original Word</a:t>
                      </a:r>
                    </a:p>
                  </a:txBody>
                  <a:tcPr anchor="ctr">
                    <a:lnL>
                      <a:noFill/>
                    </a:lnL>
                    <a:lnR>
                      <a:noFill/>
                    </a:lnR>
                    <a:lnT>
                      <a:noFill/>
                    </a:lnT>
                    <a:lnB>
                      <a:noFill/>
                    </a:lnB>
                    <a:solidFill>
                      <a:schemeClr val="accent1">
                        <a:lumMod val="20000"/>
                        <a:lumOff val="80000"/>
                      </a:schemeClr>
                    </a:solidFill>
                  </a:tcPr>
                </a:tc>
                <a:tc>
                  <a:txBody>
                    <a:bodyPr/>
                    <a:lstStyle/>
                    <a:p>
                      <a:r>
                        <a:rPr lang="en-IN"/>
                        <a:t>Stem</a:t>
                      </a:r>
                    </a:p>
                  </a:txBody>
                  <a:tcPr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3299381978"/>
                  </a:ext>
                </a:extLst>
              </a:tr>
              <a:tr h="0">
                <a:tc>
                  <a:txBody>
                    <a:bodyPr/>
                    <a:lstStyle/>
                    <a:p>
                      <a:r>
                        <a:rPr lang="en-IN" dirty="0"/>
                        <a:t>Playing</a:t>
                      </a:r>
                    </a:p>
                  </a:txBody>
                  <a:tcPr anchor="ctr">
                    <a:lnL>
                      <a:noFill/>
                    </a:lnL>
                    <a:lnR>
                      <a:noFill/>
                    </a:lnR>
                    <a:lnT>
                      <a:noFill/>
                    </a:lnT>
                    <a:lnB>
                      <a:noFill/>
                    </a:lnB>
                    <a:solidFill>
                      <a:schemeClr val="accent1">
                        <a:lumMod val="20000"/>
                        <a:lumOff val="80000"/>
                      </a:schemeClr>
                    </a:solidFill>
                  </a:tcPr>
                </a:tc>
                <a:tc>
                  <a:txBody>
                    <a:bodyPr/>
                    <a:lstStyle/>
                    <a:p>
                      <a:r>
                        <a:rPr lang="en-IN" dirty="0"/>
                        <a:t>Play</a:t>
                      </a:r>
                    </a:p>
                  </a:txBody>
                  <a:tcPr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3565444726"/>
                  </a:ext>
                </a:extLst>
              </a:tr>
              <a:tr h="0">
                <a:tc>
                  <a:txBody>
                    <a:bodyPr/>
                    <a:lstStyle/>
                    <a:p>
                      <a:r>
                        <a:rPr lang="en-IN" dirty="0"/>
                        <a:t>Played</a:t>
                      </a:r>
                    </a:p>
                  </a:txBody>
                  <a:tcPr anchor="ctr">
                    <a:lnL>
                      <a:noFill/>
                    </a:lnL>
                    <a:lnR>
                      <a:noFill/>
                    </a:lnR>
                    <a:lnT>
                      <a:noFill/>
                    </a:lnT>
                    <a:lnB>
                      <a:noFill/>
                    </a:lnB>
                    <a:solidFill>
                      <a:schemeClr val="accent1">
                        <a:lumMod val="20000"/>
                        <a:lumOff val="80000"/>
                      </a:schemeClr>
                    </a:solidFill>
                  </a:tcPr>
                </a:tc>
                <a:tc>
                  <a:txBody>
                    <a:bodyPr/>
                    <a:lstStyle/>
                    <a:p>
                      <a:r>
                        <a:rPr lang="en-IN" dirty="0"/>
                        <a:t>Play</a:t>
                      </a:r>
                    </a:p>
                  </a:txBody>
                  <a:tcPr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3502062462"/>
                  </a:ext>
                </a:extLst>
              </a:tr>
              <a:tr h="0">
                <a:tc>
                  <a:txBody>
                    <a:bodyPr/>
                    <a:lstStyle/>
                    <a:p>
                      <a:r>
                        <a:rPr lang="en-IN" dirty="0"/>
                        <a:t>Playing</a:t>
                      </a:r>
                    </a:p>
                  </a:txBody>
                  <a:tcPr anchor="ctr">
                    <a:lnL>
                      <a:noFill/>
                    </a:lnL>
                    <a:lnR>
                      <a:noFill/>
                    </a:lnR>
                    <a:lnT>
                      <a:noFill/>
                    </a:lnT>
                    <a:lnB>
                      <a:noFill/>
                    </a:lnB>
                    <a:solidFill>
                      <a:schemeClr val="accent1">
                        <a:lumMod val="20000"/>
                        <a:lumOff val="80000"/>
                      </a:schemeClr>
                    </a:solidFill>
                  </a:tcPr>
                </a:tc>
                <a:tc>
                  <a:txBody>
                    <a:bodyPr/>
                    <a:lstStyle/>
                    <a:p>
                      <a:r>
                        <a:rPr lang="en-IN"/>
                        <a:t>Play</a:t>
                      </a:r>
                    </a:p>
                  </a:txBody>
                  <a:tcPr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4051016080"/>
                  </a:ext>
                </a:extLst>
              </a:tr>
              <a:tr h="0">
                <a:tc>
                  <a:txBody>
                    <a:bodyPr/>
                    <a:lstStyle/>
                    <a:p>
                      <a:r>
                        <a:rPr lang="en-IN"/>
                        <a:t>Studies</a:t>
                      </a:r>
                    </a:p>
                  </a:txBody>
                  <a:tcPr anchor="ctr">
                    <a:lnL>
                      <a:noFill/>
                    </a:lnL>
                    <a:lnR>
                      <a:noFill/>
                    </a:lnR>
                    <a:lnT>
                      <a:noFill/>
                    </a:lnT>
                    <a:lnB>
                      <a:noFill/>
                    </a:lnB>
                    <a:solidFill>
                      <a:schemeClr val="accent1">
                        <a:lumMod val="20000"/>
                        <a:lumOff val="80000"/>
                      </a:schemeClr>
                    </a:solidFill>
                  </a:tcPr>
                </a:tc>
                <a:tc>
                  <a:txBody>
                    <a:bodyPr/>
                    <a:lstStyle/>
                    <a:p>
                      <a:r>
                        <a:rPr lang="en-IN"/>
                        <a:t>Studi</a:t>
                      </a:r>
                    </a:p>
                  </a:txBody>
                  <a:tcPr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1990792868"/>
                  </a:ext>
                </a:extLst>
              </a:tr>
              <a:tr h="0">
                <a:tc>
                  <a:txBody>
                    <a:bodyPr/>
                    <a:lstStyle/>
                    <a:p>
                      <a:r>
                        <a:rPr lang="en-IN"/>
                        <a:t>Running</a:t>
                      </a:r>
                    </a:p>
                  </a:txBody>
                  <a:tcPr anchor="ctr">
                    <a:lnL>
                      <a:noFill/>
                    </a:lnL>
                    <a:lnR>
                      <a:noFill/>
                    </a:lnR>
                    <a:lnT>
                      <a:noFill/>
                    </a:lnT>
                    <a:lnB>
                      <a:noFill/>
                    </a:lnB>
                    <a:solidFill>
                      <a:schemeClr val="accent1">
                        <a:lumMod val="20000"/>
                        <a:lumOff val="80000"/>
                      </a:schemeClr>
                    </a:solidFill>
                  </a:tcPr>
                </a:tc>
                <a:tc>
                  <a:txBody>
                    <a:bodyPr/>
                    <a:lstStyle/>
                    <a:p>
                      <a:r>
                        <a:rPr lang="en-IN" dirty="0"/>
                        <a:t>Run</a:t>
                      </a:r>
                    </a:p>
                  </a:txBody>
                  <a:tcPr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2239908209"/>
                  </a:ext>
                </a:extLst>
              </a:tr>
            </a:tbl>
          </a:graphicData>
        </a:graphic>
      </p:graphicFrame>
      <p:sp>
        <p:nvSpPr>
          <p:cNvPr id="16" name="Rectangle 2">
            <a:extLst>
              <a:ext uri="{FF2B5EF4-FFF2-40B4-BE49-F238E27FC236}">
                <a16:creationId xmlns:a16="http://schemas.microsoft.com/office/drawing/2014/main" id="{65274081-6E5C-4415-B8D7-12B4D5196D8A}"/>
              </a:ext>
            </a:extLst>
          </p:cNvPr>
          <p:cNvSpPr>
            <a:spLocks noChangeArrowheads="1"/>
          </p:cNvSpPr>
          <p:nvPr/>
        </p:nvSpPr>
        <p:spPr bwMode="auto">
          <a:xfrm>
            <a:off x="7391400" y="2591572"/>
            <a:ext cx="3695285" cy="1077218"/>
          </a:xfrm>
          <a:prstGeom prst="rect">
            <a:avLst/>
          </a:prstGeom>
          <a:solidFill>
            <a:schemeClr val="accent1">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B050"/>
                </a:solidFill>
                <a:effectLst/>
                <a:latin typeface="Arial" panose="020B0604020202020204" pitchFamily="34" charset="0"/>
              </a:rPr>
              <a:t>C. Stemming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Definition:</a:t>
            </a:r>
            <a:r>
              <a:rPr kumimoji="0" lang="en-US" altLang="en-US" sz="1600" b="0" i="0" u="none" strike="noStrike" cap="none" normalizeH="0" baseline="0" dirty="0">
                <a:ln>
                  <a:noFill/>
                </a:ln>
                <a:solidFill>
                  <a:schemeClr val="tx1"/>
                </a:solidFill>
                <a:effectLst/>
                <a:latin typeface="Arial" panose="020B0604020202020204" pitchFamily="34" charset="0"/>
              </a:rPr>
              <a:t> Reduces words to their root (stem) form.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Examples</a:t>
            </a:r>
            <a:r>
              <a:rPr kumimoji="0" lang="en-US" altLang="en-US" sz="16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35130421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63D022-57A7-450F-A3DB-C8616DFFED06}"/>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0A7BC32C-6E61-4EE6-8192-488BD01656DD}"/>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4A023BF8-B27B-4A7F-9E55-4E819571E21A}"/>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5735BEC0-EE07-4DA0-AE57-C7A156EF1F40}"/>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Rectangle 5">
            <a:extLst>
              <a:ext uri="{FF2B5EF4-FFF2-40B4-BE49-F238E27FC236}">
                <a16:creationId xmlns:a16="http://schemas.microsoft.com/office/drawing/2014/main" id="{0EC74F78-2675-4F7F-962A-0911A06049DB}"/>
              </a:ext>
            </a:extLst>
          </p:cNvPr>
          <p:cNvSpPr/>
          <p:nvPr/>
        </p:nvSpPr>
        <p:spPr>
          <a:xfrm>
            <a:off x="0" y="961802"/>
            <a:ext cx="5705475" cy="1785104"/>
          </a:xfrm>
          <a:prstGeom prst="rect">
            <a:avLst/>
          </a:prstGeom>
        </p:spPr>
        <p:txBody>
          <a:bodyPr wrap="square">
            <a:spAutoFit/>
          </a:bodyPr>
          <a:lstStyle/>
          <a:p>
            <a:pPr marL="342900" indent="-342900">
              <a:buAutoNum type="arabicPeriod"/>
            </a:pPr>
            <a:r>
              <a:rPr lang="en-US" sz="2000" b="1" dirty="0">
                <a:solidFill>
                  <a:schemeClr val="accent1">
                    <a:lumMod val="50000"/>
                  </a:schemeClr>
                </a:solidFill>
                <a:effectLst>
                  <a:outerShdw blurRad="38100" dist="38100" dir="2700000" algn="tl">
                    <a:srgbClr val="000000">
                      <a:alpha val="43137"/>
                    </a:srgbClr>
                  </a:outerShdw>
                </a:effectLst>
              </a:rPr>
              <a:t>Bag of Words (BoW)</a:t>
            </a:r>
          </a:p>
          <a:p>
            <a:r>
              <a:rPr lang="en-US" b="1" dirty="0">
                <a:solidFill>
                  <a:schemeClr val="accent1">
                    <a:lumMod val="75000"/>
                  </a:schemeClr>
                </a:solidFill>
              </a:rPr>
              <a:t>Bag of Words (BoW)</a:t>
            </a:r>
            <a:r>
              <a:rPr lang="en-US" dirty="0">
                <a:solidFill>
                  <a:schemeClr val="accent1">
                    <a:lumMod val="75000"/>
                  </a:schemeClr>
                </a:solidFill>
              </a:rPr>
              <a:t> </a:t>
            </a:r>
            <a:r>
              <a:rPr lang="en-US" dirty="0"/>
              <a:t>is a text vectorization technique that converts text into numerical feature vectors by counting how many times each word appears in a document. It ignores grammar and word order but preserves word frequency.</a:t>
            </a:r>
          </a:p>
        </p:txBody>
      </p:sp>
      <p:sp>
        <p:nvSpPr>
          <p:cNvPr id="8" name="Rectangle 7">
            <a:extLst>
              <a:ext uri="{FF2B5EF4-FFF2-40B4-BE49-F238E27FC236}">
                <a16:creationId xmlns:a16="http://schemas.microsoft.com/office/drawing/2014/main" id="{2F6F942F-BEB8-4165-A048-482946F30497}"/>
              </a:ext>
            </a:extLst>
          </p:cNvPr>
          <p:cNvSpPr/>
          <p:nvPr/>
        </p:nvSpPr>
        <p:spPr>
          <a:xfrm>
            <a:off x="0" y="2690336"/>
            <a:ext cx="5705475" cy="1477328"/>
          </a:xfrm>
          <a:prstGeom prst="rect">
            <a:avLst/>
          </a:prstGeom>
        </p:spPr>
        <p:txBody>
          <a:bodyPr wrap="square">
            <a:spAutoFit/>
          </a:bodyPr>
          <a:lstStyle/>
          <a:p>
            <a:r>
              <a:rPr lang="en-US" b="1" dirty="0">
                <a:solidFill>
                  <a:schemeClr val="accent1">
                    <a:lumMod val="75000"/>
                  </a:schemeClr>
                </a:solidFill>
              </a:rPr>
              <a:t>Working Steps</a:t>
            </a:r>
          </a:p>
          <a:p>
            <a:pPr>
              <a:buFont typeface="+mj-lt"/>
              <a:buAutoNum type="arabicPeriod"/>
            </a:pPr>
            <a:r>
              <a:rPr lang="en-US" dirty="0"/>
              <a:t>Collect all documents. </a:t>
            </a:r>
          </a:p>
          <a:p>
            <a:pPr>
              <a:buFont typeface="+mj-lt"/>
              <a:buAutoNum type="arabicPeriod"/>
            </a:pPr>
            <a:r>
              <a:rPr lang="en-US" dirty="0"/>
              <a:t>Create a vocabulary of unique words. </a:t>
            </a:r>
          </a:p>
          <a:p>
            <a:pPr>
              <a:buFont typeface="+mj-lt"/>
              <a:buAutoNum type="arabicPeriod"/>
            </a:pPr>
            <a:r>
              <a:rPr lang="en-US" dirty="0"/>
              <a:t>Count the frequency of each word in every document. </a:t>
            </a:r>
          </a:p>
          <a:p>
            <a:pPr>
              <a:buFont typeface="+mj-lt"/>
              <a:buAutoNum type="arabicPeriod"/>
            </a:pPr>
            <a:r>
              <a:rPr lang="en-US" dirty="0"/>
              <a:t>Represent each document as a numerical vector.</a:t>
            </a:r>
          </a:p>
        </p:txBody>
      </p:sp>
      <p:sp>
        <p:nvSpPr>
          <p:cNvPr id="9" name="Rectangle 8">
            <a:extLst>
              <a:ext uri="{FF2B5EF4-FFF2-40B4-BE49-F238E27FC236}">
                <a16:creationId xmlns:a16="http://schemas.microsoft.com/office/drawing/2014/main" id="{4D509049-29BE-4428-AAF2-48B76BE89643}"/>
              </a:ext>
            </a:extLst>
          </p:cNvPr>
          <p:cNvSpPr/>
          <p:nvPr/>
        </p:nvSpPr>
        <p:spPr>
          <a:xfrm>
            <a:off x="0" y="4205251"/>
            <a:ext cx="6096000" cy="2308324"/>
          </a:xfrm>
          <a:prstGeom prst="rect">
            <a:avLst/>
          </a:prstGeom>
        </p:spPr>
        <p:txBody>
          <a:bodyPr>
            <a:spAutoFit/>
          </a:bodyPr>
          <a:lstStyle/>
          <a:p>
            <a:r>
              <a:rPr lang="en-US" b="1" dirty="0">
                <a:solidFill>
                  <a:schemeClr val="accent1">
                    <a:lumMod val="75000"/>
                  </a:schemeClr>
                </a:solidFill>
              </a:rPr>
              <a:t>Advantages</a:t>
            </a:r>
          </a:p>
          <a:p>
            <a:pPr>
              <a:buFont typeface="Arial" panose="020B0604020202020204" pitchFamily="34" charset="0"/>
              <a:buChar char="•"/>
            </a:pPr>
            <a:r>
              <a:rPr lang="en-US" dirty="0"/>
              <a:t>Simple and easy to implement. </a:t>
            </a:r>
          </a:p>
          <a:p>
            <a:pPr>
              <a:buFont typeface="Arial" panose="020B0604020202020204" pitchFamily="34" charset="0"/>
              <a:buChar char="•"/>
            </a:pPr>
            <a:r>
              <a:rPr lang="en-US" dirty="0"/>
              <a:t>Works well for basic text classification. </a:t>
            </a:r>
          </a:p>
          <a:p>
            <a:pPr>
              <a:buFont typeface="Arial" panose="020B0604020202020204" pitchFamily="34" charset="0"/>
              <a:buChar char="•"/>
            </a:pPr>
            <a:r>
              <a:rPr lang="en-US" dirty="0"/>
              <a:t>Fast computation. </a:t>
            </a:r>
          </a:p>
          <a:p>
            <a:r>
              <a:rPr lang="en-US" b="1" dirty="0">
                <a:solidFill>
                  <a:schemeClr val="accent1">
                    <a:lumMod val="75000"/>
                  </a:schemeClr>
                </a:solidFill>
              </a:rPr>
              <a:t>Disadvantages</a:t>
            </a:r>
          </a:p>
          <a:p>
            <a:pPr>
              <a:buFont typeface="Arial" panose="020B0604020202020204" pitchFamily="34" charset="0"/>
              <a:buChar char="•"/>
            </a:pPr>
            <a:r>
              <a:rPr lang="en-US" dirty="0"/>
              <a:t>Ignores word order. </a:t>
            </a:r>
          </a:p>
          <a:p>
            <a:pPr>
              <a:buFont typeface="Arial" panose="020B0604020202020204" pitchFamily="34" charset="0"/>
              <a:buChar char="•"/>
            </a:pPr>
            <a:r>
              <a:rPr lang="en-US" dirty="0"/>
              <a:t>Large vocabulary increases dimensionality. </a:t>
            </a:r>
          </a:p>
          <a:p>
            <a:pPr>
              <a:buFont typeface="Arial" panose="020B0604020202020204" pitchFamily="34" charset="0"/>
              <a:buChar char="•"/>
            </a:pPr>
            <a:r>
              <a:rPr lang="en-US" dirty="0"/>
              <a:t>Treats all words as equally important. </a:t>
            </a:r>
          </a:p>
        </p:txBody>
      </p:sp>
      <p:sp>
        <p:nvSpPr>
          <p:cNvPr id="10" name="Rectangle 9">
            <a:extLst>
              <a:ext uri="{FF2B5EF4-FFF2-40B4-BE49-F238E27FC236}">
                <a16:creationId xmlns:a16="http://schemas.microsoft.com/office/drawing/2014/main" id="{217BC45B-339A-480E-9D92-577FE3AFE186}"/>
              </a:ext>
            </a:extLst>
          </p:cNvPr>
          <p:cNvSpPr/>
          <p:nvPr/>
        </p:nvSpPr>
        <p:spPr>
          <a:xfrm>
            <a:off x="5838825" y="966918"/>
            <a:ext cx="6096000" cy="1231106"/>
          </a:xfrm>
          <a:prstGeom prst="rect">
            <a:avLst/>
          </a:prstGeom>
        </p:spPr>
        <p:txBody>
          <a:bodyPr>
            <a:spAutoFit/>
          </a:bodyPr>
          <a:lstStyle/>
          <a:p>
            <a:r>
              <a:rPr lang="en-US" b="1" dirty="0">
                <a:solidFill>
                  <a:schemeClr val="accent1">
                    <a:lumMod val="75000"/>
                  </a:schemeClr>
                </a:solidFill>
                <a:effectLst>
                  <a:outerShdw blurRad="38100" dist="38100" dir="2700000" algn="tl">
                    <a:srgbClr val="000000">
                      <a:alpha val="43137"/>
                    </a:srgbClr>
                  </a:outerShdw>
                </a:effectLst>
              </a:rPr>
              <a:t>2. </a:t>
            </a:r>
            <a:r>
              <a:rPr lang="en-US" sz="2000" b="1" dirty="0">
                <a:solidFill>
                  <a:schemeClr val="accent1">
                    <a:lumMod val="75000"/>
                  </a:schemeClr>
                </a:solidFill>
                <a:effectLst>
                  <a:outerShdw blurRad="38100" dist="38100" dir="2700000" algn="tl">
                    <a:srgbClr val="000000">
                      <a:alpha val="43137"/>
                    </a:srgbClr>
                  </a:outerShdw>
                </a:effectLst>
              </a:rPr>
              <a:t>TF-IDF Vectorization</a:t>
            </a:r>
            <a:endParaRPr lang="en-US" b="1" dirty="0"/>
          </a:p>
          <a:p>
            <a:r>
              <a:rPr lang="en-US" b="1" dirty="0">
                <a:solidFill>
                  <a:schemeClr val="accent1">
                    <a:lumMod val="75000"/>
                  </a:schemeClr>
                </a:solidFill>
              </a:rPr>
              <a:t>TF-IDF (Term Frequency–Inverse Document Frequency)</a:t>
            </a:r>
            <a:r>
              <a:rPr lang="en-US" dirty="0">
                <a:solidFill>
                  <a:schemeClr val="accent1">
                    <a:lumMod val="75000"/>
                  </a:schemeClr>
                </a:solidFill>
              </a:rPr>
              <a:t> </a:t>
            </a:r>
            <a:r>
              <a:rPr lang="en-US" dirty="0"/>
              <a:t>is a feature extraction technique that measures the importance of a word in a document relative to a collection of documents.</a:t>
            </a:r>
          </a:p>
        </p:txBody>
      </p:sp>
      <p:sp>
        <p:nvSpPr>
          <p:cNvPr id="11" name="Rectangle 10">
            <a:extLst>
              <a:ext uri="{FF2B5EF4-FFF2-40B4-BE49-F238E27FC236}">
                <a16:creationId xmlns:a16="http://schemas.microsoft.com/office/drawing/2014/main" id="{99B0096F-D4D6-49DC-A068-F3E81C2C5741}"/>
              </a:ext>
            </a:extLst>
          </p:cNvPr>
          <p:cNvSpPr/>
          <p:nvPr/>
        </p:nvSpPr>
        <p:spPr>
          <a:xfrm>
            <a:off x="6010275" y="2733039"/>
            <a:ext cx="6096000" cy="923330"/>
          </a:xfrm>
          <a:prstGeom prst="rect">
            <a:avLst/>
          </a:prstGeom>
        </p:spPr>
        <p:txBody>
          <a:bodyPr>
            <a:spAutoFit/>
          </a:bodyPr>
          <a:lstStyle/>
          <a:p>
            <a:r>
              <a:rPr lang="en-IN" dirty="0"/>
              <a:t>                (Number of times a word appears in a document)</a:t>
            </a:r>
          </a:p>
          <a:p>
            <a:r>
              <a:rPr lang="en-IN" dirty="0"/>
              <a:t> TF =       ------------------------------------------------------------------</a:t>
            </a:r>
          </a:p>
          <a:p>
            <a:r>
              <a:rPr lang="en-IN" dirty="0"/>
              <a:t>                       Total number of words in the document</a:t>
            </a:r>
          </a:p>
        </p:txBody>
      </p:sp>
      <p:sp>
        <p:nvSpPr>
          <p:cNvPr id="12" name="Rectangle 11">
            <a:extLst>
              <a:ext uri="{FF2B5EF4-FFF2-40B4-BE49-F238E27FC236}">
                <a16:creationId xmlns:a16="http://schemas.microsoft.com/office/drawing/2014/main" id="{5DE4F483-FCEC-4411-8C93-3C0593786299}"/>
              </a:ext>
            </a:extLst>
          </p:cNvPr>
          <p:cNvSpPr/>
          <p:nvPr/>
        </p:nvSpPr>
        <p:spPr>
          <a:xfrm>
            <a:off x="5838827" y="2280395"/>
            <a:ext cx="973728" cy="369332"/>
          </a:xfrm>
          <a:prstGeom prst="rect">
            <a:avLst/>
          </a:prstGeom>
        </p:spPr>
        <p:txBody>
          <a:bodyPr wrap="none">
            <a:spAutoFit/>
          </a:bodyPr>
          <a:lstStyle/>
          <a:p>
            <a:r>
              <a:rPr lang="en-IN" b="1" dirty="0">
                <a:solidFill>
                  <a:schemeClr val="accent1">
                    <a:lumMod val="75000"/>
                  </a:schemeClr>
                </a:solidFill>
              </a:rPr>
              <a:t>Formula</a:t>
            </a:r>
          </a:p>
        </p:txBody>
      </p:sp>
      <p:sp>
        <p:nvSpPr>
          <p:cNvPr id="13" name="Rectangle 12">
            <a:extLst>
              <a:ext uri="{FF2B5EF4-FFF2-40B4-BE49-F238E27FC236}">
                <a16:creationId xmlns:a16="http://schemas.microsoft.com/office/drawing/2014/main" id="{F45B11AA-A8A7-40B0-90C8-A2F55964A01D}"/>
              </a:ext>
            </a:extLst>
          </p:cNvPr>
          <p:cNvSpPr/>
          <p:nvPr/>
        </p:nvSpPr>
        <p:spPr>
          <a:xfrm>
            <a:off x="5794274" y="4088046"/>
            <a:ext cx="6096000" cy="2031325"/>
          </a:xfrm>
          <a:prstGeom prst="rect">
            <a:avLst/>
          </a:prstGeom>
        </p:spPr>
        <p:txBody>
          <a:bodyPr>
            <a:spAutoFit/>
          </a:bodyPr>
          <a:lstStyle/>
          <a:p>
            <a:r>
              <a:rPr lang="en-US" b="1" dirty="0">
                <a:solidFill>
                  <a:schemeClr val="accent1">
                    <a:lumMod val="75000"/>
                  </a:schemeClr>
                </a:solidFill>
              </a:rPr>
              <a:t>Advantages</a:t>
            </a:r>
          </a:p>
          <a:p>
            <a:pPr>
              <a:buFont typeface="Arial" panose="020B0604020202020204" pitchFamily="34" charset="0"/>
              <a:buChar char="•"/>
            </a:pPr>
            <a:r>
              <a:rPr lang="en-US" dirty="0"/>
              <a:t>Gives more importance to meaningful words. </a:t>
            </a:r>
          </a:p>
          <a:p>
            <a:pPr>
              <a:buFont typeface="Arial" panose="020B0604020202020204" pitchFamily="34" charset="0"/>
              <a:buChar char="•"/>
            </a:pPr>
            <a:r>
              <a:rPr lang="en-US" dirty="0"/>
              <a:t>Reduces the impact of common words. </a:t>
            </a:r>
          </a:p>
          <a:p>
            <a:pPr>
              <a:buFont typeface="Arial" panose="020B0604020202020204" pitchFamily="34" charset="0"/>
              <a:buChar char="•"/>
            </a:pPr>
            <a:r>
              <a:rPr lang="en-US" dirty="0"/>
              <a:t>Improves classification accuracy. </a:t>
            </a:r>
          </a:p>
          <a:p>
            <a:r>
              <a:rPr lang="en-US" b="1" dirty="0">
                <a:solidFill>
                  <a:schemeClr val="accent1">
                    <a:lumMod val="75000"/>
                  </a:schemeClr>
                </a:solidFill>
              </a:rPr>
              <a:t>Disadvantages</a:t>
            </a:r>
          </a:p>
          <a:p>
            <a:pPr>
              <a:buFont typeface="Arial" panose="020B0604020202020204" pitchFamily="34" charset="0"/>
              <a:buChar char="•"/>
            </a:pPr>
            <a:r>
              <a:rPr lang="en-US" dirty="0"/>
              <a:t>More computationally expensive than BoW. </a:t>
            </a:r>
          </a:p>
          <a:p>
            <a:pPr>
              <a:buFont typeface="Arial" panose="020B0604020202020204" pitchFamily="34" charset="0"/>
              <a:buChar char="•"/>
            </a:pPr>
            <a:r>
              <a:rPr lang="en-US" dirty="0"/>
              <a:t>Does not capture word meaning or context. </a:t>
            </a:r>
          </a:p>
        </p:txBody>
      </p:sp>
    </p:spTree>
    <p:extLst>
      <p:ext uri="{BB962C8B-B14F-4D97-AF65-F5344CB8AC3E}">
        <p14:creationId xmlns:p14="http://schemas.microsoft.com/office/powerpoint/2010/main" val="35367861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63D022-57A7-450F-A3DB-C8616DFFED06}"/>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0A7BC32C-6E61-4EE6-8192-488BD01656DD}"/>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4A023BF8-B27B-4A7F-9E55-4E819571E21A}"/>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5735BEC0-EE07-4DA0-AE57-C7A156EF1F40}"/>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Rectangle 5">
            <a:extLst>
              <a:ext uri="{FF2B5EF4-FFF2-40B4-BE49-F238E27FC236}">
                <a16:creationId xmlns:a16="http://schemas.microsoft.com/office/drawing/2014/main" id="{2CE6F612-512F-4528-AE06-BE1B02DE7D2C}"/>
              </a:ext>
            </a:extLst>
          </p:cNvPr>
          <p:cNvSpPr/>
          <p:nvPr/>
        </p:nvSpPr>
        <p:spPr>
          <a:xfrm>
            <a:off x="0" y="888468"/>
            <a:ext cx="6096000" cy="1231106"/>
          </a:xfrm>
          <a:prstGeom prst="rect">
            <a:avLst/>
          </a:prstGeom>
        </p:spPr>
        <p:txBody>
          <a:bodyPr>
            <a:spAutoFit/>
          </a:bodyPr>
          <a:lstStyle/>
          <a:p>
            <a:r>
              <a:rPr lang="en-US" sz="2000" b="1" dirty="0">
                <a:solidFill>
                  <a:schemeClr val="accent1">
                    <a:lumMod val="75000"/>
                  </a:schemeClr>
                </a:solidFill>
                <a:effectLst>
                  <a:outerShdw blurRad="38100" dist="38100" dir="2700000" algn="tl">
                    <a:srgbClr val="000000">
                      <a:alpha val="43137"/>
                    </a:srgbClr>
                  </a:outerShdw>
                </a:effectLst>
              </a:rPr>
              <a:t>3. Naive Bayes Text Classifier</a:t>
            </a:r>
            <a:endParaRPr lang="en-US" b="1" dirty="0"/>
          </a:p>
          <a:p>
            <a:r>
              <a:rPr lang="en-US" dirty="0"/>
              <a:t>A </a:t>
            </a:r>
            <a:r>
              <a:rPr lang="en-US" b="1" dirty="0"/>
              <a:t>Naive Bayes classifier</a:t>
            </a:r>
            <a:r>
              <a:rPr lang="en-US" dirty="0"/>
              <a:t> is a probabilistic machine learning algorithm based on </a:t>
            </a:r>
            <a:r>
              <a:rPr lang="en-US" b="1" dirty="0"/>
              <a:t>Bayes' Theorem</a:t>
            </a:r>
            <a:r>
              <a:rPr lang="en-US" dirty="0"/>
              <a:t>. It is widely used for text classification because it is fast, simple, and effective.</a:t>
            </a:r>
          </a:p>
        </p:txBody>
      </p:sp>
      <p:sp>
        <p:nvSpPr>
          <p:cNvPr id="8" name="Rectangle 7">
            <a:extLst>
              <a:ext uri="{FF2B5EF4-FFF2-40B4-BE49-F238E27FC236}">
                <a16:creationId xmlns:a16="http://schemas.microsoft.com/office/drawing/2014/main" id="{709EFA85-84C8-4333-BB1C-32BF8BB2AB85}"/>
              </a:ext>
            </a:extLst>
          </p:cNvPr>
          <p:cNvSpPr/>
          <p:nvPr/>
        </p:nvSpPr>
        <p:spPr>
          <a:xfrm>
            <a:off x="341325" y="2315760"/>
            <a:ext cx="5145075" cy="2031325"/>
          </a:xfrm>
          <a:prstGeom prst="rect">
            <a:avLst/>
          </a:prstGeom>
        </p:spPr>
        <p:txBody>
          <a:bodyPr wrap="square">
            <a:spAutoFit/>
          </a:bodyPr>
          <a:lstStyle/>
          <a:p>
            <a:r>
              <a:rPr lang="en-IN" sz="1400" dirty="0"/>
              <a:t>             Input Text</a:t>
            </a:r>
          </a:p>
          <a:p>
            <a:r>
              <a:rPr lang="en-IN" sz="1400" dirty="0"/>
              <a:t>                   ↓</a:t>
            </a:r>
          </a:p>
          <a:p>
            <a:r>
              <a:rPr lang="en-IN" sz="1400" dirty="0"/>
              <a:t>      Text Preprocessing</a:t>
            </a:r>
          </a:p>
          <a:p>
            <a:r>
              <a:rPr lang="en-IN" sz="1400" dirty="0"/>
              <a:t>                   ↓</a:t>
            </a:r>
          </a:p>
          <a:p>
            <a:r>
              <a:rPr lang="en-IN" sz="1400" dirty="0"/>
              <a:t>BoW / TF-IDF Vectorization</a:t>
            </a:r>
          </a:p>
          <a:p>
            <a:r>
              <a:rPr lang="en-IN" sz="1400" dirty="0"/>
              <a:t>                   ↓</a:t>
            </a:r>
          </a:p>
          <a:p>
            <a:r>
              <a:rPr lang="en-IN" sz="1400" dirty="0"/>
              <a:t>      Naive Bayes Classifier</a:t>
            </a:r>
          </a:p>
          <a:p>
            <a:r>
              <a:rPr lang="en-IN" sz="1400" dirty="0"/>
              <a:t>                   ↓</a:t>
            </a:r>
          </a:p>
          <a:p>
            <a:r>
              <a:rPr lang="en-IN" sz="1400" dirty="0"/>
              <a:t>        Predicted Category</a:t>
            </a:r>
          </a:p>
        </p:txBody>
      </p:sp>
      <p:sp>
        <p:nvSpPr>
          <p:cNvPr id="9" name="Rectangle 8">
            <a:extLst>
              <a:ext uri="{FF2B5EF4-FFF2-40B4-BE49-F238E27FC236}">
                <a16:creationId xmlns:a16="http://schemas.microsoft.com/office/drawing/2014/main" id="{F481C9BB-5F55-47D4-97BB-385D85A64136}"/>
              </a:ext>
            </a:extLst>
          </p:cNvPr>
          <p:cNvSpPr/>
          <p:nvPr/>
        </p:nvSpPr>
        <p:spPr>
          <a:xfrm>
            <a:off x="950693" y="2000018"/>
            <a:ext cx="1232132" cy="400110"/>
          </a:xfrm>
          <a:prstGeom prst="rect">
            <a:avLst/>
          </a:prstGeom>
        </p:spPr>
        <p:txBody>
          <a:bodyPr wrap="none">
            <a:spAutoFit/>
          </a:bodyPr>
          <a:lstStyle/>
          <a:p>
            <a:r>
              <a:rPr lang="en-IN" sz="2000" b="1" dirty="0">
                <a:solidFill>
                  <a:schemeClr val="accent1">
                    <a:lumMod val="75000"/>
                  </a:schemeClr>
                </a:solidFill>
                <a:effectLst>
                  <a:outerShdw blurRad="38100" dist="38100" dir="2700000" algn="tl">
                    <a:srgbClr val="000000">
                      <a:alpha val="43137"/>
                    </a:srgbClr>
                  </a:outerShdw>
                </a:effectLst>
              </a:rPr>
              <a:t>Workflow</a:t>
            </a:r>
          </a:p>
        </p:txBody>
      </p:sp>
      <p:sp>
        <p:nvSpPr>
          <p:cNvPr id="10" name="Rectangle 9">
            <a:extLst>
              <a:ext uri="{FF2B5EF4-FFF2-40B4-BE49-F238E27FC236}">
                <a16:creationId xmlns:a16="http://schemas.microsoft.com/office/drawing/2014/main" id="{F94907EF-563D-4D3F-B7D5-E552E035ADCD}"/>
              </a:ext>
            </a:extLst>
          </p:cNvPr>
          <p:cNvSpPr/>
          <p:nvPr/>
        </p:nvSpPr>
        <p:spPr>
          <a:xfrm>
            <a:off x="6124575" y="888468"/>
            <a:ext cx="6096000" cy="954107"/>
          </a:xfrm>
          <a:prstGeom prst="rect">
            <a:avLst/>
          </a:prstGeom>
        </p:spPr>
        <p:txBody>
          <a:bodyPr>
            <a:spAutoFit/>
          </a:bodyPr>
          <a:lstStyle/>
          <a:p>
            <a:r>
              <a:rPr lang="en-US" sz="2000" b="1" dirty="0">
                <a:solidFill>
                  <a:schemeClr val="accent1">
                    <a:lumMod val="75000"/>
                  </a:schemeClr>
                </a:solidFill>
                <a:effectLst>
                  <a:outerShdw blurRad="38100" dist="38100" dir="2700000" algn="tl">
                    <a:srgbClr val="000000">
                      <a:alpha val="43137"/>
                    </a:srgbClr>
                  </a:outerShdw>
                </a:effectLst>
              </a:rPr>
              <a:t>4. Sentiment Analysis Basics</a:t>
            </a:r>
            <a:endParaRPr lang="en-US" b="1" dirty="0"/>
          </a:p>
          <a:p>
            <a:r>
              <a:rPr lang="en-US" b="1" dirty="0"/>
              <a:t>Sentiment Analysis</a:t>
            </a:r>
            <a:r>
              <a:rPr lang="en-US" dirty="0"/>
              <a:t> is an NLP technique used to determine the emotional tone or opinion expressed in text.</a:t>
            </a:r>
          </a:p>
        </p:txBody>
      </p:sp>
      <p:sp>
        <p:nvSpPr>
          <p:cNvPr id="11" name="Rectangle 10">
            <a:extLst>
              <a:ext uri="{FF2B5EF4-FFF2-40B4-BE49-F238E27FC236}">
                <a16:creationId xmlns:a16="http://schemas.microsoft.com/office/drawing/2014/main" id="{F871F34E-FFC4-4F6B-89DD-E1588C6B2F9D}"/>
              </a:ext>
            </a:extLst>
          </p:cNvPr>
          <p:cNvSpPr/>
          <p:nvPr/>
        </p:nvSpPr>
        <p:spPr>
          <a:xfrm>
            <a:off x="7628053" y="2224569"/>
            <a:ext cx="6096000" cy="2092881"/>
          </a:xfrm>
          <a:prstGeom prst="rect">
            <a:avLst/>
          </a:prstGeom>
        </p:spPr>
        <p:txBody>
          <a:bodyPr>
            <a:spAutoFit/>
          </a:bodyPr>
          <a:lstStyle/>
          <a:p>
            <a:r>
              <a:rPr lang="en-IN" dirty="0"/>
              <a:t>               </a:t>
            </a:r>
            <a:r>
              <a:rPr lang="en-IN" sz="1400" dirty="0"/>
              <a:t>Text Input</a:t>
            </a:r>
          </a:p>
          <a:p>
            <a:r>
              <a:rPr lang="en-IN" sz="1400" dirty="0"/>
              <a:t>                    ↓</a:t>
            </a:r>
          </a:p>
          <a:p>
            <a:r>
              <a:rPr lang="en-IN" sz="1400" dirty="0"/>
              <a:t>        Text Preprocessing</a:t>
            </a:r>
          </a:p>
          <a:p>
            <a:r>
              <a:rPr lang="en-IN" sz="1400" dirty="0"/>
              <a:t>                    ↓</a:t>
            </a:r>
          </a:p>
          <a:p>
            <a:r>
              <a:rPr lang="en-IN" sz="1400" dirty="0"/>
              <a:t>Feature Extraction (BoW / TF-IDF)</a:t>
            </a:r>
          </a:p>
          <a:p>
            <a:r>
              <a:rPr lang="en-IN" sz="1400" dirty="0"/>
              <a:t>                    ↓</a:t>
            </a:r>
          </a:p>
          <a:p>
            <a:r>
              <a:rPr lang="en-IN" sz="1400" dirty="0"/>
              <a:t>     Machine Learning Model</a:t>
            </a:r>
          </a:p>
          <a:p>
            <a:r>
              <a:rPr lang="en-IN" sz="1400" dirty="0"/>
              <a:t>                    ↓</a:t>
            </a:r>
          </a:p>
          <a:p>
            <a:r>
              <a:rPr lang="en-IN" sz="1400" dirty="0"/>
              <a:t>  Positive / Negative / Neutral</a:t>
            </a:r>
          </a:p>
        </p:txBody>
      </p:sp>
      <p:sp>
        <p:nvSpPr>
          <p:cNvPr id="12" name="Rectangle 11">
            <a:extLst>
              <a:ext uri="{FF2B5EF4-FFF2-40B4-BE49-F238E27FC236}">
                <a16:creationId xmlns:a16="http://schemas.microsoft.com/office/drawing/2014/main" id="{8E3B7720-F781-4D24-B523-CF49E6FC8602}"/>
              </a:ext>
            </a:extLst>
          </p:cNvPr>
          <p:cNvSpPr/>
          <p:nvPr/>
        </p:nvSpPr>
        <p:spPr>
          <a:xfrm>
            <a:off x="8272243" y="1928920"/>
            <a:ext cx="1232132" cy="400110"/>
          </a:xfrm>
          <a:prstGeom prst="rect">
            <a:avLst/>
          </a:prstGeom>
        </p:spPr>
        <p:txBody>
          <a:bodyPr wrap="none">
            <a:spAutoFit/>
          </a:bodyPr>
          <a:lstStyle/>
          <a:p>
            <a:r>
              <a:rPr lang="en-IN" sz="2000" b="1" dirty="0">
                <a:solidFill>
                  <a:schemeClr val="accent1">
                    <a:lumMod val="75000"/>
                  </a:schemeClr>
                </a:solidFill>
                <a:effectLst>
                  <a:outerShdw blurRad="38100" dist="38100" dir="2700000" algn="tl">
                    <a:srgbClr val="000000">
                      <a:alpha val="43137"/>
                    </a:srgbClr>
                  </a:outerShdw>
                </a:effectLst>
              </a:rPr>
              <a:t>Workflow</a:t>
            </a:r>
          </a:p>
        </p:txBody>
      </p:sp>
      <p:sp>
        <p:nvSpPr>
          <p:cNvPr id="13" name="Rectangle 12">
            <a:extLst>
              <a:ext uri="{FF2B5EF4-FFF2-40B4-BE49-F238E27FC236}">
                <a16:creationId xmlns:a16="http://schemas.microsoft.com/office/drawing/2014/main" id="{8A9A196B-B366-45BA-BC0F-81921CB5AC48}"/>
              </a:ext>
            </a:extLst>
          </p:cNvPr>
          <p:cNvSpPr/>
          <p:nvPr/>
        </p:nvSpPr>
        <p:spPr>
          <a:xfrm>
            <a:off x="85725" y="4287512"/>
            <a:ext cx="4810125" cy="2308324"/>
          </a:xfrm>
          <a:prstGeom prst="rect">
            <a:avLst/>
          </a:prstGeom>
        </p:spPr>
        <p:txBody>
          <a:bodyPr wrap="square">
            <a:spAutoFit/>
          </a:bodyPr>
          <a:lstStyle/>
          <a:p>
            <a:r>
              <a:rPr lang="en-US" b="1" dirty="0">
                <a:solidFill>
                  <a:schemeClr val="accent1">
                    <a:lumMod val="75000"/>
                  </a:schemeClr>
                </a:solidFill>
              </a:rPr>
              <a:t>Advantages</a:t>
            </a:r>
          </a:p>
          <a:p>
            <a:pPr>
              <a:buFont typeface="Arial" panose="020B0604020202020204" pitchFamily="34" charset="0"/>
              <a:buChar char="•"/>
            </a:pPr>
            <a:r>
              <a:rPr lang="en-US" dirty="0"/>
              <a:t>Fast training and prediction. </a:t>
            </a:r>
          </a:p>
          <a:p>
            <a:pPr>
              <a:buFont typeface="Arial" panose="020B0604020202020204" pitchFamily="34" charset="0"/>
              <a:buChar char="•"/>
            </a:pPr>
            <a:r>
              <a:rPr lang="en-US" dirty="0"/>
              <a:t>Performs well on high-dimensional text data. </a:t>
            </a:r>
          </a:p>
          <a:p>
            <a:pPr>
              <a:buFont typeface="Arial" panose="020B0604020202020204" pitchFamily="34" charset="0"/>
              <a:buChar char="•"/>
            </a:pPr>
            <a:r>
              <a:rPr lang="en-US" dirty="0"/>
              <a:t>Works well with small datasets. </a:t>
            </a:r>
          </a:p>
          <a:p>
            <a:r>
              <a:rPr lang="en-US" b="1" dirty="0">
                <a:solidFill>
                  <a:schemeClr val="accent1">
                    <a:lumMod val="75000"/>
                  </a:schemeClr>
                </a:solidFill>
              </a:rPr>
              <a:t>Limitations</a:t>
            </a:r>
          </a:p>
          <a:p>
            <a:pPr>
              <a:buFont typeface="Arial" panose="020B0604020202020204" pitchFamily="34" charset="0"/>
              <a:buChar char="•"/>
            </a:pPr>
            <a:r>
              <a:rPr lang="en-US" dirty="0"/>
              <a:t>Assumes all features are independent. </a:t>
            </a:r>
          </a:p>
          <a:p>
            <a:pPr>
              <a:buFont typeface="Arial" panose="020B0604020202020204" pitchFamily="34" charset="0"/>
              <a:buChar char="•"/>
            </a:pPr>
            <a:r>
              <a:rPr lang="en-US" dirty="0"/>
              <a:t>May perform poorly when features are strongly related. </a:t>
            </a:r>
          </a:p>
        </p:txBody>
      </p:sp>
      <p:sp>
        <p:nvSpPr>
          <p:cNvPr id="14" name="Rectangle 13">
            <a:extLst>
              <a:ext uri="{FF2B5EF4-FFF2-40B4-BE49-F238E27FC236}">
                <a16:creationId xmlns:a16="http://schemas.microsoft.com/office/drawing/2014/main" id="{E4108C76-AA81-41B4-8036-8A4BDE30DC45}"/>
              </a:ext>
            </a:extLst>
          </p:cNvPr>
          <p:cNvSpPr/>
          <p:nvPr/>
        </p:nvSpPr>
        <p:spPr>
          <a:xfrm>
            <a:off x="6381750" y="4313313"/>
            <a:ext cx="6096000" cy="1200329"/>
          </a:xfrm>
          <a:prstGeom prst="rect">
            <a:avLst/>
          </a:prstGeom>
        </p:spPr>
        <p:txBody>
          <a:bodyPr>
            <a:spAutoFit/>
          </a:bodyPr>
          <a:lstStyle/>
          <a:p>
            <a:r>
              <a:rPr lang="en-US" b="1" dirty="0">
                <a:solidFill>
                  <a:schemeClr val="accent1">
                    <a:lumMod val="75000"/>
                  </a:schemeClr>
                </a:solidFill>
              </a:rPr>
              <a:t>Advantages</a:t>
            </a:r>
          </a:p>
          <a:p>
            <a:pPr>
              <a:buFont typeface="Arial" panose="020B0604020202020204" pitchFamily="34" charset="0"/>
              <a:buChar char="•"/>
            </a:pPr>
            <a:r>
              <a:rPr lang="en-US" dirty="0"/>
              <a:t>Understands customer opinions. </a:t>
            </a:r>
          </a:p>
          <a:p>
            <a:pPr>
              <a:buFont typeface="Arial" panose="020B0604020202020204" pitchFamily="34" charset="0"/>
              <a:buChar char="•"/>
            </a:pPr>
            <a:r>
              <a:rPr lang="en-US" dirty="0"/>
              <a:t>Helps businesses improve products and services. </a:t>
            </a:r>
          </a:p>
          <a:p>
            <a:pPr>
              <a:buFont typeface="Arial" panose="020B0604020202020204" pitchFamily="34" charset="0"/>
              <a:buChar char="•"/>
            </a:pPr>
            <a:r>
              <a:rPr lang="en-US" dirty="0"/>
              <a:t>Supports decision-making using customer feedback. </a:t>
            </a:r>
          </a:p>
        </p:txBody>
      </p:sp>
      <p:sp>
        <p:nvSpPr>
          <p:cNvPr id="18" name="Rectangle 2">
            <a:extLst>
              <a:ext uri="{FF2B5EF4-FFF2-40B4-BE49-F238E27FC236}">
                <a16:creationId xmlns:a16="http://schemas.microsoft.com/office/drawing/2014/main" id="{B6609CED-8509-4C50-85DA-7B1F8445E258}"/>
              </a:ext>
            </a:extLst>
          </p:cNvPr>
          <p:cNvSpPr>
            <a:spLocks noChangeArrowheads="1"/>
          </p:cNvSpPr>
          <p:nvPr/>
        </p:nvSpPr>
        <p:spPr bwMode="auto">
          <a:xfrm>
            <a:off x="6381750" y="5374382"/>
            <a:ext cx="5642891"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Struggles with negation words such as </a:t>
            </a:r>
            <a:r>
              <a:rPr kumimoji="0" lang="en-US" altLang="en-US" sz="1600" b="1" i="0" u="none" strike="noStrike" cap="none" normalizeH="0" baseline="0" dirty="0">
                <a:ln>
                  <a:noFill/>
                </a:ln>
                <a:solidFill>
                  <a:schemeClr val="tx1"/>
                </a:solidFill>
                <a:effectLst/>
                <a:latin typeface="Arial" panose="020B0604020202020204" pitchFamily="34" charset="0"/>
              </a:rPr>
              <a:t>"not"</a:t>
            </a:r>
            <a:r>
              <a:rPr kumimoji="0" lang="en-US" altLang="en-US" sz="1600" b="0" i="0" u="none" strike="noStrike" cap="none" normalizeH="0" baseline="0" dirty="0">
                <a:ln>
                  <a:noFill/>
                </a:ln>
                <a:solidFill>
                  <a:schemeClr val="tx1"/>
                </a:solidFill>
                <a:effectLst/>
                <a:latin typeface="Arial" panose="020B0604020202020204" pitchFamily="34" charset="0"/>
              </a:rPr>
              <a:t> and </a:t>
            </a:r>
            <a:r>
              <a:rPr kumimoji="0" lang="en-US" altLang="en-US" sz="1600" b="1" i="0" u="none" strike="noStrike" cap="none" normalizeH="0" baseline="0" dirty="0">
                <a:ln>
                  <a:noFill/>
                </a:ln>
                <a:solidFill>
                  <a:schemeClr val="tx1"/>
                </a:solidFill>
                <a:effectLst/>
                <a:latin typeface="Arial" panose="020B0604020202020204" pitchFamily="34" charset="0"/>
              </a:rPr>
              <a:t>"never"</a:t>
            </a:r>
            <a:r>
              <a:rPr kumimoji="0" lang="en-US" altLang="en-US" sz="16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Has difficulty handling mixed or conflicting sentiments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Cannot accurately detect sarcasm or irony. </a:t>
            </a:r>
          </a:p>
        </p:txBody>
      </p:sp>
      <p:sp>
        <p:nvSpPr>
          <p:cNvPr id="19" name="Rectangle 18">
            <a:extLst>
              <a:ext uri="{FF2B5EF4-FFF2-40B4-BE49-F238E27FC236}">
                <a16:creationId xmlns:a16="http://schemas.microsoft.com/office/drawing/2014/main" id="{B600BA70-205B-4A10-B84A-A98EA0C78DEE}"/>
              </a:ext>
            </a:extLst>
          </p:cNvPr>
          <p:cNvSpPr/>
          <p:nvPr/>
        </p:nvSpPr>
        <p:spPr>
          <a:xfrm>
            <a:off x="6381750" y="5398804"/>
            <a:ext cx="1246303" cy="369332"/>
          </a:xfrm>
          <a:prstGeom prst="rect">
            <a:avLst/>
          </a:prstGeom>
        </p:spPr>
        <p:txBody>
          <a:bodyPr wrap="none">
            <a:spAutoFit/>
          </a:bodyPr>
          <a:lstStyle/>
          <a:p>
            <a:r>
              <a:rPr lang="en-IN" b="1" dirty="0">
                <a:solidFill>
                  <a:schemeClr val="accent1">
                    <a:lumMod val="75000"/>
                  </a:schemeClr>
                </a:solidFill>
              </a:rPr>
              <a:t>Limitations</a:t>
            </a:r>
          </a:p>
        </p:txBody>
      </p:sp>
    </p:spTree>
    <p:extLst>
      <p:ext uri="{BB962C8B-B14F-4D97-AF65-F5344CB8AC3E}">
        <p14:creationId xmlns:p14="http://schemas.microsoft.com/office/powerpoint/2010/main" val="28957350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63D022-57A7-450F-A3DB-C8616DFFED06}"/>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0A7BC32C-6E61-4EE6-8192-488BD01656DD}"/>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4A023BF8-B27B-4A7F-9E55-4E819571E21A}"/>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5735BEC0-EE07-4DA0-AE57-C7A156EF1F40}"/>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7" name="TextBox 6">
            <a:extLst>
              <a:ext uri="{FF2B5EF4-FFF2-40B4-BE49-F238E27FC236}">
                <a16:creationId xmlns:a16="http://schemas.microsoft.com/office/drawing/2014/main" id="{C4597CEB-A260-4874-BEB6-1D1A7A37575A}"/>
              </a:ext>
            </a:extLst>
          </p:cNvPr>
          <p:cNvSpPr txBox="1"/>
          <p:nvPr/>
        </p:nvSpPr>
        <p:spPr>
          <a:xfrm>
            <a:off x="0" y="120228"/>
            <a:ext cx="7791450" cy="523220"/>
          </a:xfrm>
          <a:prstGeom prst="rect">
            <a:avLst/>
          </a:prstGeom>
          <a:noFill/>
        </p:spPr>
        <p:txBody>
          <a:bodyPr wrap="square" rtlCol="0">
            <a:spAutoFit/>
          </a:bodyPr>
          <a:lstStyle/>
          <a:p>
            <a:r>
              <a:rPr lang="en-IN" sz="2800" b="1" dirty="0">
                <a:solidFill>
                  <a:schemeClr val="accent1">
                    <a:lumMod val="75000"/>
                  </a:schemeClr>
                </a:solidFill>
                <a:effectLst>
                  <a:outerShdw blurRad="38100" dist="38100" dir="2700000" algn="tl">
                    <a:srgbClr val="000000">
                      <a:alpha val="43137"/>
                    </a:srgbClr>
                  </a:outerShdw>
                </a:effectLst>
              </a:rPr>
              <a:t>MACHINE LEARNING CAPSTONE</a:t>
            </a:r>
          </a:p>
        </p:txBody>
      </p:sp>
      <p:sp>
        <p:nvSpPr>
          <p:cNvPr id="6" name="TextBox 5">
            <a:extLst>
              <a:ext uri="{FF2B5EF4-FFF2-40B4-BE49-F238E27FC236}">
                <a16:creationId xmlns:a16="http://schemas.microsoft.com/office/drawing/2014/main" id="{9B284BD5-C2A8-44C8-BF5E-9C3DE5D05EE3}"/>
              </a:ext>
            </a:extLst>
          </p:cNvPr>
          <p:cNvSpPr txBox="1"/>
          <p:nvPr/>
        </p:nvSpPr>
        <p:spPr>
          <a:xfrm>
            <a:off x="0" y="860241"/>
            <a:ext cx="11715750" cy="646331"/>
          </a:xfrm>
          <a:prstGeom prst="rect">
            <a:avLst/>
          </a:prstGeom>
          <a:noFill/>
        </p:spPr>
        <p:txBody>
          <a:bodyPr wrap="square" rtlCol="0">
            <a:spAutoFit/>
          </a:bodyPr>
          <a:lstStyle/>
          <a:p>
            <a:r>
              <a:rPr lang="en-US" dirty="0"/>
              <a:t>An </a:t>
            </a:r>
            <a:r>
              <a:rPr lang="en-US" b="1" dirty="0"/>
              <a:t>End-to-End Machine Learning Project Workflow</a:t>
            </a:r>
            <a:r>
              <a:rPr lang="en-US" dirty="0"/>
              <a:t> is the complete process of solving a real-world problem using Machine Learning, from understanding the problem to deploying the model.</a:t>
            </a:r>
            <a:endParaRPr lang="en-IN" dirty="0"/>
          </a:p>
        </p:txBody>
      </p:sp>
      <p:sp>
        <p:nvSpPr>
          <p:cNvPr id="8" name="Rectangle 7">
            <a:extLst>
              <a:ext uri="{FF2B5EF4-FFF2-40B4-BE49-F238E27FC236}">
                <a16:creationId xmlns:a16="http://schemas.microsoft.com/office/drawing/2014/main" id="{7A09A4BF-4C9D-4F71-B87D-36715DA2DD56}"/>
              </a:ext>
            </a:extLst>
          </p:cNvPr>
          <p:cNvSpPr/>
          <p:nvPr/>
        </p:nvSpPr>
        <p:spPr>
          <a:xfrm>
            <a:off x="200025" y="1901391"/>
            <a:ext cx="3819525" cy="4708981"/>
          </a:xfrm>
          <a:prstGeom prst="rect">
            <a:avLst/>
          </a:prstGeom>
          <a:solidFill>
            <a:schemeClr val="accent1">
              <a:lumMod val="20000"/>
              <a:lumOff val="80000"/>
            </a:schemeClr>
          </a:solidFill>
        </p:spPr>
        <p:txBody>
          <a:bodyPr wrap="square">
            <a:spAutoFit/>
          </a:bodyPr>
          <a:lstStyle/>
          <a:p>
            <a:r>
              <a:rPr lang="en-IN" sz="1200" dirty="0"/>
              <a:t>Problem Definition</a:t>
            </a:r>
          </a:p>
          <a:p>
            <a:r>
              <a:rPr lang="en-IN" sz="1200" dirty="0"/>
              <a:t>        ↓</a:t>
            </a:r>
          </a:p>
          <a:p>
            <a:r>
              <a:rPr lang="en-IN" sz="1200" dirty="0"/>
              <a:t>Data Collection</a:t>
            </a:r>
          </a:p>
          <a:p>
            <a:r>
              <a:rPr lang="en-IN" sz="1200" dirty="0"/>
              <a:t>        ↓</a:t>
            </a:r>
          </a:p>
          <a:p>
            <a:r>
              <a:rPr lang="en-IN" sz="1200" dirty="0"/>
              <a:t>Data Understanding (EDA)</a:t>
            </a:r>
          </a:p>
          <a:p>
            <a:r>
              <a:rPr lang="en-IN" sz="1200" dirty="0"/>
              <a:t>        ↓</a:t>
            </a:r>
          </a:p>
          <a:p>
            <a:r>
              <a:rPr lang="en-IN" sz="1200" dirty="0"/>
              <a:t>Data Preprocessing</a:t>
            </a:r>
          </a:p>
          <a:p>
            <a:r>
              <a:rPr lang="en-IN" sz="1200" dirty="0"/>
              <a:t>        ↓</a:t>
            </a:r>
          </a:p>
          <a:p>
            <a:r>
              <a:rPr lang="en-IN" sz="1200" dirty="0"/>
              <a:t>Feature Engineering</a:t>
            </a:r>
          </a:p>
          <a:p>
            <a:r>
              <a:rPr lang="en-IN" sz="1200" dirty="0"/>
              <a:t>        ↓</a:t>
            </a:r>
          </a:p>
          <a:p>
            <a:r>
              <a:rPr lang="en-IN" sz="1200" dirty="0"/>
              <a:t>Train-Test Split</a:t>
            </a:r>
          </a:p>
          <a:p>
            <a:r>
              <a:rPr lang="en-IN" sz="1200" dirty="0"/>
              <a:t>        ↓</a:t>
            </a:r>
          </a:p>
          <a:p>
            <a:r>
              <a:rPr lang="en-IN" sz="1200" dirty="0"/>
              <a:t>Model Selection</a:t>
            </a:r>
          </a:p>
          <a:p>
            <a:r>
              <a:rPr lang="en-IN" sz="1200" dirty="0"/>
              <a:t>        ↓</a:t>
            </a:r>
          </a:p>
          <a:p>
            <a:r>
              <a:rPr lang="en-IN" sz="1200" dirty="0"/>
              <a:t>Model Training</a:t>
            </a:r>
          </a:p>
          <a:p>
            <a:r>
              <a:rPr lang="en-IN" sz="1200" dirty="0"/>
              <a:t>        ↓</a:t>
            </a:r>
          </a:p>
          <a:p>
            <a:r>
              <a:rPr lang="en-IN" sz="1200" dirty="0"/>
              <a:t>Model Evaluation</a:t>
            </a:r>
          </a:p>
          <a:p>
            <a:r>
              <a:rPr lang="en-IN" sz="1200" dirty="0"/>
              <a:t>        ↓</a:t>
            </a:r>
          </a:p>
          <a:p>
            <a:r>
              <a:rPr lang="en-IN" sz="1200" dirty="0"/>
              <a:t>Hyperparameter Tuning</a:t>
            </a:r>
          </a:p>
          <a:p>
            <a:r>
              <a:rPr lang="en-IN" sz="1200" dirty="0"/>
              <a:t>        ↓</a:t>
            </a:r>
          </a:p>
          <a:p>
            <a:r>
              <a:rPr lang="en-IN" sz="1200" dirty="0"/>
              <a:t>Model Saving</a:t>
            </a:r>
          </a:p>
          <a:p>
            <a:r>
              <a:rPr lang="en-IN" sz="1200" dirty="0"/>
              <a:t>        ↓</a:t>
            </a:r>
          </a:p>
          <a:p>
            <a:r>
              <a:rPr lang="en-IN" sz="1200" dirty="0"/>
              <a:t>Deployment</a:t>
            </a:r>
          </a:p>
          <a:p>
            <a:r>
              <a:rPr lang="en-IN" sz="1200" dirty="0"/>
              <a:t>        ↓</a:t>
            </a:r>
          </a:p>
          <a:p>
            <a:r>
              <a:rPr lang="en-IN" sz="1200" dirty="0"/>
              <a:t>Monitoring &amp; Maintenance</a:t>
            </a:r>
          </a:p>
        </p:txBody>
      </p:sp>
      <p:sp>
        <p:nvSpPr>
          <p:cNvPr id="10" name="Rectangle 9">
            <a:extLst>
              <a:ext uri="{FF2B5EF4-FFF2-40B4-BE49-F238E27FC236}">
                <a16:creationId xmlns:a16="http://schemas.microsoft.com/office/drawing/2014/main" id="{9720A754-1031-4BC7-B2E2-B383EE2C024E}"/>
              </a:ext>
            </a:extLst>
          </p:cNvPr>
          <p:cNvSpPr/>
          <p:nvPr/>
        </p:nvSpPr>
        <p:spPr>
          <a:xfrm>
            <a:off x="106218" y="1455030"/>
            <a:ext cx="2579831" cy="400110"/>
          </a:xfrm>
          <a:prstGeom prst="rect">
            <a:avLst/>
          </a:prstGeom>
        </p:spPr>
        <p:txBody>
          <a:bodyPr wrap="square">
            <a:spAutoFit/>
          </a:bodyPr>
          <a:lstStyle/>
          <a:p>
            <a:r>
              <a:rPr lang="en-US" sz="2000" b="1" dirty="0">
                <a:solidFill>
                  <a:schemeClr val="accent1">
                    <a:lumMod val="75000"/>
                  </a:schemeClr>
                </a:solidFill>
                <a:effectLst>
                  <a:outerShdw blurRad="38100" dist="38100" dir="2700000" algn="tl">
                    <a:srgbClr val="000000">
                      <a:alpha val="43137"/>
                    </a:srgbClr>
                  </a:outerShdw>
                </a:effectLst>
              </a:rPr>
              <a:t>WORKFLOW</a:t>
            </a:r>
            <a:endParaRPr lang="en-IN" sz="2000" b="1" dirty="0">
              <a:solidFill>
                <a:schemeClr val="accent1">
                  <a:lumMod val="75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8066310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63D022-57A7-450F-A3DB-C8616DFFED06}"/>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0A7BC32C-6E61-4EE6-8192-488BD01656DD}"/>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4A023BF8-B27B-4A7F-9E55-4E819571E21A}"/>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5735BEC0-EE07-4DA0-AE57-C7A156EF1F40}"/>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7" name="TextBox 6">
            <a:extLst>
              <a:ext uri="{FF2B5EF4-FFF2-40B4-BE49-F238E27FC236}">
                <a16:creationId xmlns:a16="http://schemas.microsoft.com/office/drawing/2014/main" id="{C4597CEB-A260-4874-BEB6-1D1A7A37575A}"/>
              </a:ext>
            </a:extLst>
          </p:cNvPr>
          <p:cNvSpPr txBox="1"/>
          <p:nvPr/>
        </p:nvSpPr>
        <p:spPr>
          <a:xfrm>
            <a:off x="0" y="120228"/>
            <a:ext cx="7791450" cy="523220"/>
          </a:xfrm>
          <a:prstGeom prst="rect">
            <a:avLst/>
          </a:prstGeom>
          <a:noFill/>
        </p:spPr>
        <p:txBody>
          <a:bodyPr wrap="square" rtlCol="0">
            <a:spAutoFit/>
          </a:bodyPr>
          <a:lstStyle/>
          <a:p>
            <a:r>
              <a:rPr lang="en-IN" sz="2800" b="1" dirty="0">
                <a:solidFill>
                  <a:schemeClr val="accent1">
                    <a:lumMod val="75000"/>
                  </a:schemeClr>
                </a:solidFill>
                <a:effectLst>
                  <a:outerShdw blurRad="38100" dist="38100" dir="2700000" algn="tl">
                    <a:srgbClr val="000000">
                      <a:alpha val="43137"/>
                    </a:srgbClr>
                  </a:outerShdw>
                </a:effectLst>
              </a:rPr>
              <a:t>MACHINE LEARNING CAPSTONE</a:t>
            </a:r>
          </a:p>
        </p:txBody>
      </p:sp>
      <p:sp>
        <p:nvSpPr>
          <p:cNvPr id="6" name="Rectangle 5">
            <a:extLst>
              <a:ext uri="{FF2B5EF4-FFF2-40B4-BE49-F238E27FC236}">
                <a16:creationId xmlns:a16="http://schemas.microsoft.com/office/drawing/2014/main" id="{9DFBD961-D51F-4E73-8333-C116ADE75984}"/>
              </a:ext>
            </a:extLst>
          </p:cNvPr>
          <p:cNvSpPr/>
          <p:nvPr/>
        </p:nvSpPr>
        <p:spPr>
          <a:xfrm>
            <a:off x="0" y="933544"/>
            <a:ext cx="4972050" cy="2031325"/>
          </a:xfrm>
          <a:prstGeom prst="rect">
            <a:avLst/>
          </a:prstGeom>
        </p:spPr>
        <p:txBody>
          <a:bodyPr wrap="square">
            <a:spAutoFit/>
          </a:bodyPr>
          <a:lstStyle/>
          <a:p>
            <a:r>
              <a:rPr lang="en-US" b="1" dirty="0"/>
              <a:t>Problem: </a:t>
            </a:r>
            <a:r>
              <a:rPr lang="en-US" dirty="0"/>
              <a:t>A poorly defined problem leads to a beautifully engineered model that solves the wrong thing. Defining a problem requires translating a vague real-world objective into a concrete machine learning task.</a:t>
            </a:r>
            <a:endParaRPr lang="en-US" b="1" dirty="0"/>
          </a:p>
          <a:p>
            <a:r>
              <a:rPr lang="en-US" b="1" dirty="0"/>
              <a:t>Objective: </a:t>
            </a:r>
            <a:r>
              <a:rPr lang="en-US" dirty="0"/>
              <a:t>Clearly define what you want the model to predict.</a:t>
            </a:r>
          </a:p>
        </p:txBody>
      </p:sp>
      <p:pic>
        <p:nvPicPr>
          <p:cNvPr id="8" name="Picture 7">
            <a:extLst>
              <a:ext uri="{FF2B5EF4-FFF2-40B4-BE49-F238E27FC236}">
                <a16:creationId xmlns:a16="http://schemas.microsoft.com/office/drawing/2014/main" id="{BAB68F4B-574A-4EA0-A9EA-79E767453C4D}"/>
              </a:ext>
            </a:extLst>
          </p:cNvPr>
          <p:cNvPicPr>
            <a:picLocks noChangeAspect="1"/>
          </p:cNvPicPr>
          <p:nvPr/>
        </p:nvPicPr>
        <p:blipFill>
          <a:blip r:embed="rId4"/>
          <a:stretch>
            <a:fillRect/>
          </a:stretch>
        </p:blipFill>
        <p:spPr>
          <a:xfrm>
            <a:off x="7959695" y="950609"/>
            <a:ext cx="1536729" cy="5729591"/>
          </a:xfrm>
          <a:prstGeom prst="rect">
            <a:avLst/>
          </a:prstGeom>
        </p:spPr>
      </p:pic>
      <p:pic>
        <p:nvPicPr>
          <p:cNvPr id="9" name="Picture 8">
            <a:extLst>
              <a:ext uri="{FF2B5EF4-FFF2-40B4-BE49-F238E27FC236}">
                <a16:creationId xmlns:a16="http://schemas.microsoft.com/office/drawing/2014/main" id="{5FB2266C-434A-41CA-82B9-7A3C197BB64A}"/>
              </a:ext>
            </a:extLst>
          </p:cNvPr>
          <p:cNvPicPr>
            <a:picLocks noChangeAspect="1"/>
          </p:cNvPicPr>
          <p:nvPr/>
        </p:nvPicPr>
        <p:blipFill>
          <a:blip r:embed="rId5"/>
          <a:stretch>
            <a:fillRect/>
          </a:stretch>
        </p:blipFill>
        <p:spPr>
          <a:xfrm>
            <a:off x="0" y="3078203"/>
            <a:ext cx="7791450" cy="2042440"/>
          </a:xfrm>
          <a:prstGeom prst="rect">
            <a:avLst/>
          </a:prstGeom>
        </p:spPr>
      </p:pic>
    </p:spTree>
    <p:extLst>
      <p:ext uri="{BB962C8B-B14F-4D97-AF65-F5344CB8AC3E}">
        <p14:creationId xmlns:p14="http://schemas.microsoft.com/office/powerpoint/2010/main" val="39499685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1B07872-45C1-44D6-AEFA-8C99CBBA62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00" y="247629"/>
            <a:ext cx="10287000" cy="6362744"/>
          </a:xfrm>
          <a:prstGeom prst="rect">
            <a:avLst/>
          </a:prstGeom>
        </p:spPr>
      </p:pic>
      <p:pic>
        <p:nvPicPr>
          <p:cNvPr id="2" name="Picture 1">
            <a:extLst>
              <a:ext uri="{FF2B5EF4-FFF2-40B4-BE49-F238E27FC236}">
                <a16:creationId xmlns:a16="http://schemas.microsoft.com/office/drawing/2014/main" id="{9863D022-57A7-450F-A3DB-C8616DFFED06}"/>
              </a:ext>
            </a:extLst>
          </p:cNvPr>
          <p:cNvPicPr>
            <a:picLocks noChangeAspect="1"/>
          </p:cNvPicPr>
          <p:nvPr/>
        </p:nvPicPr>
        <p:blipFill rotWithShape="1">
          <a:blip r:embed="rId3"/>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0A7BC32C-6E61-4EE6-8192-488BD01656DD}"/>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4A023BF8-B27B-4A7F-9E55-4E819571E21A}"/>
              </a:ext>
            </a:extLst>
          </p:cNvPr>
          <p:cNvPicPr>
            <a:picLocks noChangeAspect="1"/>
          </p:cNvPicPr>
          <p:nvPr/>
        </p:nvPicPr>
        <p:blipFill>
          <a:blip r:embed="rId4"/>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5735BEC0-EE07-4DA0-AE57-C7A156EF1F40}"/>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Tree>
    <p:extLst>
      <p:ext uri="{BB962C8B-B14F-4D97-AF65-F5344CB8AC3E}">
        <p14:creationId xmlns:p14="http://schemas.microsoft.com/office/powerpoint/2010/main" val="9507999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63D022-57A7-450F-A3DB-C8616DFFED06}"/>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0A7BC32C-6E61-4EE6-8192-488BD01656DD}"/>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4A023BF8-B27B-4A7F-9E55-4E819571E21A}"/>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5735BEC0-EE07-4DA0-AE57-C7A156EF1F40}"/>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Box 5">
            <a:extLst>
              <a:ext uri="{FF2B5EF4-FFF2-40B4-BE49-F238E27FC236}">
                <a16:creationId xmlns:a16="http://schemas.microsoft.com/office/drawing/2014/main" id="{3BD40B0D-937D-4100-9DC9-8865B1F22293}"/>
              </a:ext>
            </a:extLst>
          </p:cNvPr>
          <p:cNvSpPr txBox="1"/>
          <p:nvPr/>
        </p:nvSpPr>
        <p:spPr>
          <a:xfrm>
            <a:off x="84869" y="966494"/>
            <a:ext cx="6220681" cy="4832092"/>
          </a:xfrm>
          <a:prstGeom prst="rect">
            <a:avLst/>
          </a:prstGeom>
          <a:noFill/>
        </p:spPr>
        <p:txBody>
          <a:bodyPr wrap="square" rtlCol="0">
            <a:spAutoFit/>
          </a:bodyPr>
          <a:lstStyle/>
          <a:p>
            <a:r>
              <a:rPr lang="en-US" sz="2800" b="1" dirty="0">
                <a:solidFill>
                  <a:schemeClr val="accent1">
                    <a:lumMod val="75000"/>
                  </a:schemeClr>
                </a:solidFill>
                <a:effectLst>
                  <a:outerShdw blurRad="38100" dist="38100" dir="2700000" algn="tl">
                    <a:srgbClr val="000000">
                      <a:alpha val="43137"/>
                    </a:srgbClr>
                  </a:outerShdw>
                </a:effectLst>
              </a:rPr>
              <a:t>Reporting Results with Visualisations </a:t>
            </a:r>
          </a:p>
          <a:p>
            <a:endParaRPr lang="en-US" sz="2800" b="1" dirty="0">
              <a:solidFill>
                <a:schemeClr val="accent1">
                  <a:lumMod val="75000"/>
                </a:schemeClr>
              </a:solidFill>
              <a:effectLst>
                <a:outerShdw blurRad="38100" dist="38100" dir="2700000" algn="tl">
                  <a:srgbClr val="000000">
                    <a:alpha val="43137"/>
                  </a:srgbClr>
                </a:outerShdw>
              </a:effectLst>
            </a:endParaRPr>
          </a:p>
          <a:p>
            <a:r>
              <a:rPr lang="en-US" b="1" dirty="0">
                <a:effectLst>
                  <a:outerShdw blurRad="38100" dist="38100" dir="2700000" algn="tl">
                    <a:srgbClr val="000000">
                      <a:alpha val="43137"/>
                    </a:srgbClr>
                  </a:outerShdw>
                </a:effectLst>
              </a:rPr>
              <a:t>Reporting Results with Visualisations</a:t>
            </a:r>
            <a:r>
              <a:rPr lang="en-US" dirty="0">
                <a:effectLst>
                  <a:outerShdw blurRad="38100" dist="38100" dir="2700000" algn="tl">
                    <a:srgbClr val="000000">
                      <a:alpha val="43137"/>
                    </a:srgbClr>
                  </a:outerShdw>
                </a:effectLst>
              </a:rPr>
              <a:t> </a:t>
            </a:r>
            <a:r>
              <a:rPr lang="en-US" dirty="0"/>
              <a:t>is the final stage of a Machine Learning project where you communicate the</a:t>
            </a:r>
          </a:p>
          <a:p>
            <a:r>
              <a:rPr lang="en-US" dirty="0"/>
              <a:t>performance of your model and the insights gained from the data. A good report should answer:</a:t>
            </a:r>
          </a:p>
          <a:p>
            <a:endParaRPr lang="en-US" b="1" dirty="0"/>
          </a:p>
          <a:p>
            <a:pPr marL="285750" indent="-285750">
              <a:buFont typeface="Wingdings" panose="05000000000000000000" pitchFamily="2" charset="2"/>
              <a:buChar char="Ø"/>
            </a:pPr>
            <a:r>
              <a:rPr lang="en-US" dirty="0"/>
              <a:t>How well does the model perform? </a:t>
            </a:r>
          </a:p>
          <a:p>
            <a:pPr marL="285750" indent="-285750">
              <a:buFont typeface="Wingdings" panose="05000000000000000000" pitchFamily="2" charset="2"/>
              <a:buChar char="Ø"/>
            </a:pPr>
            <a:r>
              <a:rPr lang="en-US" dirty="0"/>
              <a:t>Which features influence the prediction the most? </a:t>
            </a:r>
          </a:p>
          <a:p>
            <a:pPr marL="285750" indent="-285750">
              <a:buFont typeface="Wingdings" panose="05000000000000000000" pitchFamily="2" charset="2"/>
              <a:buChar char="Ø"/>
            </a:pPr>
            <a:r>
              <a:rPr lang="en-US" dirty="0"/>
              <a:t>What patterns exist in the data? </a:t>
            </a:r>
          </a:p>
          <a:p>
            <a:pPr marL="285750" indent="-285750">
              <a:buFont typeface="Wingdings" panose="05000000000000000000" pitchFamily="2" charset="2"/>
              <a:buChar char="Ø"/>
            </a:pPr>
            <a:r>
              <a:rPr lang="en-US" dirty="0"/>
              <a:t>Can stakeholders trust the model? </a:t>
            </a:r>
          </a:p>
          <a:p>
            <a:pPr marL="285750" indent="-285750">
              <a:buFont typeface="Wingdings" panose="05000000000000000000" pitchFamily="2" charset="2"/>
              <a:buChar char="Ø"/>
            </a:pPr>
            <a:r>
              <a:rPr lang="en-US" dirty="0"/>
              <a:t>What improvements are possible? </a:t>
            </a:r>
          </a:p>
          <a:p>
            <a:endParaRPr lang="en-US" dirty="0"/>
          </a:p>
          <a:p>
            <a:r>
              <a:rPr lang="en-US" b="1" i="1" dirty="0"/>
              <a:t>The goal is to present complex ML results in a simple, visual, and understandable way</a:t>
            </a:r>
            <a:r>
              <a:rPr lang="en-US" i="1" dirty="0"/>
              <a:t>.</a:t>
            </a:r>
          </a:p>
          <a:p>
            <a:endParaRPr lang="en-IN" dirty="0"/>
          </a:p>
        </p:txBody>
      </p:sp>
      <p:sp>
        <p:nvSpPr>
          <p:cNvPr id="8" name="TextBox 7">
            <a:extLst>
              <a:ext uri="{FF2B5EF4-FFF2-40B4-BE49-F238E27FC236}">
                <a16:creationId xmlns:a16="http://schemas.microsoft.com/office/drawing/2014/main" id="{CFEFA49C-B745-4B67-A781-D3462D4B9C50}"/>
              </a:ext>
            </a:extLst>
          </p:cNvPr>
          <p:cNvSpPr txBox="1"/>
          <p:nvPr/>
        </p:nvSpPr>
        <p:spPr>
          <a:xfrm>
            <a:off x="7286625" y="1681063"/>
            <a:ext cx="2740687" cy="4770537"/>
          </a:xfrm>
          <a:prstGeom prst="rect">
            <a:avLst/>
          </a:prstGeom>
          <a:solidFill>
            <a:schemeClr val="accent1">
              <a:lumMod val="20000"/>
              <a:lumOff val="80000"/>
            </a:schemeClr>
          </a:solidFill>
        </p:spPr>
        <p:txBody>
          <a:bodyPr wrap="none" rtlCol="0">
            <a:spAutoFit/>
          </a:bodyPr>
          <a:lstStyle/>
          <a:p>
            <a:r>
              <a:rPr lang="en-IN" sz="1600" dirty="0"/>
              <a:t>Train Model</a:t>
            </a:r>
          </a:p>
          <a:p>
            <a:r>
              <a:rPr lang="en-IN" sz="1600" dirty="0"/>
              <a:t>       │</a:t>
            </a:r>
          </a:p>
          <a:p>
            <a:r>
              <a:rPr lang="en-IN" sz="1600" dirty="0"/>
              <a:t>      ▼</a:t>
            </a:r>
          </a:p>
          <a:p>
            <a:r>
              <a:rPr lang="en-IN" sz="1600" dirty="0"/>
              <a:t>Make Predictions</a:t>
            </a:r>
          </a:p>
          <a:p>
            <a:r>
              <a:rPr lang="en-IN" sz="1600" dirty="0"/>
              <a:t>       │</a:t>
            </a:r>
          </a:p>
          <a:p>
            <a:r>
              <a:rPr lang="en-IN" sz="1600" dirty="0"/>
              <a:t>      ▼</a:t>
            </a:r>
          </a:p>
          <a:p>
            <a:r>
              <a:rPr lang="en-IN" sz="1600" dirty="0"/>
              <a:t>Calculate Performance Metrics</a:t>
            </a:r>
          </a:p>
          <a:p>
            <a:r>
              <a:rPr lang="en-IN" sz="1600" dirty="0"/>
              <a:t>       │</a:t>
            </a:r>
          </a:p>
          <a:p>
            <a:r>
              <a:rPr lang="en-IN" sz="1600" dirty="0"/>
              <a:t>      ▼</a:t>
            </a:r>
          </a:p>
          <a:p>
            <a:r>
              <a:rPr lang="en-IN" sz="1600" dirty="0"/>
              <a:t>Create Visualisations</a:t>
            </a:r>
          </a:p>
          <a:p>
            <a:r>
              <a:rPr lang="en-IN" sz="1600" dirty="0"/>
              <a:t>       │</a:t>
            </a:r>
          </a:p>
          <a:p>
            <a:r>
              <a:rPr lang="en-IN" sz="1600" dirty="0"/>
              <a:t>      ▼</a:t>
            </a:r>
          </a:p>
          <a:p>
            <a:r>
              <a:rPr lang="en-IN" sz="1600" dirty="0"/>
              <a:t>Interpret Results</a:t>
            </a:r>
          </a:p>
          <a:p>
            <a:r>
              <a:rPr lang="en-IN" sz="1600" dirty="0"/>
              <a:t>       │</a:t>
            </a:r>
          </a:p>
          <a:p>
            <a:r>
              <a:rPr lang="en-IN" sz="1600" dirty="0"/>
              <a:t>      ▼</a:t>
            </a:r>
          </a:p>
          <a:p>
            <a:r>
              <a:rPr lang="en-IN" sz="1600" dirty="0"/>
              <a:t>Write Conclusions</a:t>
            </a:r>
          </a:p>
          <a:p>
            <a:r>
              <a:rPr lang="en-IN" sz="1600" dirty="0"/>
              <a:t>       │</a:t>
            </a:r>
          </a:p>
          <a:p>
            <a:r>
              <a:rPr lang="en-IN" sz="1600" dirty="0"/>
              <a:t>      ▼</a:t>
            </a:r>
          </a:p>
          <a:p>
            <a:r>
              <a:rPr lang="en-IN" sz="1600" dirty="0"/>
              <a:t>Suggest Improvements</a:t>
            </a:r>
          </a:p>
        </p:txBody>
      </p:sp>
      <p:sp>
        <p:nvSpPr>
          <p:cNvPr id="9" name="TextBox 8">
            <a:extLst>
              <a:ext uri="{FF2B5EF4-FFF2-40B4-BE49-F238E27FC236}">
                <a16:creationId xmlns:a16="http://schemas.microsoft.com/office/drawing/2014/main" id="{1B6D85E1-263D-4136-B978-515EA6DBBFBB}"/>
              </a:ext>
            </a:extLst>
          </p:cNvPr>
          <p:cNvSpPr txBox="1"/>
          <p:nvPr/>
        </p:nvSpPr>
        <p:spPr>
          <a:xfrm>
            <a:off x="7181850" y="1152525"/>
            <a:ext cx="4124325" cy="369332"/>
          </a:xfrm>
          <a:prstGeom prst="rect">
            <a:avLst/>
          </a:prstGeom>
          <a:noFill/>
        </p:spPr>
        <p:txBody>
          <a:bodyPr wrap="square" rtlCol="0">
            <a:spAutoFit/>
          </a:bodyPr>
          <a:lstStyle/>
          <a:p>
            <a:r>
              <a:rPr lang="en-IN" b="1" dirty="0">
                <a:effectLst>
                  <a:outerShdw blurRad="38100" dist="38100" dir="2700000" algn="tl">
                    <a:srgbClr val="000000">
                      <a:alpha val="43137"/>
                    </a:srgbClr>
                  </a:outerShdw>
                </a:effectLst>
              </a:rPr>
              <a:t>ML Reporting Workflow</a:t>
            </a:r>
          </a:p>
        </p:txBody>
      </p:sp>
    </p:spTree>
    <p:extLst>
      <p:ext uri="{BB962C8B-B14F-4D97-AF65-F5344CB8AC3E}">
        <p14:creationId xmlns:p14="http://schemas.microsoft.com/office/powerpoint/2010/main" val="6358850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63D022-57A7-450F-A3DB-C8616DFFED06}"/>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0A7BC32C-6E61-4EE6-8192-488BD01656DD}"/>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4A023BF8-B27B-4A7F-9E55-4E819571E21A}"/>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5735BEC0-EE07-4DA0-AE57-C7A156EF1F40}"/>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Box 5">
            <a:extLst>
              <a:ext uri="{FF2B5EF4-FFF2-40B4-BE49-F238E27FC236}">
                <a16:creationId xmlns:a16="http://schemas.microsoft.com/office/drawing/2014/main" id="{9282B0AF-8590-4285-BE07-F440B6E1575F}"/>
              </a:ext>
            </a:extLst>
          </p:cNvPr>
          <p:cNvSpPr txBox="1"/>
          <p:nvPr/>
        </p:nvSpPr>
        <p:spPr>
          <a:xfrm>
            <a:off x="0" y="120228"/>
            <a:ext cx="5638800" cy="523220"/>
          </a:xfrm>
          <a:prstGeom prst="rect">
            <a:avLst/>
          </a:prstGeom>
          <a:noFill/>
        </p:spPr>
        <p:txBody>
          <a:bodyPr wrap="square" rtlCol="0">
            <a:spAutoFit/>
          </a:bodyPr>
          <a:lstStyle/>
          <a:p>
            <a:r>
              <a:rPr lang="en-US" sz="2800" b="1" dirty="0">
                <a:solidFill>
                  <a:schemeClr val="accent1">
                    <a:lumMod val="75000"/>
                  </a:schemeClr>
                </a:solidFill>
                <a:effectLst>
                  <a:outerShdw blurRad="38100" dist="38100" dir="2700000" algn="tl">
                    <a:srgbClr val="000000">
                      <a:alpha val="43137"/>
                    </a:srgbClr>
                  </a:outerShdw>
                </a:effectLst>
              </a:rPr>
              <a:t>REFERENCES</a:t>
            </a:r>
            <a:endParaRPr lang="en-IN" sz="2800" b="1" dirty="0">
              <a:solidFill>
                <a:schemeClr val="accent1">
                  <a:lumMod val="75000"/>
                </a:schemeClr>
              </a:solidFill>
              <a:effectLst>
                <a:outerShdw blurRad="38100" dist="38100" dir="2700000" algn="tl">
                  <a:srgbClr val="000000">
                    <a:alpha val="43137"/>
                  </a:srgbClr>
                </a:outerShdw>
              </a:effectLst>
            </a:endParaRPr>
          </a:p>
        </p:txBody>
      </p:sp>
      <p:sp>
        <p:nvSpPr>
          <p:cNvPr id="7" name="Rectangle 6">
            <a:extLst>
              <a:ext uri="{FF2B5EF4-FFF2-40B4-BE49-F238E27FC236}">
                <a16:creationId xmlns:a16="http://schemas.microsoft.com/office/drawing/2014/main" id="{E4778A84-E25C-4590-AB6D-1E5592151BA1}"/>
              </a:ext>
            </a:extLst>
          </p:cNvPr>
          <p:cNvSpPr/>
          <p:nvPr/>
        </p:nvSpPr>
        <p:spPr>
          <a:xfrm>
            <a:off x="1182255" y="1450262"/>
            <a:ext cx="6825672" cy="3046988"/>
          </a:xfrm>
          <a:prstGeom prst="rect">
            <a:avLst/>
          </a:prstGeom>
        </p:spPr>
        <p:txBody>
          <a:bodyPr wrap="square">
            <a:spAutoFit/>
          </a:bodyPr>
          <a:lstStyle/>
          <a:p>
            <a:pPr marL="285750" indent="-285750">
              <a:buFont typeface="Wingdings" panose="05000000000000000000" pitchFamily="2" charset="2"/>
              <a:buChar char="q"/>
            </a:pPr>
            <a:r>
              <a:rPr lang="en-US" sz="3200" b="1" dirty="0">
                <a:latin typeface="CIDFont+F1"/>
              </a:rPr>
              <a:t>Google ML Crash Course </a:t>
            </a:r>
          </a:p>
          <a:p>
            <a:pPr marL="285750" indent="-285750">
              <a:buFont typeface="Wingdings" panose="05000000000000000000" pitchFamily="2" charset="2"/>
              <a:buChar char="q"/>
            </a:pPr>
            <a:r>
              <a:rPr lang="en-IN" sz="3200" b="1" dirty="0">
                <a:latin typeface="CIDFont+F1"/>
              </a:rPr>
              <a:t>Scikit-learn</a:t>
            </a:r>
          </a:p>
          <a:p>
            <a:pPr marL="285750" indent="-285750">
              <a:buFont typeface="Wingdings" panose="05000000000000000000" pitchFamily="2" charset="2"/>
              <a:buChar char="q"/>
            </a:pPr>
            <a:r>
              <a:rPr lang="en-IN" sz="3200" b="1" dirty="0"/>
              <a:t>Kaggle</a:t>
            </a:r>
          </a:p>
          <a:p>
            <a:pPr marL="285750" indent="-285750">
              <a:buFont typeface="Wingdings" panose="05000000000000000000" pitchFamily="2" charset="2"/>
              <a:buChar char="q"/>
            </a:pPr>
            <a:r>
              <a:rPr lang="en-IN" sz="3200" b="1" dirty="0"/>
              <a:t>StatQuest</a:t>
            </a:r>
          </a:p>
          <a:p>
            <a:pPr marL="285750" indent="-285750">
              <a:buFont typeface="Wingdings" panose="05000000000000000000" pitchFamily="2" charset="2"/>
              <a:buChar char="q"/>
            </a:pPr>
            <a:r>
              <a:rPr lang="en-IN" sz="3200" b="1" dirty="0"/>
              <a:t>NLTK Official Docs</a:t>
            </a:r>
          </a:p>
          <a:p>
            <a:pPr marL="285750" indent="-285750">
              <a:buFont typeface="Wingdings" panose="05000000000000000000" pitchFamily="2" charset="2"/>
              <a:buChar char="q"/>
            </a:pPr>
            <a:r>
              <a:rPr lang="en-US" sz="3200" b="1" dirty="0"/>
              <a:t>Towards Data Science – ML Projects</a:t>
            </a:r>
            <a:endParaRPr lang="en-IN" sz="3200" b="1" dirty="0"/>
          </a:p>
        </p:txBody>
      </p:sp>
    </p:spTree>
    <p:extLst>
      <p:ext uri="{BB962C8B-B14F-4D97-AF65-F5344CB8AC3E}">
        <p14:creationId xmlns:p14="http://schemas.microsoft.com/office/powerpoint/2010/main" val="5241544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934</TotalTime>
  <Words>5423</Words>
  <Application>Microsoft Office PowerPoint</Application>
  <PresentationFormat>Widescreen</PresentationFormat>
  <Paragraphs>611</Paragraphs>
  <Slides>44</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44</vt:i4>
      </vt:variant>
    </vt:vector>
  </HeadingPairs>
  <TitlesOfParts>
    <vt:vector size="55" baseType="lpstr">
      <vt:lpstr>Arial</vt:lpstr>
      <vt:lpstr>Arial Unicode MS</vt:lpstr>
      <vt:lpstr>Calibri</vt:lpstr>
      <vt:lpstr>Calibri Light</vt:lpstr>
      <vt:lpstr>CIDFont+F1</vt:lpstr>
      <vt:lpstr>Georgia</vt:lpstr>
      <vt:lpstr>Google Sans</vt:lpstr>
      <vt:lpstr>Google Sans Text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user1</cp:lastModifiedBy>
  <cp:revision>83</cp:revision>
  <dcterms:created xsi:type="dcterms:W3CDTF">2026-05-21T06:29:53Z</dcterms:created>
  <dcterms:modified xsi:type="dcterms:W3CDTF">2026-07-14T09:31:38Z</dcterms:modified>
</cp:coreProperties>
</file>